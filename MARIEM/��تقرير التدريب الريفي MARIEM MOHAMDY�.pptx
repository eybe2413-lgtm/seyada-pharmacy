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4" d="100"/>
          <a:sy n="54" d="100"/>
        </p:scale>
        <p:origin x="64"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4747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3A"/>
        </a:solidFill>
        <a:effectLst/>
      </p:bgPr>
    </p:bg>
    <p:spTree>
      <p:nvGrpSpPr>
        <p:cNvPr id="1" name=""/>
        <p:cNvGrpSpPr/>
        <p:nvPr/>
      </p:nvGrpSpPr>
      <p:grpSpPr>
        <a:xfrm>
          <a:off x="0" y="0"/>
          <a:ext cx="0" cy="0"/>
          <a:chOff x="0" y="0"/>
          <a:chExt cx="0" cy="0"/>
        </a:xfrm>
      </p:grpSpPr>
      <p:sp>
        <p:nvSpPr>
          <p:cNvPr id="2" name="Shape 0"/>
          <p:cNvSpPr/>
          <p:nvPr/>
        </p:nvSpPr>
        <p:spPr>
          <a:xfrm>
            <a:off x="8869680" y="-1645920"/>
            <a:ext cx="5029200" cy="5029200"/>
          </a:xfrm>
          <a:prstGeom prst="ellipse">
            <a:avLst/>
          </a:prstGeom>
          <a:solidFill>
            <a:srgbClr val="117A65">
              <a:alpha val="30000"/>
            </a:srgbClr>
          </a:solidFill>
          <a:ln/>
        </p:spPr>
      </p:sp>
      <p:sp>
        <p:nvSpPr>
          <p:cNvPr id="3" name="Shape 1"/>
          <p:cNvSpPr/>
          <p:nvPr/>
        </p:nvSpPr>
        <p:spPr>
          <a:xfrm>
            <a:off x="10332720" y="4206240"/>
            <a:ext cx="3291840" cy="3291840"/>
          </a:xfrm>
          <a:prstGeom prst="ellipse">
            <a:avLst/>
          </a:prstGeom>
          <a:solidFill>
            <a:srgbClr val="C9A24B">
              <a:alpha val="25000"/>
            </a:srgbClr>
          </a:solidFill>
          <a:ln/>
        </p:spPr>
      </p:sp>
      <p:sp>
        <p:nvSpPr>
          <p:cNvPr id="4" name="Shape 2"/>
          <p:cNvSpPr/>
          <p:nvPr/>
        </p:nvSpPr>
        <p:spPr>
          <a:xfrm>
            <a:off x="-1280160" y="4572000"/>
            <a:ext cx="3840480" cy="3840480"/>
          </a:xfrm>
          <a:prstGeom prst="ellipse">
            <a:avLst/>
          </a:prstGeom>
          <a:solidFill>
            <a:srgbClr val="117A65">
              <a:alpha val="25000"/>
            </a:srgbClr>
          </a:solidFill>
          <a:ln/>
        </p:spPr>
      </p:sp>
      <p:pic>
        <p:nvPicPr>
          <p:cNvPr id="5" name="Image 0" descr="icons/heartbeat_white.png"/>
          <p:cNvPicPr>
            <a:picLocks noChangeAspect="1"/>
          </p:cNvPicPr>
          <p:nvPr/>
        </p:nvPicPr>
        <p:blipFill>
          <a:blip r:embed="rId3"/>
          <a:stretch>
            <a:fillRect/>
          </a:stretch>
        </p:blipFill>
        <p:spPr>
          <a:xfrm>
            <a:off x="10835640" y="502920"/>
            <a:ext cx="640080" cy="640080"/>
          </a:xfrm>
          <a:prstGeom prst="rect">
            <a:avLst/>
          </a:prstGeom>
        </p:spPr>
      </p:pic>
      <p:sp>
        <p:nvSpPr>
          <p:cNvPr id="6" name="Text 3"/>
          <p:cNvSpPr/>
          <p:nvPr/>
        </p:nvSpPr>
        <p:spPr>
          <a:xfrm>
            <a:off x="822960" y="1989710"/>
            <a:ext cx="10515600" cy="1005840"/>
          </a:xfrm>
          <a:prstGeom prst="rect">
            <a:avLst/>
          </a:prstGeom>
          <a:noFill/>
          <a:ln/>
        </p:spPr>
        <p:txBody>
          <a:bodyPr wrap="square" lIns="0" tIns="0" rIns="0" bIns="0" rtlCol="0" anchor="ctr"/>
          <a:lstStyle/>
          <a:p>
            <a:pPr marL="0" indent="0" algn="r">
              <a:buNone/>
            </a:pPr>
            <a:r>
              <a:rPr lang="en-US" sz="4600" b="1" dirty="0">
                <a:solidFill>
                  <a:srgbClr val="FFFFFF"/>
                </a:solidFill>
                <a:latin typeface="Cambria" pitchFamily="34" charset="0"/>
                <a:ea typeface="Cambria" pitchFamily="34" charset="-122"/>
                <a:cs typeface="Cambria" pitchFamily="34" charset="-120"/>
              </a:rPr>
              <a:t>تقرير التدريب الريفي</a:t>
            </a:r>
            <a:endParaRPr lang="en-US" sz="4600" dirty="0"/>
          </a:p>
        </p:txBody>
      </p:sp>
      <p:sp>
        <p:nvSpPr>
          <p:cNvPr id="7" name="Text 4"/>
          <p:cNvSpPr/>
          <p:nvPr/>
        </p:nvSpPr>
        <p:spPr>
          <a:xfrm>
            <a:off x="822960" y="2788920"/>
            <a:ext cx="10515600" cy="548640"/>
          </a:xfrm>
          <a:prstGeom prst="rect">
            <a:avLst/>
          </a:prstGeom>
          <a:noFill/>
          <a:ln/>
        </p:spPr>
        <p:txBody>
          <a:bodyPr wrap="square" lIns="0" tIns="0" rIns="0" bIns="0" rtlCol="0" anchor="ctr"/>
          <a:lstStyle/>
          <a:p>
            <a:pPr marL="0" indent="0" algn="r">
              <a:buNone/>
            </a:pPr>
            <a:r>
              <a:rPr lang="en-US" sz="2200" dirty="0">
                <a:solidFill>
                  <a:srgbClr val="BFE3D9"/>
                </a:solidFill>
                <a:latin typeface="Calibri" pitchFamily="34" charset="0"/>
                <a:ea typeface="Calibri" pitchFamily="34" charset="-122"/>
                <a:cs typeface="Calibri" pitchFamily="34" charset="-120"/>
              </a:rPr>
              <a:t>لنيل </a:t>
            </a:r>
            <a:r>
              <a:rPr lang="ar-SA" sz="2200" dirty="0">
                <a:solidFill>
                  <a:srgbClr val="BFE3D9"/>
                </a:solidFill>
                <a:latin typeface="Calibri" pitchFamily="34" charset="0"/>
                <a:ea typeface="Calibri" pitchFamily="34" charset="-122"/>
                <a:cs typeface="Calibri" pitchFamily="34" charset="-120"/>
              </a:rPr>
              <a:t>شهادة</a:t>
            </a:r>
            <a:r>
              <a:rPr lang="en-US" sz="2200" dirty="0">
                <a:solidFill>
                  <a:srgbClr val="BFE3D9"/>
                </a:solidFill>
                <a:latin typeface="Calibri" pitchFamily="34" charset="0"/>
                <a:ea typeface="Calibri" pitchFamily="34" charset="-122"/>
                <a:cs typeface="Calibri" pitchFamily="34" charset="-120"/>
              </a:rPr>
              <a:t> ممرضة دولة</a:t>
            </a:r>
            <a:endParaRPr lang="en-US" sz="2200" dirty="0"/>
          </a:p>
        </p:txBody>
      </p:sp>
      <p:sp>
        <p:nvSpPr>
          <p:cNvPr id="8" name="Shape 5"/>
          <p:cNvSpPr/>
          <p:nvPr/>
        </p:nvSpPr>
        <p:spPr>
          <a:xfrm>
            <a:off x="10561320" y="3520440"/>
            <a:ext cx="82296" cy="82296"/>
          </a:xfrm>
          <a:prstGeom prst="ellipse">
            <a:avLst/>
          </a:prstGeom>
          <a:solidFill>
            <a:srgbClr val="C9A24B"/>
          </a:solidFill>
          <a:ln/>
        </p:spPr>
      </p:sp>
      <p:sp>
        <p:nvSpPr>
          <p:cNvPr id="9" name="Text 6"/>
          <p:cNvSpPr/>
          <p:nvPr/>
        </p:nvSpPr>
        <p:spPr>
          <a:xfrm>
            <a:off x="822960" y="4006136"/>
            <a:ext cx="7315200" cy="422177"/>
          </a:xfrm>
          <a:prstGeom prst="rect">
            <a:avLst/>
          </a:prstGeom>
          <a:noFill/>
          <a:ln>
            <a:noFill/>
          </a:ln>
        </p:spPr>
        <p:txBody>
          <a:bodyPr wrap="square" lIns="0" tIns="0" rIns="0" bIns="0" rtlCol="0" anchor="ctr"/>
          <a:lstStyle/>
          <a:p>
            <a:pPr marL="0" indent="0" algn="r">
              <a:buNone/>
            </a:pPr>
            <a:r>
              <a:rPr lang="en-US" b="1" dirty="0">
                <a:solidFill>
                  <a:schemeClr val="bg1"/>
                </a:solidFill>
                <a:latin typeface="Calibri" pitchFamily="34" charset="0"/>
                <a:ea typeface="Calibri" pitchFamily="34" charset="-122"/>
                <a:cs typeface="Calibri" pitchFamily="34" charset="-120"/>
              </a:rPr>
              <a:t>المركز الصحي بتگنت  </a:t>
            </a:r>
            <a:r>
              <a:rPr lang="ar-SA" b="1" dirty="0">
                <a:solidFill>
                  <a:schemeClr val="bg1"/>
                </a:solidFill>
                <a:latin typeface="Calibri" pitchFamily="34" charset="0"/>
                <a:ea typeface="Calibri" pitchFamily="34" charset="-122"/>
                <a:cs typeface="Calibri" pitchFamily="34" charset="-120"/>
              </a:rPr>
              <a:t>    </a:t>
            </a:r>
            <a:r>
              <a:rPr lang="en-US" sz="1400" dirty="0">
                <a:solidFill>
                  <a:schemeClr val="bg1"/>
                </a:solidFill>
                <a:latin typeface="Calibri" pitchFamily="34" charset="0"/>
                <a:ea typeface="Calibri" pitchFamily="34" charset="-122"/>
                <a:cs typeface="Calibri" pitchFamily="34" charset="-120"/>
              </a:rPr>
              <a:t>• </a:t>
            </a:r>
            <a:r>
              <a:rPr lang="en-US" sz="1600" b="1" dirty="0">
                <a:solidFill>
                  <a:schemeClr val="bg1"/>
                </a:solidFill>
                <a:latin typeface="Calibri" pitchFamily="34" charset="0"/>
                <a:ea typeface="Calibri" pitchFamily="34" charset="-122"/>
                <a:cs typeface="Calibri" pitchFamily="34" charset="-120"/>
              </a:rPr>
              <a:t>و</a:t>
            </a:r>
            <a:r>
              <a:rPr lang="ar-SA" sz="1600" b="1" dirty="0">
                <a:solidFill>
                  <a:schemeClr val="bg1"/>
                </a:solidFill>
                <a:latin typeface="Calibri" pitchFamily="34" charset="0"/>
                <a:ea typeface="Calibri" pitchFamily="34" charset="-122"/>
                <a:cs typeface="Calibri" pitchFamily="34" charset="-120"/>
              </a:rPr>
              <a:t>لاي</a:t>
            </a:r>
            <a:r>
              <a:rPr lang="en-US" sz="1600" b="1" dirty="0">
                <a:solidFill>
                  <a:schemeClr val="bg1"/>
                </a:solidFill>
                <a:latin typeface="Calibri" pitchFamily="34" charset="0"/>
                <a:ea typeface="Calibri" pitchFamily="34" charset="-122"/>
                <a:cs typeface="Calibri" pitchFamily="34" charset="-120"/>
              </a:rPr>
              <a:t>ة الترارزة</a:t>
            </a:r>
            <a:endParaRPr lang="en-US" sz="1600" b="1" dirty="0">
              <a:solidFill>
                <a:schemeClr val="bg1"/>
              </a:solidFill>
            </a:endParaRPr>
          </a:p>
        </p:txBody>
      </p:sp>
      <p:sp>
        <p:nvSpPr>
          <p:cNvPr id="10" name="Text 7"/>
          <p:cNvSpPr/>
          <p:nvPr/>
        </p:nvSpPr>
        <p:spPr>
          <a:xfrm>
            <a:off x="822960" y="4250179"/>
            <a:ext cx="7315200" cy="777239"/>
          </a:xfrm>
          <a:prstGeom prst="rect">
            <a:avLst/>
          </a:prstGeom>
          <a:noFill/>
          <a:ln/>
        </p:spPr>
        <p:txBody>
          <a:bodyPr wrap="square" lIns="0" tIns="0" rIns="0" bIns="0" rtlCol="0" anchor="ctr"/>
          <a:lstStyle/>
          <a:p>
            <a:pPr marL="0" indent="0" algn="r">
              <a:buNone/>
            </a:pPr>
            <a:r>
              <a:rPr lang="en-US" b="1" dirty="0">
                <a:solidFill>
                  <a:schemeClr val="bg1"/>
                </a:solidFill>
                <a:latin typeface="Calibri" pitchFamily="34" charset="0"/>
                <a:ea typeface="Calibri" pitchFamily="34" charset="-122"/>
                <a:cs typeface="Calibri" pitchFamily="34" charset="-120"/>
              </a:rPr>
              <a:t>الفترة</a:t>
            </a:r>
            <a:r>
              <a:rPr lang="ar-SA" b="1" dirty="0">
                <a:solidFill>
                  <a:schemeClr val="bg1"/>
                </a:solidFill>
                <a:latin typeface="Calibri" pitchFamily="34" charset="0"/>
                <a:ea typeface="Calibri" pitchFamily="34" charset="-122"/>
                <a:cs typeface="Calibri" pitchFamily="34" charset="-120"/>
              </a:rPr>
              <a:t>:</a:t>
            </a:r>
            <a:endParaRPr lang="en-US" b="1" dirty="0">
              <a:solidFill>
                <a:schemeClr val="bg1"/>
              </a:solidFill>
              <a:latin typeface="Calibri" pitchFamily="34" charset="0"/>
              <a:ea typeface="Calibri" pitchFamily="34" charset="-122"/>
              <a:cs typeface="Calibri" pitchFamily="34" charset="-120"/>
            </a:endParaRPr>
          </a:p>
          <a:p>
            <a:pPr marL="0" indent="0" algn="r">
              <a:buNone/>
            </a:pPr>
            <a:r>
              <a:rPr lang="en-US" sz="2000" b="1" dirty="0">
                <a:solidFill>
                  <a:schemeClr val="bg1"/>
                </a:solidFill>
                <a:latin typeface="Calibri" pitchFamily="34" charset="0"/>
                <a:ea typeface="Calibri" pitchFamily="34" charset="-122"/>
                <a:cs typeface="Calibri" pitchFamily="34" charset="-120"/>
              </a:rPr>
              <a:t> 15/05/2026— 01/04/2026</a:t>
            </a:r>
            <a:endParaRPr lang="en-US" sz="2000" b="1" dirty="0">
              <a:solidFill>
                <a:schemeClr val="bg1"/>
              </a:solidFill>
            </a:endParaRPr>
          </a:p>
        </p:txBody>
      </p:sp>
      <p:sp>
        <p:nvSpPr>
          <p:cNvPr id="11" name="Shape 8"/>
          <p:cNvSpPr/>
          <p:nvPr/>
        </p:nvSpPr>
        <p:spPr>
          <a:xfrm>
            <a:off x="594359" y="5486400"/>
            <a:ext cx="6388331" cy="914400"/>
          </a:xfrm>
          <a:prstGeom prst="roundRect">
            <a:avLst>
              <a:gd name="adj" fmla="val 8000"/>
            </a:avLst>
          </a:prstGeom>
          <a:solidFill>
            <a:schemeClr val="accent6">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r>
              <a:rPr lang="ar-SA" sz="1600" b="1" dirty="0"/>
              <a:t>تحت</a:t>
            </a:r>
            <a:r>
              <a:rPr lang="ar-SA" sz="1600" b="1" dirty="0">
                <a:solidFill>
                  <a:schemeClr val="bg1"/>
                </a:solidFill>
              </a:rPr>
              <a:t> إشراف الأستاذ ومدير الدروس</a:t>
            </a:r>
            <a:endParaRPr lang="fr-FR" sz="1600" b="1" dirty="0"/>
          </a:p>
        </p:txBody>
      </p:sp>
      <p:sp>
        <p:nvSpPr>
          <p:cNvPr id="12" name="Text 9"/>
          <p:cNvSpPr/>
          <p:nvPr/>
        </p:nvSpPr>
        <p:spPr>
          <a:xfrm>
            <a:off x="1051560" y="5438899"/>
            <a:ext cx="5577840" cy="504701"/>
          </a:xfrm>
          <a:prstGeom prst="rect">
            <a:avLst/>
          </a:prstGeom>
          <a:noFill/>
          <a:ln/>
        </p:spPr>
        <p:txBody>
          <a:bodyPr wrap="square" lIns="0" tIns="0" rIns="0" bIns="0" rtlCol="0" anchor="ctr"/>
          <a:lstStyle/>
          <a:p>
            <a:pPr marL="0" indent="0" algn="r">
              <a:buNone/>
            </a:pPr>
            <a:r>
              <a:rPr lang="en-US" sz="1100" b="1" dirty="0">
                <a:solidFill>
                  <a:schemeClr val="bg1"/>
                </a:solidFill>
                <a:latin typeface="Calibri" pitchFamily="34" charset="0"/>
                <a:ea typeface="Calibri" pitchFamily="34" charset="-122"/>
                <a:cs typeface="Calibri" pitchFamily="34" charset="-120"/>
              </a:rPr>
              <a:t>إ</a:t>
            </a:r>
            <a:r>
              <a:rPr lang="en-US" sz="1600" b="1" dirty="0">
                <a:solidFill>
                  <a:schemeClr val="bg1"/>
                </a:solidFill>
                <a:latin typeface="Calibri" pitchFamily="34" charset="0"/>
                <a:ea typeface="Calibri" pitchFamily="34" charset="-122"/>
                <a:cs typeface="Calibri" pitchFamily="34" charset="-120"/>
              </a:rPr>
              <a:t>عداد الطالبة المتدربة</a:t>
            </a:r>
            <a:endParaRPr lang="en-US" sz="1600" b="1" dirty="0">
              <a:solidFill>
                <a:schemeClr val="bg1"/>
              </a:solidFill>
            </a:endParaRPr>
          </a:p>
        </p:txBody>
      </p:sp>
      <p:sp>
        <p:nvSpPr>
          <p:cNvPr id="13" name="Text 10"/>
          <p:cNvSpPr/>
          <p:nvPr/>
        </p:nvSpPr>
        <p:spPr>
          <a:xfrm>
            <a:off x="1051560" y="5943600"/>
            <a:ext cx="5577840" cy="411480"/>
          </a:xfrm>
          <a:prstGeom prst="rect">
            <a:avLst/>
          </a:prstGeom>
          <a:noFill/>
          <a:ln/>
        </p:spPr>
        <p:txBody>
          <a:bodyPr wrap="square" lIns="0" tIns="0" rIns="0" bIns="0" rtlCol="0" anchor="ctr"/>
          <a:lstStyle/>
          <a:p>
            <a:pPr marL="0" indent="0" algn="r">
              <a:buNone/>
            </a:pPr>
            <a:r>
              <a:rPr lang="en-US" b="1" dirty="0">
                <a:solidFill>
                  <a:srgbClr val="FFFFFF"/>
                </a:solidFill>
                <a:latin typeface="Cambria" pitchFamily="34" charset="0"/>
                <a:ea typeface="Cambria" pitchFamily="34" charset="-122"/>
                <a:cs typeface="Cambria" pitchFamily="34" charset="-120"/>
              </a:rPr>
              <a:t>Oumar Mohamed Ahmed</a:t>
            </a:r>
            <a:r>
              <a:rPr lang="en-US" sz="1800" b="1" dirty="0">
                <a:solidFill>
                  <a:srgbClr val="FFFFFF"/>
                </a:solidFill>
                <a:latin typeface="Cambria" pitchFamily="34" charset="0"/>
                <a:ea typeface="Cambria" pitchFamily="34" charset="-122"/>
                <a:cs typeface="Cambria" pitchFamily="34" charset="-120"/>
              </a:rPr>
              <a:t> — MARIEM MOHAMDY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6"/>
        </a:solidFill>
        <a:effectLst/>
      </p:bgPr>
    </p:bg>
    <p:spTree>
      <p:nvGrpSpPr>
        <p:cNvPr id="1" name=""/>
        <p:cNvGrpSpPr/>
        <p:nvPr/>
      </p:nvGrpSpPr>
      <p:grpSpPr>
        <a:xfrm>
          <a:off x="0" y="0"/>
          <a:ext cx="0" cy="0"/>
          <a:chOff x="0" y="0"/>
          <a:chExt cx="0" cy="0"/>
        </a:xfrm>
      </p:grpSpPr>
      <p:sp>
        <p:nvSpPr>
          <p:cNvPr id="2" name="Shape 0"/>
          <p:cNvSpPr/>
          <p:nvPr/>
        </p:nvSpPr>
        <p:spPr>
          <a:xfrm>
            <a:off x="-1463040" y="-1463040"/>
            <a:ext cx="3657600" cy="3657600"/>
          </a:xfrm>
          <a:prstGeom prst="ellipse">
            <a:avLst/>
          </a:prstGeom>
          <a:solidFill>
            <a:srgbClr val="D9F0EA"/>
          </a:solidFill>
          <a:ln/>
        </p:spPr>
      </p:sp>
      <p:pic>
        <p:nvPicPr>
          <p:cNvPr id="3" name="Image 0" descr="icons/quote_teal.png"/>
          <p:cNvPicPr>
            <a:picLocks noChangeAspect="1"/>
          </p:cNvPicPr>
          <p:nvPr/>
        </p:nvPicPr>
        <p:blipFill>
          <a:blip r:embed="rId3"/>
          <a:stretch>
            <a:fillRect/>
          </a:stretch>
        </p:blipFill>
        <p:spPr>
          <a:xfrm>
            <a:off x="10698480" y="548640"/>
            <a:ext cx="502920" cy="502920"/>
          </a:xfrm>
          <a:prstGeom prst="rect">
            <a:avLst/>
          </a:prstGeom>
        </p:spPr>
      </p:pic>
      <p:sp>
        <p:nvSpPr>
          <p:cNvPr id="4" name="Text 1"/>
          <p:cNvSpPr/>
          <p:nvPr/>
        </p:nvSpPr>
        <p:spPr>
          <a:xfrm>
            <a:off x="822960" y="594360"/>
            <a:ext cx="5486400" cy="640080"/>
          </a:xfrm>
          <a:prstGeom prst="rect">
            <a:avLst/>
          </a:prstGeom>
          <a:noFill/>
          <a:ln/>
        </p:spPr>
        <p:txBody>
          <a:bodyPr wrap="square" lIns="0" tIns="0" rIns="0" bIns="0" rtlCol="0" anchor="ctr"/>
          <a:lstStyle/>
          <a:p>
            <a:pPr marL="0" indent="0" algn="r">
              <a:buNone/>
            </a:pPr>
            <a:r>
              <a:rPr lang="en-US" sz="3200" b="1" dirty="0">
                <a:solidFill>
                  <a:srgbClr val="0B3D3A"/>
                </a:solidFill>
                <a:latin typeface="Cambria" pitchFamily="34" charset="0"/>
                <a:ea typeface="Cambria" pitchFamily="34" charset="-122"/>
                <a:cs typeface="Cambria" pitchFamily="34" charset="-120"/>
              </a:rPr>
              <a:t>إهداء</a:t>
            </a:r>
            <a:endParaRPr lang="en-US" sz="3200" dirty="0"/>
          </a:p>
        </p:txBody>
      </p:sp>
      <p:sp>
        <p:nvSpPr>
          <p:cNvPr id="6" name="Shape 3"/>
          <p:cNvSpPr/>
          <p:nvPr/>
        </p:nvSpPr>
        <p:spPr>
          <a:xfrm>
            <a:off x="1463040" y="1508760"/>
            <a:ext cx="9235440" cy="4434840"/>
          </a:xfrm>
          <a:prstGeom prst="roundRect">
            <a:avLst>
              <a:gd name="adj" fmla="val 2474"/>
            </a:avLst>
          </a:prstGeom>
          <a:solidFill>
            <a:srgbClr val="FFFFFF"/>
          </a:solidFill>
          <a:ln/>
          <a:effectLst>
            <a:outerShdw blurRad="177800" dist="38100" dir="5400000" algn="bl" rotWithShape="0">
              <a:srgbClr val="0B3D3A">
                <a:alpha val="10000"/>
              </a:srgbClr>
            </a:outerShdw>
          </a:effectLst>
        </p:spPr>
      </p:sp>
      <p:sp>
        <p:nvSpPr>
          <p:cNvPr id="7" name="Text 4"/>
          <p:cNvSpPr/>
          <p:nvPr/>
        </p:nvSpPr>
        <p:spPr>
          <a:xfrm>
            <a:off x="1874520" y="1783080"/>
            <a:ext cx="8595360" cy="3931920"/>
          </a:xfrm>
          <a:prstGeom prst="rect">
            <a:avLst/>
          </a:prstGeom>
          <a:noFill/>
          <a:ln/>
        </p:spPr>
        <p:txBody>
          <a:bodyPr wrap="square" lIns="0" tIns="0" rIns="0" bIns="0" rtlCol="0" anchor="t"/>
          <a:lstStyle/>
          <a:p>
            <a:pPr marL="0" indent="0" algn="r">
              <a:lnSpc>
                <a:spcPct val="125000"/>
              </a:lnSpc>
              <a:buNone/>
            </a:pPr>
            <a:r>
              <a:rPr lang="en-US" sz="1700" b="1" dirty="0">
                <a:solidFill>
                  <a:srgbClr val="0B3D3A"/>
                </a:solidFill>
                <a:latin typeface="Calibri" pitchFamily="34" charset="0"/>
                <a:ea typeface="Calibri" pitchFamily="34" charset="-122"/>
                <a:cs typeface="Calibri" pitchFamily="34" charset="-120"/>
              </a:rPr>
              <a:t>إلى أبي وأمي العزيزين،</a:t>
            </a:r>
            <a:endParaRPr lang="en-US" sz="1700" dirty="0"/>
          </a:p>
          <a:p>
            <a:pPr marL="0" indent="0" algn="r">
              <a:lnSpc>
                <a:spcPct val="125000"/>
              </a:lnSpc>
              <a:buNone/>
            </a:pPr>
            <a:r>
              <a:rPr lang="en-US" sz="600" dirty="0">
                <a:solidFill>
                  <a:srgbClr val="000000"/>
                </a:solidFill>
                <a:latin typeface="Calibri" pitchFamily="34" charset="0"/>
                <a:ea typeface="Calibri" pitchFamily="34" charset="-122"/>
                <a:cs typeface="Calibri" pitchFamily="34" charset="-120"/>
              </a:rPr>
              <a:t> </a:t>
            </a:r>
            <a:endParaRPr lang="en-US" sz="1700" dirty="0"/>
          </a:p>
          <a:p>
            <a:pPr marL="0" indent="0" algn="r">
              <a:lnSpc>
                <a:spcPct val="125000"/>
              </a:lnSpc>
              <a:buNone/>
            </a:pPr>
            <a:r>
              <a:rPr lang="en-US" sz="1450" dirty="0">
                <a:solidFill>
                  <a:srgbClr val="1B2B28"/>
                </a:solidFill>
                <a:latin typeface="Calibri" pitchFamily="34" charset="0"/>
                <a:ea typeface="Calibri" pitchFamily="34" charset="-122"/>
                <a:cs typeface="Calibri" pitchFamily="34" charset="-120"/>
              </a:rPr>
              <a:t>بكل مشاعر الحب والامتنان والتقدير، أهديكما هذا الإنجاز الذي ما كان ليتحقق بعد توفيق الله تعالى لولا دعمكما المتواصل، وصبركما، وتضحياتكما الكبيرة من أجل تعليمي ووصولي إلى هذه المرحلة.</a:t>
            </a:r>
            <a:endParaRPr lang="en-US" sz="1700" dirty="0"/>
          </a:p>
          <a:p>
            <a:pPr marL="0" indent="0" algn="r">
              <a:lnSpc>
                <a:spcPct val="125000"/>
              </a:lnSpc>
              <a:buNone/>
            </a:pPr>
            <a:r>
              <a:rPr lang="en-US" sz="600" dirty="0">
                <a:solidFill>
                  <a:srgbClr val="000000"/>
                </a:solidFill>
                <a:latin typeface="Calibri" pitchFamily="34" charset="0"/>
                <a:ea typeface="Calibri" pitchFamily="34" charset="-122"/>
                <a:cs typeface="Calibri" pitchFamily="34" charset="-120"/>
              </a:rPr>
              <a:t> </a:t>
            </a:r>
            <a:endParaRPr lang="en-US" sz="1700" dirty="0"/>
          </a:p>
          <a:p>
            <a:pPr marL="0" indent="0" algn="r">
              <a:lnSpc>
                <a:spcPct val="125000"/>
              </a:lnSpc>
              <a:buNone/>
            </a:pPr>
            <a:r>
              <a:rPr lang="en-US" sz="1450" dirty="0">
                <a:solidFill>
                  <a:srgbClr val="1B2B28"/>
                </a:solidFill>
                <a:latin typeface="Calibri" pitchFamily="34" charset="0"/>
                <a:ea typeface="Calibri" pitchFamily="34" charset="-122"/>
                <a:cs typeface="Calibri" pitchFamily="34" charset="-120"/>
              </a:rPr>
              <a:t>إلى أبي، الذي كان سندًا وعونًا لي، وغرس فيّ قيم الاجتهاد والمثابرة. وإلى أمي، التي أحاطتني بحنانها ودعواتها الصادقة، وكانت مصدر القوة والأمل في مسيرتي.</a:t>
            </a:r>
            <a:endParaRPr lang="en-US" sz="1700" dirty="0"/>
          </a:p>
          <a:p>
            <a:pPr marL="0" indent="0" algn="r">
              <a:lnSpc>
                <a:spcPct val="125000"/>
              </a:lnSpc>
              <a:buNone/>
            </a:pPr>
            <a:r>
              <a:rPr lang="en-US" sz="600" dirty="0">
                <a:solidFill>
                  <a:srgbClr val="000000"/>
                </a:solidFill>
                <a:latin typeface="Calibri" pitchFamily="34" charset="0"/>
                <a:ea typeface="Calibri" pitchFamily="34" charset="-122"/>
                <a:cs typeface="Calibri" pitchFamily="34" charset="-120"/>
              </a:rPr>
              <a:t> </a:t>
            </a:r>
            <a:endParaRPr lang="en-US" sz="1700" dirty="0"/>
          </a:p>
          <a:p>
            <a:pPr marL="0" indent="0" algn="r">
              <a:lnSpc>
                <a:spcPct val="125000"/>
              </a:lnSpc>
              <a:buNone/>
            </a:pPr>
            <a:r>
              <a:rPr lang="en-US" sz="1450" dirty="0">
                <a:solidFill>
                  <a:srgbClr val="1B2B28"/>
                </a:solidFill>
                <a:latin typeface="Calibri" pitchFamily="34" charset="0"/>
                <a:ea typeface="Calibri" pitchFamily="34" charset="-122"/>
                <a:cs typeface="Calibri" pitchFamily="34" charset="-120"/>
              </a:rPr>
              <a:t>أهديكما تخرجي كممرضة دولة من مدرسة الصحة العمومية بسيليبابي، ثمرةً من ثمار تعبكما وجهودكما، أسأل الله أن يحفظكما ويمتعكما بالصحة والعافية.</a:t>
            </a:r>
            <a:endParaRPr lang="en-US" sz="1700" dirty="0"/>
          </a:p>
        </p:txBody>
      </p:sp>
      <p:sp>
        <p:nvSpPr>
          <p:cNvPr id="8" name="Text 5"/>
          <p:cNvSpPr/>
          <p:nvPr/>
        </p:nvSpPr>
        <p:spPr>
          <a:xfrm>
            <a:off x="11338560" y="6355080"/>
            <a:ext cx="457200" cy="320040"/>
          </a:xfrm>
          <a:prstGeom prst="rect">
            <a:avLst/>
          </a:prstGeom>
          <a:noFill/>
          <a:ln/>
        </p:spPr>
        <p:txBody>
          <a:bodyPr wrap="square" rtlCol="0" anchor="ctr"/>
          <a:lstStyle/>
          <a:p>
            <a:pPr marL="0" indent="0" algn="ctr">
              <a:buNone/>
            </a:pPr>
            <a:r>
              <a:rPr lang="en-US" sz="1000" dirty="0">
                <a:solidFill>
                  <a:srgbClr val="5B6F6C"/>
                </a:solidFill>
                <a:latin typeface="Calibri" pitchFamily="34" charset="0"/>
                <a:ea typeface="Calibri" pitchFamily="34" charset="-122"/>
                <a:cs typeface="Calibri" pitchFamily="34" charset="-120"/>
              </a:rPr>
              <a:t>1</a:t>
            </a:r>
            <a:endParaRPr lang="en-US" sz="1000" dirty="0"/>
          </a:p>
        </p:txBody>
      </p:sp>
      <p:sp>
        <p:nvSpPr>
          <p:cNvPr id="9" name="Text 6"/>
          <p:cNvSpPr/>
          <p:nvPr/>
        </p:nvSpPr>
        <p:spPr>
          <a:xfrm>
            <a:off x="457200" y="6355080"/>
            <a:ext cx="3657600" cy="320040"/>
          </a:xfrm>
          <a:prstGeom prst="rect">
            <a:avLst/>
          </a:prstGeom>
          <a:noFill/>
          <a:ln/>
        </p:spPr>
        <p:txBody>
          <a:bodyPr wrap="square" rtlCol="0" anchor="ctr"/>
          <a:lstStyle/>
          <a:p>
            <a:pPr marL="0" indent="0" algn="l">
              <a:buNone/>
            </a:pPr>
            <a:r>
              <a:rPr lang="en-US" sz="900" dirty="0">
                <a:solidFill>
                  <a:srgbClr val="9AAFAC"/>
                </a:solidFill>
                <a:latin typeface="Calibri" pitchFamily="34" charset="0"/>
                <a:ea typeface="Calibri" pitchFamily="34" charset="-122"/>
                <a:cs typeface="Calibri" pitchFamily="34" charset="-120"/>
              </a:rPr>
              <a:t>مدرسة الصحة العمومية بسيليبابي</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3D3A"/>
        </a:solidFill>
        <a:effectLst/>
      </p:bgPr>
    </p:bg>
    <p:spTree>
      <p:nvGrpSpPr>
        <p:cNvPr id="1" name=""/>
        <p:cNvGrpSpPr/>
        <p:nvPr/>
      </p:nvGrpSpPr>
      <p:grpSpPr>
        <a:xfrm>
          <a:off x="0" y="0"/>
          <a:ext cx="0" cy="0"/>
          <a:chOff x="0" y="0"/>
          <a:chExt cx="0" cy="0"/>
        </a:xfrm>
      </p:grpSpPr>
      <p:sp>
        <p:nvSpPr>
          <p:cNvPr id="2" name="Shape 0"/>
          <p:cNvSpPr/>
          <p:nvPr/>
        </p:nvSpPr>
        <p:spPr>
          <a:xfrm>
            <a:off x="9326880" y="-1828800"/>
            <a:ext cx="5029200" cy="5029200"/>
          </a:xfrm>
          <a:prstGeom prst="ellipse">
            <a:avLst/>
          </a:prstGeom>
          <a:solidFill>
            <a:srgbClr val="117A65">
              <a:alpha val="28000"/>
            </a:srgbClr>
          </a:solidFill>
          <a:ln/>
        </p:spPr>
      </p:sp>
      <p:sp>
        <p:nvSpPr>
          <p:cNvPr id="3" name="Shape 1"/>
          <p:cNvSpPr/>
          <p:nvPr/>
        </p:nvSpPr>
        <p:spPr>
          <a:xfrm>
            <a:off x="-1645920" y="4389120"/>
            <a:ext cx="4114800" cy="4114800"/>
          </a:xfrm>
          <a:prstGeom prst="ellipse">
            <a:avLst/>
          </a:prstGeom>
          <a:solidFill>
            <a:srgbClr val="C9A24B">
              <a:alpha val="20000"/>
            </a:srgbClr>
          </a:solidFill>
          <a:ln/>
        </p:spPr>
      </p:sp>
      <p:pic>
        <p:nvPicPr>
          <p:cNvPr id="4" name="Image 0" descr="icons/handsHelping_white.png"/>
          <p:cNvPicPr>
            <a:picLocks noChangeAspect="1"/>
          </p:cNvPicPr>
          <p:nvPr/>
        </p:nvPicPr>
        <p:blipFill>
          <a:blip r:embed="rId3"/>
          <a:stretch>
            <a:fillRect/>
          </a:stretch>
        </p:blipFill>
        <p:spPr>
          <a:xfrm>
            <a:off x="10789920" y="548640"/>
            <a:ext cx="548640" cy="548640"/>
          </a:xfrm>
          <a:prstGeom prst="rect">
            <a:avLst/>
          </a:prstGeom>
        </p:spPr>
      </p:pic>
      <p:sp>
        <p:nvSpPr>
          <p:cNvPr id="5" name="Text 2"/>
          <p:cNvSpPr/>
          <p:nvPr/>
        </p:nvSpPr>
        <p:spPr>
          <a:xfrm>
            <a:off x="822960" y="640080"/>
            <a:ext cx="5486400" cy="640080"/>
          </a:xfrm>
          <a:prstGeom prst="rect">
            <a:avLst/>
          </a:prstGeom>
          <a:noFill/>
          <a:ln/>
        </p:spPr>
        <p:txBody>
          <a:bodyPr wrap="square" lIns="0" tIns="0" rIns="0" bIns="0" rtlCol="0" anchor="ctr"/>
          <a:lstStyle/>
          <a:p>
            <a:pPr marL="0" indent="0" algn="r">
              <a:buNone/>
            </a:pPr>
            <a:r>
              <a:rPr lang="en-US" sz="3200" b="1" dirty="0">
                <a:solidFill>
                  <a:srgbClr val="FFFFFF"/>
                </a:solidFill>
                <a:latin typeface="Cambria" pitchFamily="34" charset="0"/>
                <a:ea typeface="Cambria" pitchFamily="34" charset="-122"/>
                <a:cs typeface="Cambria" pitchFamily="34" charset="-120"/>
              </a:rPr>
              <a:t>كلمة شكر</a:t>
            </a:r>
            <a:endParaRPr lang="en-US" sz="3200" dirty="0"/>
          </a:p>
        </p:txBody>
      </p:sp>
      <p:sp>
        <p:nvSpPr>
          <p:cNvPr id="7" name="Shape 4"/>
          <p:cNvSpPr/>
          <p:nvPr/>
        </p:nvSpPr>
        <p:spPr>
          <a:xfrm>
            <a:off x="1463040" y="1691640"/>
            <a:ext cx="9235440" cy="4160520"/>
          </a:xfrm>
          <a:prstGeom prst="roundRect">
            <a:avLst>
              <a:gd name="adj" fmla="val 2637"/>
            </a:avLst>
          </a:prstGeom>
          <a:solidFill>
            <a:srgbClr val="FFFFFF">
              <a:alpha val="6000"/>
            </a:srgbClr>
          </a:solidFill>
          <a:ln w="12700">
            <a:solidFill>
              <a:srgbClr val="FFFFFF">
                <a:alpha val="25000"/>
              </a:srgbClr>
            </a:solidFill>
            <a:prstDash val="solid"/>
          </a:ln>
        </p:spPr>
      </p:sp>
      <p:sp>
        <p:nvSpPr>
          <p:cNvPr id="8" name="Text 5"/>
          <p:cNvSpPr/>
          <p:nvPr/>
        </p:nvSpPr>
        <p:spPr>
          <a:xfrm>
            <a:off x="1783080" y="1965960"/>
            <a:ext cx="8503920" cy="3657600"/>
          </a:xfrm>
          <a:prstGeom prst="rect">
            <a:avLst/>
          </a:prstGeom>
          <a:noFill/>
          <a:ln/>
        </p:spPr>
        <p:txBody>
          <a:bodyPr wrap="square" lIns="0" tIns="0" rIns="0" bIns="0" rtlCol="0" anchor="t"/>
          <a:lstStyle/>
          <a:p>
            <a:pPr marL="0" indent="0" algn="r">
              <a:lnSpc>
                <a:spcPct val="130000"/>
              </a:lnSpc>
              <a:buNone/>
            </a:pPr>
            <a:r>
              <a:rPr lang="en-US" sz="1600" dirty="0">
                <a:solidFill>
                  <a:srgbClr val="FFFFFF"/>
                </a:solidFill>
                <a:latin typeface="Calibri" pitchFamily="34" charset="0"/>
                <a:ea typeface="Calibri" pitchFamily="34" charset="-122"/>
                <a:cs typeface="Calibri" pitchFamily="34" charset="-120"/>
              </a:rPr>
              <a:t>أتقدم بخالص الشكر والتقدير إلى إدارة وأساتذة وطاقم مدرسة الصحة العمومية بسيليبابي، على ما قدموه لنا من علم وتوجيه ودعم طوال فترة الدراسة.</a:t>
            </a:r>
            <a:endParaRPr lang="en-US" sz="1600" dirty="0"/>
          </a:p>
          <a:p>
            <a:pPr marL="0" indent="0" algn="r">
              <a:lnSpc>
                <a:spcPct val="130000"/>
              </a:lnSpc>
              <a:buNone/>
            </a:pPr>
            <a:r>
              <a:rPr lang="en-US" sz="800" dirty="0">
                <a:solidFill>
                  <a:srgbClr val="000000"/>
                </a:solidFill>
                <a:latin typeface="Calibri" pitchFamily="34" charset="0"/>
                <a:ea typeface="Calibri" pitchFamily="34" charset="-122"/>
                <a:cs typeface="Calibri" pitchFamily="34" charset="-120"/>
              </a:rPr>
              <a:t> </a:t>
            </a:r>
            <a:endParaRPr lang="en-US" sz="1600" dirty="0"/>
          </a:p>
          <a:p>
            <a:pPr marL="0" indent="0" algn="r">
              <a:lnSpc>
                <a:spcPct val="130000"/>
              </a:lnSpc>
              <a:buNone/>
            </a:pPr>
            <a:r>
              <a:rPr lang="en-US" sz="1600" dirty="0">
                <a:solidFill>
                  <a:srgbClr val="DCEEE9"/>
                </a:solidFill>
                <a:latin typeface="Calibri" pitchFamily="34" charset="0"/>
                <a:ea typeface="Calibri" pitchFamily="34" charset="-122"/>
                <a:cs typeface="Calibri" pitchFamily="34" charset="-120"/>
              </a:rPr>
              <a:t>لقد كان لجهودكم المخلصة، وصبركم، وحرصكم على تكويننا علميًا وعمليًا، أثر كبير في نجاحنا ووصولنا إلى هذه المرحلة. فبفضلكم اكتسبنا المعارف والمهارات التي تؤهلنا لخدمة مجتمعنا وأداء رسالتنا الإنسانية بكل كفاءة وإخلاص.</a:t>
            </a:r>
            <a:endParaRPr lang="en-US" sz="1600" dirty="0"/>
          </a:p>
          <a:p>
            <a:pPr marL="0" indent="0" algn="r">
              <a:lnSpc>
                <a:spcPct val="130000"/>
              </a:lnSpc>
              <a:buNone/>
            </a:pPr>
            <a:r>
              <a:rPr lang="en-US" sz="800" dirty="0">
                <a:solidFill>
                  <a:srgbClr val="000000"/>
                </a:solidFill>
                <a:latin typeface="Calibri" pitchFamily="34" charset="0"/>
                <a:ea typeface="Calibri" pitchFamily="34" charset="-122"/>
                <a:cs typeface="Calibri" pitchFamily="34" charset="-120"/>
              </a:rPr>
              <a:t> </a:t>
            </a:r>
            <a:endParaRPr lang="en-US" sz="1600" dirty="0"/>
          </a:p>
          <a:p>
            <a:pPr marL="0" indent="0" algn="r">
              <a:lnSpc>
                <a:spcPct val="130000"/>
              </a:lnSpc>
              <a:buNone/>
            </a:pPr>
            <a:r>
              <a:rPr lang="en-US" sz="1600" dirty="0">
                <a:solidFill>
                  <a:srgbClr val="DCEEE9"/>
                </a:solidFill>
                <a:latin typeface="Calibri" pitchFamily="34" charset="0"/>
                <a:ea typeface="Calibri" pitchFamily="34" charset="-122"/>
                <a:cs typeface="Calibri" pitchFamily="34" charset="-120"/>
              </a:rPr>
              <a:t>نسأل الله أن يجزيكم خير الجزاء، وأن يبارك في جهودكم، وأن يديم عليكم الصحة والعافية.</a:t>
            </a:r>
            <a:endParaRPr lang="en-US" sz="1600" dirty="0"/>
          </a:p>
        </p:txBody>
      </p:sp>
      <p:sp>
        <p:nvSpPr>
          <p:cNvPr id="9" name="Text 6"/>
          <p:cNvSpPr/>
          <p:nvPr/>
        </p:nvSpPr>
        <p:spPr>
          <a:xfrm>
            <a:off x="1783080" y="5394960"/>
            <a:ext cx="8503920" cy="365760"/>
          </a:xfrm>
          <a:prstGeom prst="rect">
            <a:avLst/>
          </a:prstGeom>
          <a:noFill/>
          <a:ln/>
        </p:spPr>
        <p:txBody>
          <a:bodyPr wrap="square" lIns="0" tIns="0" rIns="0" bIns="0" rtlCol="0" anchor="ctr"/>
          <a:lstStyle/>
          <a:p>
            <a:pPr marL="0" indent="0" algn="r">
              <a:buNone/>
            </a:pPr>
            <a:r>
              <a:rPr lang="en-US" sz="1500" i="1" dirty="0">
                <a:solidFill>
                  <a:srgbClr val="C9A24B"/>
                </a:solidFill>
                <a:latin typeface="Cambria" pitchFamily="34" charset="0"/>
                <a:ea typeface="Cambria" pitchFamily="34" charset="-122"/>
                <a:cs typeface="Cambria" pitchFamily="34" charset="-120"/>
              </a:rPr>
              <a:t>مع خالص الاحترام والتقدير</a:t>
            </a:r>
            <a:endParaRPr lang="en-US" sz="1500" dirty="0"/>
          </a:p>
        </p:txBody>
      </p:sp>
      <p:sp>
        <p:nvSpPr>
          <p:cNvPr id="10" name="Text 7"/>
          <p:cNvSpPr/>
          <p:nvPr/>
        </p:nvSpPr>
        <p:spPr>
          <a:xfrm>
            <a:off x="11338560" y="6355080"/>
            <a:ext cx="457200" cy="320040"/>
          </a:xfrm>
          <a:prstGeom prst="rect">
            <a:avLst/>
          </a:prstGeom>
          <a:noFill/>
          <a:ln/>
        </p:spPr>
        <p:txBody>
          <a:bodyPr wrap="square" rtlCol="0" anchor="ctr"/>
          <a:lstStyle/>
          <a:p>
            <a:pPr marL="0" indent="0" algn="ctr">
              <a:buNone/>
            </a:pPr>
            <a:r>
              <a:rPr lang="en-US" sz="1000" dirty="0">
                <a:solidFill>
                  <a:srgbClr val="B9CFC9"/>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22960" y="457200"/>
            <a:ext cx="7315200" cy="594360"/>
          </a:xfrm>
          <a:prstGeom prst="rect">
            <a:avLst/>
          </a:prstGeom>
          <a:noFill/>
          <a:ln/>
        </p:spPr>
        <p:txBody>
          <a:bodyPr wrap="square" lIns="0" tIns="0" rIns="0" bIns="0" rtlCol="0" anchor="ctr"/>
          <a:lstStyle/>
          <a:p>
            <a:pPr marL="0" indent="0" algn="r">
              <a:buNone/>
            </a:pPr>
            <a:r>
              <a:rPr lang="en-US" sz="3000" b="1" dirty="0">
                <a:solidFill>
                  <a:srgbClr val="0B3D3A"/>
                </a:solidFill>
                <a:latin typeface="Cambria" pitchFamily="34" charset="0"/>
                <a:ea typeface="Cambria" pitchFamily="34" charset="-122"/>
                <a:cs typeface="Cambria" pitchFamily="34" charset="-120"/>
              </a:rPr>
              <a:t>محاور التقرير</a:t>
            </a:r>
            <a:endParaRPr lang="en-US" sz="3000" dirty="0"/>
          </a:p>
        </p:txBody>
      </p:sp>
      <p:sp>
        <p:nvSpPr>
          <p:cNvPr id="3" name="Text 1"/>
          <p:cNvSpPr/>
          <p:nvPr/>
        </p:nvSpPr>
        <p:spPr>
          <a:xfrm>
            <a:off x="822960" y="960120"/>
            <a:ext cx="7315200" cy="365760"/>
          </a:xfrm>
          <a:prstGeom prst="rect">
            <a:avLst/>
          </a:prstGeom>
          <a:noFill/>
          <a:ln/>
        </p:spPr>
        <p:txBody>
          <a:bodyPr wrap="square" lIns="0" tIns="0" rIns="0" bIns="0" rtlCol="0" anchor="ctr"/>
          <a:lstStyle/>
          <a:p>
            <a:pPr marL="0" indent="0" algn="r">
              <a:buNone/>
            </a:pPr>
            <a:r>
              <a:rPr lang="en-US" sz="1300" dirty="0">
                <a:solidFill>
                  <a:srgbClr val="5B6F6C"/>
                </a:solidFill>
                <a:latin typeface="Calibri" pitchFamily="34" charset="0"/>
                <a:ea typeface="Calibri" pitchFamily="34" charset="-122"/>
                <a:cs typeface="Calibri" pitchFamily="34" charset="-120"/>
              </a:rPr>
              <a:t>لمحة عامة عن مكونات تقرير التدريب الميداني</a:t>
            </a:r>
            <a:endParaRPr lang="en-US" sz="1300" dirty="0"/>
          </a:p>
        </p:txBody>
      </p:sp>
      <p:sp>
        <p:nvSpPr>
          <p:cNvPr id="4" name="Shape 2"/>
          <p:cNvSpPr/>
          <p:nvPr/>
        </p:nvSpPr>
        <p:spPr>
          <a:xfrm>
            <a:off x="571500" y="1600200"/>
            <a:ext cx="3520440" cy="1417320"/>
          </a:xfrm>
          <a:prstGeom prst="roundRect">
            <a:avLst>
              <a:gd name="adj" fmla="val 6452"/>
            </a:avLst>
          </a:prstGeom>
          <a:solidFill>
            <a:srgbClr val="FFFFFF"/>
          </a:solidFill>
          <a:ln/>
          <a:effectLst>
            <a:outerShdw blurRad="101600" dist="25400" dir="5400000" algn="bl" rotWithShape="0">
              <a:srgbClr val="0B3D3A">
                <a:alpha val="8000"/>
              </a:srgbClr>
            </a:outerShdw>
          </a:effectLst>
        </p:spPr>
      </p:sp>
      <p:sp>
        <p:nvSpPr>
          <p:cNvPr id="5" name="Shape 3"/>
          <p:cNvSpPr/>
          <p:nvPr/>
        </p:nvSpPr>
        <p:spPr>
          <a:xfrm>
            <a:off x="3314700" y="1783080"/>
            <a:ext cx="502920" cy="502920"/>
          </a:xfrm>
          <a:prstGeom prst="ellipse">
            <a:avLst/>
          </a:prstGeom>
          <a:solidFill>
            <a:srgbClr val="D9F0EA"/>
          </a:solidFill>
          <a:ln/>
        </p:spPr>
      </p:sp>
      <p:pic>
        <p:nvPicPr>
          <p:cNvPr id="6" name="Image 0" descr="icons/mapMarked_teal.png"/>
          <p:cNvPicPr>
            <a:picLocks noChangeAspect="1"/>
          </p:cNvPicPr>
          <p:nvPr/>
        </p:nvPicPr>
        <p:blipFill>
          <a:blip r:embed="rId3"/>
          <a:stretch>
            <a:fillRect/>
          </a:stretch>
        </p:blipFill>
        <p:spPr>
          <a:xfrm>
            <a:off x="3433572" y="1901952"/>
            <a:ext cx="274320" cy="274320"/>
          </a:xfrm>
          <a:prstGeom prst="rect">
            <a:avLst/>
          </a:prstGeom>
        </p:spPr>
      </p:pic>
      <p:sp>
        <p:nvSpPr>
          <p:cNvPr id="7" name="Text 4"/>
          <p:cNvSpPr/>
          <p:nvPr/>
        </p:nvSpPr>
        <p:spPr>
          <a:xfrm>
            <a:off x="736092" y="1764792"/>
            <a:ext cx="914400" cy="365760"/>
          </a:xfrm>
          <a:prstGeom prst="rect">
            <a:avLst/>
          </a:prstGeom>
          <a:noFill/>
          <a:ln/>
        </p:spPr>
        <p:txBody>
          <a:bodyPr wrap="square" lIns="0" tIns="0" rIns="0" bIns="0" rtlCol="0" anchor="ctr"/>
          <a:lstStyle/>
          <a:p>
            <a:pPr marL="0" indent="0" algn="l">
              <a:buNone/>
            </a:pPr>
            <a:r>
              <a:rPr lang="en-US" sz="2000" b="1" dirty="0">
                <a:solidFill>
                  <a:srgbClr val="B7D9CF"/>
                </a:solidFill>
                <a:latin typeface="Cambria" pitchFamily="34" charset="0"/>
                <a:ea typeface="Cambria" pitchFamily="34" charset="-122"/>
                <a:cs typeface="Cambria" pitchFamily="34" charset="-120"/>
              </a:rPr>
              <a:t>01</a:t>
            </a:r>
            <a:endParaRPr lang="en-US" sz="2000" dirty="0"/>
          </a:p>
        </p:txBody>
      </p:sp>
      <p:sp>
        <p:nvSpPr>
          <p:cNvPr id="8" name="Text 5"/>
          <p:cNvSpPr/>
          <p:nvPr/>
        </p:nvSpPr>
        <p:spPr>
          <a:xfrm>
            <a:off x="736092" y="2313432"/>
            <a:ext cx="2651760" cy="621792"/>
          </a:xfrm>
          <a:prstGeom prst="rect">
            <a:avLst/>
          </a:prstGeom>
          <a:noFill/>
          <a:ln/>
        </p:spPr>
        <p:txBody>
          <a:bodyPr wrap="square" lIns="0" tIns="0" rIns="0" bIns="0" rtlCol="0" anchor="t"/>
          <a:lstStyle/>
          <a:p>
            <a:pPr marL="0" indent="0" algn="r">
              <a:buNone/>
            </a:pPr>
            <a:r>
              <a:rPr lang="en-US" sz="1300" b="1" dirty="0">
                <a:solidFill>
                  <a:srgbClr val="0B3D3A"/>
                </a:solidFill>
                <a:latin typeface="Calibri" pitchFamily="34" charset="0"/>
                <a:ea typeface="Calibri" pitchFamily="34" charset="-122"/>
                <a:cs typeface="Calibri" pitchFamily="34" charset="-120"/>
              </a:rPr>
              <a:t>مقدمة وخارطة صحية</a:t>
            </a:r>
            <a:endParaRPr lang="en-US" sz="1300" dirty="0"/>
          </a:p>
        </p:txBody>
      </p:sp>
      <p:sp>
        <p:nvSpPr>
          <p:cNvPr id="9" name="Shape 6"/>
          <p:cNvSpPr/>
          <p:nvPr/>
        </p:nvSpPr>
        <p:spPr>
          <a:xfrm>
            <a:off x="4320540" y="1600200"/>
            <a:ext cx="3520440" cy="1417320"/>
          </a:xfrm>
          <a:prstGeom prst="roundRect">
            <a:avLst>
              <a:gd name="adj" fmla="val 6452"/>
            </a:avLst>
          </a:prstGeom>
          <a:solidFill>
            <a:srgbClr val="FFFFFF"/>
          </a:solidFill>
          <a:ln/>
          <a:effectLst>
            <a:outerShdw blurRad="101600" dist="25400" dir="5400000" algn="bl" rotWithShape="0">
              <a:srgbClr val="0B3D3A">
                <a:alpha val="8000"/>
              </a:srgbClr>
            </a:outerShdw>
          </a:effectLst>
        </p:spPr>
      </p:sp>
      <p:sp>
        <p:nvSpPr>
          <p:cNvPr id="10" name="Shape 7"/>
          <p:cNvSpPr/>
          <p:nvPr/>
        </p:nvSpPr>
        <p:spPr>
          <a:xfrm>
            <a:off x="7063740" y="1783080"/>
            <a:ext cx="502920" cy="502920"/>
          </a:xfrm>
          <a:prstGeom prst="ellipse">
            <a:avLst/>
          </a:prstGeom>
          <a:solidFill>
            <a:srgbClr val="D9F0EA"/>
          </a:solidFill>
          <a:ln/>
        </p:spPr>
      </p:sp>
      <p:pic>
        <p:nvPicPr>
          <p:cNvPr id="11" name="Image 1" descr="icons/calendar_teal.png"/>
          <p:cNvPicPr>
            <a:picLocks noChangeAspect="1"/>
          </p:cNvPicPr>
          <p:nvPr/>
        </p:nvPicPr>
        <p:blipFill>
          <a:blip r:embed="rId4"/>
          <a:stretch>
            <a:fillRect/>
          </a:stretch>
        </p:blipFill>
        <p:spPr>
          <a:xfrm>
            <a:off x="7182612" y="1901952"/>
            <a:ext cx="274320" cy="274320"/>
          </a:xfrm>
          <a:prstGeom prst="rect">
            <a:avLst/>
          </a:prstGeom>
        </p:spPr>
      </p:pic>
      <p:sp>
        <p:nvSpPr>
          <p:cNvPr id="12" name="Text 8"/>
          <p:cNvSpPr/>
          <p:nvPr/>
        </p:nvSpPr>
        <p:spPr>
          <a:xfrm>
            <a:off x="4485132" y="1764792"/>
            <a:ext cx="914400" cy="365760"/>
          </a:xfrm>
          <a:prstGeom prst="rect">
            <a:avLst/>
          </a:prstGeom>
          <a:noFill/>
          <a:ln/>
        </p:spPr>
        <p:txBody>
          <a:bodyPr wrap="square" lIns="0" tIns="0" rIns="0" bIns="0" rtlCol="0" anchor="ctr"/>
          <a:lstStyle/>
          <a:p>
            <a:pPr marL="0" indent="0" algn="l">
              <a:buNone/>
            </a:pPr>
            <a:r>
              <a:rPr lang="en-US" sz="2000" b="1" dirty="0">
                <a:solidFill>
                  <a:srgbClr val="B7D9CF"/>
                </a:solidFill>
                <a:latin typeface="Cambria" pitchFamily="34" charset="0"/>
                <a:ea typeface="Cambria" pitchFamily="34" charset="-122"/>
                <a:cs typeface="Cambria" pitchFamily="34" charset="-120"/>
              </a:rPr>
              <a:t>02</a:t>
            </a:r>
            <a:endParaRPr lang="en-US" sz="2000" dirty="0"/>
          </a:p>
        </p:txBody>
      </p:sp>
      <p:sp>
        <p:nvSpPr>
          <p:cNvPr id="13" name="Text 9"/>
          <p:cNvSpPr/>
          <p:nvPr/>
        </p:nvSpPr>
        <p:spPr>
          <a:xfrm>
            <a:off x="4485132" y="2313432"/>
            <a:ext cx="2651760" cy="621792"/>
          </a:xfrm>
          <a:prstGeom prst="rect">
            <a:avLst/>
          </a:prstGeom>
          <a:noFill/>
          <a:ln/>
        </p:spPr>
        <p:txBody>
          <a:bodyPr wrap="square" lIns="0" tIns="0" rIns="0" bIns="0" rtlCol="0" anchor="t"/>
          <a:lstStyle/>
          <a:p>
            <a:pPr marL="0" indent="0" algn="r">
              <a:buNone/>
            </a:pPr>
            <a:r>
              <a:rPr lang="en-US" sz="1300" b="1" dirty="0">
                <a:solidFill>
                  <a:srgbClr val="0B3D3A"/>
                </a:solidFill>
                <a:latin typeface="Calibri" pitchFamily="34" charset="0"/>
                <a:ea typeface="Calibri" pitchFamily="34" charset="-122"/>
                <a:cs typeface="Calibri" pitchFamily="34" charset="-120"/>
              </a:rPr>
              <a:t>أهداف التدريب وجدول المداومة</a:t>
            </a:r>
            <a:endParaRPr lang="en-US" sz="1300" dirty="0"/>
          </a:p>
        </p:txBody>
      </p:sp>
      <p:sp>
        <p:nvSpPr>
          <p:cNvPr id="14" name="Shape 10"/>
          <p:cNvSpPr/>
          <p:nvPr/>
        </p:nvSpPr>
        <p:spPr>
          <a:xfrm>
            <a:off x="8069580" y="1600200"/>
            <a:ext cx="3520440" cy="1417320"/>
          </a:xfrm>
          <a:prstGeom prst="roundRect">
            <a:avLst>
              <a:gd name="adj" fmla="val 6452"/>
            </a:avLst>
          </a:prstGeom>
          <a:solidFill>
            <a:srgbClr val="FFFFFF"/>
          </a:solidFill>
          <a:ln/>
          <a:effectLst>
            <a:outerShdw blurRad="101600" dist="25400" dir="5400000" algn="bl" rotWithShape="0">
              <a:srgbClr val="0B3D3A">
                <a:alpha val="8000"/>
              </a:srgbClr>
            </a:outerShdw>
          </a:effectLst>
        </p:spPr>
      </p:sp>
      <p:sp>
        <p:nvSpPr>
          <p:cNvPr id="15" name="Shape 11"/>
          <p:cNvSpPr/>
          <p:nvPr/>
        </p:nvSpPr>
        <p:spPr>
          <a:xfrm>
            <a:off x="10812780" y="1783080"/>
            <a:ext cx="502920" cy="502920"/>
          </a:xfrm>
          <a:prstGeom prst="ellipse">
            <a:avLst/>
          </a:prstGeom>
          <a:solidFill>
            <a:srgbClr val="D9F0EA"/>
          </a:solidFill>
          <a:ln/>
        </p:spPr>
      </p:sp>
      <p:pic>
        <p:nvPicPr>
          <p:cNvPr id="16" name="Image 2" descr="icons/pills_teal.png"/>
          <p:cNvPicPr>
            <a:picLocks noChangeAspect="1"/>
          </p:cNvPicPr>
          <p:nvPr/>
        </p:nvPicPr>
        <p:blipFill>
          <a:blip r:embed="rId5"/>
          <a:stretch>
            <a:fillRect/>
          </a:stretch>
        </p:blipFill>
        <p:spPr>
          <a:xfrm>
            <a:off x="10931652" y="1901952"/>
            <a:ext cx="274320" cy="274320"/>
          </a:xfrm>
          <a:prstGeom prst="rect">
            <a:avLst/>
          </a:prstGeom>
        </p:spPr>
      </p:pic>
      <p:sp>
        <p:nvSpPr>
          <p:cNvPr id="17" name="Text 12"/>
          <p:cNvSpPr/>
          <p:nvPr/>
        </p:nvSpPr>
        <p:spPr>
          <a:xfrm>
            <a:off x="8234172" y="1764792"/>
            <a:ext cx="914400" cy="365760"/>
          </a:xfrm>
          <a:prstGeom prst="rect">
            <a:avLst/>
          </a:prstGeom>
          <a:noFill/>
          <a:ln/>
        </p:spPr>
        <p:txBody>
          <a:bodyPr wrap="square" lIns="0" tIns="0" rIns="0" bIns="0" rtlCol="0" anchor="ctr"/>
          <a:lstStyle/>
          <a:p>
            <a:pPr marL="0" indent="0" algn="l">
              <a:buNone/>
            </a:pPr>
            <a:r>
              <a:rPr lang="en-US" sz="2000" b="1" dirty="0">
                <a:solidFill>
                  <a:srgbClr val="B7D9CF"/>
                </a:solidFill>
                <a:latin typeface="Cambria" pitchFamily="34" charset="0"/>
                <a:ea typeface="Cambria" pitchFamily="34" charset="-122"/>
                <a:cs typeface="Cambria" pitchFamily="34" charset="-120"/>
              </a:rPr>
              <a:t>03</a:t>
            </a:r>
            <a:endParaRPr lang="en-US" sz="2000" dirty="0"/>
          </a:p>
        </p:txBody>
      </p:sp>
      <p:sp>
        <p:nvSpPr>
          <p:cNvPr id="18" name="Text 13"/>
          <p:cNvSpPr/>
          <p:nvPr/>
        </p:nvSpPr>
        <p:spPr>
          <a:xfrm>
            <a:off x="8234172" y="2313432"/>
            <a:ext cx="2651760" cy="621792"/>
          </a:xfrm>
          <a:prstGeom prst="rect">
            <a:avLst/>
          </a:prstGeom>
          <a:noFill/>
          <a:ln/>
        </p:spPr>
        <p:txBody>
          <a:bodyPr wrap="square" lIns="0" tIns="0" rIns="0" bIns="0" rtlCol="0" anchor="t"/>
          <a:lstStyle/>
          <a:p>
            <a:pPr marL="0" indent="0" algn="r">
              <a:buNone/>
            </a:pPr>
            <a:r>
              <a:rPr lang="en-US" sz="1300" b="1" dirty="0">
                <a:solidFill>
                  <a:srgbClr val="0B3D3A"/>
                </a:solidFill>
                <a:latin typeface="Calibri" pitchFamily="34" charset="0"/>
                <a:ea typeface="Calibri" pitchFamily="34" charset="-122"/>
                <a:cs typeface="Calibri" pitchFamily="34" charset="-120"/>
              </a:rPr>
              <a:t>البروتوكولات العلاجية (15 حالة)</a:t>
            </a:r>
            <a:endParaRPr lang="en-US" sz="1300" dirty="0"/>
          </a:p>
        </p:txBody>
      </p:sp>
      <p:sp>
        <p:nvSpPr>
          <p:cNvPr id="19" name="Shape 14"/>
          <p:cNvSpPr/>
          <p:nvPr/>
        </p:nvSpPr>
        <p:spPr>
          <a:xfrm>
            <a:off x="571500" y="3246120"/>
            <a:ext cx="3520440" cy="1417320"/>
          </a:xfrm>
          <a:prstGeom prst="roundRect">
            <a:avLst>
              <a:gd name="adj" fmla="val 6452"/>
            </a:avLst>
          </a:prstGeom>
          <a:solidFill>
            <a:srgbClr val="FFFFFF"/>
          </a:solidFill>
          <a:ln/>
          <a:effectLst>
            <a:outerShdw blurRad="101600" dist="25400" dir="5400000" algn="bl" rotWithShape="0">
              <a:srgbClr val="0B3D3A">
                <a:alpha val="8000"/>
              </a:srgbClr>
            </a:outerShdw>
          </a:effectLst>
        </p:spPr>
      </p:sp>
      <p:sp>
        <p:nvSpPr>
          <p:cNvPr id="20" name="Shape 15"/>
          <p:cNvSpPr/>
          <p:nvPr/>
        </p:nvSpPr>
        <p:spPr>
          <a:xfrm>
            <a:off x="3314700" y="3429000"/>
            <a:ext cx="502920" cy="502920"/>
          </a:xfrm>
          <a:prstGeom prst="ellipse">
            <a:avLst/>
          </a:prstGeom>
          <a:solidFill>
            <a:srgbClr val="D9F0EA"/>
          </a:solidFill>
          <a:ln/>
        </p:spPr>
      </p:sp>
      <p:pic>
        <p:nvPicPr>
          <p:cNvPr id="21" name="Image 3" descr="icons/stethoscope_teal.png"/>
          <p:cNvPicPr>
            <a:picLocks noChangeAspect="1"/>
          </p:cNvPicPr>
          <p:nvPr/>
        </p:nvPicPr>
        <p:blipFill>
          <a:blip r:embed="rId6"/>
          <a:stretch>
            <a:fillRect/>
          </a:stretch>
        </p:blipFill>
        <p:spPr>
          <a:xfrm>
            <a:off x="3433572" y="3547872"/>
            <a:ext cx="274320" cy="274320"/>
          </a:xfrm>
          <a:prstGeom prst="rect">
            <a:avLst/>
          </a:prstGeom>
        </p:spPr>
      </p:pic>
      <p:sp>
        <p:nvSpPr>
          <p:cNvPr id="22" name="Text 16"/>
          <p:cNvSpPr/>
          <p:nvPr/>
        </p:nvSpPr>
        <p:spPr>
          <a:xfrm>
            <a:off x="736092" y="3410712"/>
            <a:ext cx="914400" cy="365760"/>
          </a:xfrm>
          <a:prstGeom prst="rect">
            <a:avLst/>
          </a:prstGeom>
          <a:noFill/>
          <a:ln/>
        </p:spPr>
        <p:txBody>
          <a:bodyPr wrap="square" lIns="0" tIns="0" rIns="0" bIns="0" rtlCol="0" anchor="ctr"/>
          <a:lstStyle/>
          <a:p>
            <a:pPr marL="0" indent="0" algn="l">
              <a:buNone/>
            </a:pPr>
            <a:r>
              <a:rPr lang="en-US" sz="2000" b="1" dirty="0">
                <a:solidFill>
                  <a:srgbClr val="B7D9CF"/>
                </a:solidFill>
                <a:latin typeface="Cambria" pitchFamily="34" charset="0"/>
                <a:ea typeface="Cambria" pitchFamily="34" charset="-122"/>
                <a:cs typeface="Cambria" pitchFamily="34" charset="-120"/>
              </a:rPr>
              <a:t>04</a:t>
            </a:r>
            <a:endParaRPr lang="en-US" sz="2000" dirty="0"/>
          </a:p>
        </p:txBody>
      </p:sp>
      <p:sp>
        <p:nvSpPr>
          <p:cNvPr id="23" name="Text 17"/>
          <p:cNvSpPr/>
          <p:nvPr/>
        </p:nvSpPr>
        <p:spPr>
          <a:xfrm>
            <a:off x="736092" y="3959352"/>
            <a:ext cx="2651760" cy="621792"/>
          </a:xfrm>
          <a:prstGeom prst="rect">
            <a:avLst/>
          </a:prstGeom>
          <a:noFill/>
          <a:ln/>
        </p:spPr>
        <p:txBody>
          <a:bodyPr wrap="square" lIns="0" tIns="0" rIns="0" bIns="0" rtlCol="0" anchor="t"/>
          <a:lstStyle/>
          <a:p>
            <a:pPr marL="0" indent="0" algn="r">
              <a:buNone/>
            </a:pPr>
            <a:r>
              <a:rPr lang="en-US" sz="1300" b="1" dirty="0">
                <a:solidFill>
                  <a:srgbClr val="0B3D3A"/>
                </a:solidFill>
                <a:latin typeface="Calibri" pitchFamily="34" charset="0"/>
                <a:ea typeface="Calibri" pitchFamily="34" charset="-122"/>
                <a:cs typeface="Calibri" pitchFamily="34" charset="-120"/>
              </a:rPr>
              <a:t>الحالات الاستعجالية والاستشارات</a:t>
            </a:r>
            <a:endParaRPr lang="en-US" sz="1300" dirty="0"/>
          </a:p>
        </p:txBody>
      </p:sp>
      <p:sp>
        <p:nvSpPr>
          <p:cNvPr id="24" name="Shape 18"/>
          <p:cNvSpPr/>
          <p:nvPr/>
        </p:nvSpPr>
        <p:spPr>
          <a:xfrm>
            <a:off x="4320540" y="3246120"/>
            <a:ext cx="3520440" cy="1417320"/>
          </a:xfrm>
          <a:prstGeom prst="roundRect">
            <a:avLst>
              <a:gd name="adj" fmla="val 6452"/>
            </a:avLst>
          </a:prstGeom>
          <a:solidFill>
            <a:srgbClr val="FFFFFF"/>
          </a:solidFill>
          <a:ln/>
          <a:effectLst>
            <a:outerShdw blurRad="101600" dist="25400" dir="5400000" algn="bl" rotWithShape="0">
              <a:srgbClr val="0B3D3A">
                <a:alpha val="8000"/>
              </a:srgbClr>
            </a:outerShdw>
          </a:effectLst>
        </p:spPr>
      </p:sp>
      <p:sp>
        <p:nvSpPr>
          <p:cNvPr id="25" name="Shape 19"/>
          <p:cNvSpPr/>
          <p:nvPr/>
        </p:nvSpPr>
        <p:spPr>
          <a:xfrm>
            <a:off x="7063740" y="3429000"/>
            <a:ext cx="502920" cy="502920"/>
          </a:xfrm>
          <a:prstGeom prst="ellipse">
            <a:avLst/>
          </a:prstGeom>
          <a:solidFill>
            <a:srgbClr val="D9F0EA"/>
          </a:solidFill>
          <a:ln/>
        </p:spPr>
      </p:sp>
      <p:pic>
        <p:nvPicPr>
          <p:cNvPr id="26" name="Image 4" descr="icons/baby_teal.png"/>
          <p:cNvPicPr>
            <a:picLocks noChangeAspect="1"/>
          </p:cNvPicPr>
          <p:nvPr/>
        </p:nvPicPr>
        <p:blipFill>
          <a:blip r:embed="rId7"/>
          <a:stretch>
            <a:fillRect/>
          </a:stretch>
        </p:blipFill>
        <p:spPr>
          <a:xfrm>
            <a:off x="7182612" y="3547872"/>
            <a:ext cx="274320" cy="274320"/>
          </a:xfrm>
          <a:prstGeom prst="rect">
            <a:avLst/>
          </a:prstGeom>
        </p:spPr>
      </p:pic>
      <p:sp>
        <p:nvSpPr>
          <p:cNvPr id="27" name="Text 20"/>
          <p:cNvSpPr/>
          <p:nvPr/>
        </p:nvSpPr>
        <p:spPr>
          <a:xfrm>
            <a:off x="4485132" y="3410712"/>
            <a:ext cx="914400" cy="365760"/>
          </a:xfrm>
          <a:prstGeom prst="rect">
            <a:avLst/>
          </a:prstGeom>
          <a:noFill/>
          <a:ln/>
        </p:spPr>
        <p:txBody>
          <a:bodyPr wrap="square" lIns="0" tIns="0" rIns="0" bIns="0" rtlCol="0" anchor="ctr"/>
          <a:lstStyle/>
          <a:p>
            <a:pPr marL="0" indent="0" algn="l">
              <a:buNone/>
            </a:pPr>
            <a:r>
              <a:rPr lang="en-US" sz="2000" b="1" dirty="0">
                <a:solidFill>
                  <a:srgbClr val="B7D9CF"/>
                </a:solidFill>
                <a:latin typeface="Cambria" pitchFamily="34" charset="0"/>
                <a:ea typeface="Cambria" pitchFamily="34" charset="-122"/>
                <a:cs typeface="Cambria" pitchFamily="34" charset="-120"/>
              </a:rPr>
              <a:t>05</a:t>
            </a:r>
            <a:endParaRPr lang="en-US" sz="2000" dirty="0"/>
          </a:p>
        </p:txBody>
      </p:sp>
      <p:sp>
        <p:nvSpPr>
          <p:cNvPr id="28" name="Text 21"/>
          <p:cNvSpPr/>
          <p:nvPr/>
        </p:nvSpPr>
        <p:spPr>
          <a:xfrm>
            <a:off x="4485132" y="3959352"/>
            <a:ext cx="2651760" cy="621792"/>
          </a:xfrm>
          <a:prstGeom prst="rect">
            <a:avLst/>
          </a:prstGeom>
          <a:noFill/>
          <a:ln/>
        </p:spPr>
        <p:txBody>
          <a:bodyPr wrap="square" lIns="0" tIns="0" rIns="0" bIns="0" rtlCol="0" anchor="t"/>
          <a:lstStyle/>
          <a:p>
            <a:pPr marL="0" indent="0" algn="r">
              <a:buNone/>
            </a:pPr>
            <a:r>
              <a:rPr lang="en-US" sz="1300" b="1" dirty="0">
                <a:solidFill>
                  <a:srgbClr val="0B3D3A"/>
                </a:solidFill>
                <a:latin typeface="Calibri" pitchFamily="34" charset="0"/>
                <a:ea typeface="Calibri" pitchFamily="34" charset="-122"/>
                <a:cs typeface="Calibri" pitchFamily="34" charset="-120"/>
              </a:rPr>
              <a:t>المخططات العلاجية والولادات</a:t>
            </a:r>
            <a:endParaRPr lang="en-US" sz="1300" dirty="0"/>
          </a:p>
        </p:txBody>
      </p:sp>
      <p:sp>
        <p:nvSpPr>
          <p:cNvPr id="29" name="Shape 22"/>
          <p:cNvSpPr/>
          <p:nvPr/>
        </p:nvSpPr>
        <p:spPr>
          <a:xfrm>
            <a:off x="8069580" y="3246120"/>
            <a:ext cx="3520440" cy="1417320"/>
          </a:xfrm>
          <a:prstGeom prst="roundRect">
            <a:avLst>
              <a:gd name="adj" fmla="val 6452"/>
            </a:avLst>
          </a:prstGeom>
          <a:solidFill>
            <a:srgbClr val="FFFFFF"/>
          </a:solidFill>
          <a:ln/>
          <a:effectLst>
            <a:outerShdw blurRad="101600" dist="25400" dir="5400000" algn="bl" rotWithShape="0">
              <a:srgbClr val="0B3D3A">
                <a:alpha val="8000"/>
              </a:srgbClr>
            </a:outerShdw>
          </a:effectLst>
        </p:spPr>
      </p:sp>
      <p:sp>
        <p:nvSpPr>
          <p:cNvPr id="30" name="Shape 23"/>
          <p:cNvSpPr/>
          <p:nvPr/>
        </p:nvSpPr>
        <p:spPr>
          <a:xfrm>
            <a:off x="10812780" y="3429000"/>
            <a:ext cx="502920" cy="502920"/>
          </a:xfrm>
          <a:prstGeom prst="ellipse">
            <a:avLst/>
          </a:prstGeom>
          <a:solidFill>
            <a:srgbClr val="D9F0EA"/>
          </a:solidFill>
          <a:ln/>
        </p:spPr>
      </p:sp>
      <p:pic>
        <p:nvPicPr>
          <p:cNvPr id="31" name="Image 5" descr="icons/syringe_teal.png"/>
          <p:cNvPicPr>
            <a:picLocks noChangeAspect="1"/>
          </p:cNvPicPr>
          <p:nvPr/>
        </p:nvPicPr>
        <p:blipFill>
          <a:blip r:embed="rId8"/>
          <a:stretch>
            <a:fillRect/>
          </a:stretch>
        </p:blipFill>
        <p:spPr>
          <a:xfrm>
            <a:off x="10931652" y="3547872"/>
            <a:ext cx="274320" cy="274320"/>
          </a:xfrm>
          <a:prstGeom prst="rect">
            <a:avLst/>
          </a:prstGeom>
        </p:spPr>
      </p:pic>
      <p:sp>
        <p:nvSpPr>
          <p:cNvPr id="32" name="Text 24"/>
          <p:cNvSpPr/>
          <p:nvPr/>
        </p:nvSpPr>
        <p:spPr>
          <a:xfrm>
            <a:off x="8234172" y="3410712"/>
            <a:ext cx="914400" cy="365760"/>
          </a:xfrm>
          <a:prstGeom prst="rect">
            <a:avLst/>
          </a:prstGeom>
          <a:noFill/>
          <a:ln/>
        </p:spPr>
        <p:txBody>
          <a:bodyPr wrap="square" lIns="0" tIns="0" rIns="0" bIns="0" rtlCol="0" anchor="ctr"/>
          <a:lstStyle/>
          <a:p>
            <a:pPr marL="0" indent="0" algn="l">
              <a:buNone/>
            </a:pPr>
            <a:r>
              <a:rPr lang="en-US" sz="2000" b="1" dirty="0">
                <a:solidFill>
                  <a:srgbClr val="B7D9CF"/>
                </a:solidFill>
                <a:latin typeface="Cambria" pitchFamily="34" charset="0"/>
                <a:ea typeface="Cambria" pitchFamily="34" charset="-122"/>
                <a:cs typeface="Cambria" pitchFamily="34" charset="-120"/>
              </a:rPr>
              <a:t>06</a:t>
            </a:r>
            <a:endParaRPr lang="en-US" sz="2000" dirty="0"/>
          </a:p>
        </p:txBody>
      </p:sp>
      <p:sp>
        <p:nvSpPr>
          <p:cNvPr id="33" name="Text 25"/>
          <p:cNvSpPr/>
          <p:nvPr/>
        </p:nvSpPr>
        <p:spPr>
          <a:xfrm>
            <a:off x="8234172" y="3959352"/>
            <a:ext cx="2651760" cy="621792"/>
          </a:xfrm>
          <a:prstGeom prst="rect">
            <a:avLst/>
          </a:prstGeom>
          <a:noFill/>
          <a:ln/>
        </p:spPr>
        <p:txBody>
          <a:bodyPr wrap="square" lIns="0" tIns="0" rIns="0" bIns="0" rtlCol="0" anchor="t"/>
          <a:lstStyle/>
          <a:p>
            <a:pPr marL="0" indent="0" algn="r">
              <a:buNone/>
            </a:pPr>
            <a:r>
              <a:rPr lang="en-US" sz="1300" b="1" dirty="0">
                <a:solidFill>
                  <a:srgbClr val="0B3D3A"/>
                </a:solidFill>
                <a:latin typeface="Calibri" pitchFamily="34" charset="0"/>
                <a:ea typeface="Calibri" pitchFamily="34" charset="-122"/>
                <a:cs typeface="Calibri" pitchFamily="34" charset="-120"/>
              </a:rPr>
              <a:t>التلقيح والحالة الغذائية للأطفال</a:t>
            </a:r>
            <a:endParaRPr lang="en-US" sz="1300" dirty="0"/>
          </a:p>
        </p:txBody>
      </p:sp>
      <p:sp>
        <p:nvSpPr>
          <p:cNvPr id="34" name="Shape 26"/>
          <p:cNvSpPr/>
          <p:nvPr/>
        </p:nvSpPr>
        <p:spPr>
          <a:xfrm>
            <a:off x="571500" y="4892040"/>
            <a:ext cx="3520440" cy="1417320"/>
          </a:xfrm>
          <a:prstGeom prst="roundRect">
            <a:avLst>
              <a:gd name="adj" fmla="val 6452"/>
            </a:avLst>
          </a:prstGeom>
          <a:solidFill>
            <a:srgbClr val="FFFFFF"/>
          </a:solidFill>
          <a:ln/>
          <a:effectLst>
            <a:outerShdw blurRad="101600" dist="25400" dir="5400000" algn="bl" rotWithShape="0">
              <a:srgbClr val="0B3D3A">
                <a:alpha val="8000"/>
              </a:srgbClr>
            </a:outerShdw>
          </a:effectLst>
        </p:spPr>
      </p:sp>
      <p:sp>
        <p:nvSpPr>
          <p:cNvPr id="35" name="Shape 27"/>
          <p:cNvSpPr/>
          <p:nvPr/>
        </p:nvSpPr>
        <p:spPr>
          <a:xfrm>
            <a:off x="3314700" y="5074920"/>
            <a:ext cx="502920" cy="502920"/>
          </a:xfrm>
          <a:prstGeom prst="ellipse">
            <a:avLst/>
          </a:prstGeom>
          <a:solidFill>
            <a:srgbClr val="D9F0EA"/>
          </a:solidFill>
          <a:ln/>
        </p:spPr>
      </p:sp>
      <p:pic>
        <p:nvPicPr>
          <p:cNvPr id="36" name="Image 6" descr="icons/bookOpen_teal.png"/>
          <p:cNvPicPr>
            <a:picLocks noChangeAspect="1"/>
          </p:cNvPicPr>
          <p:nvPr/>
        </p:nvPicPr>
        <p:blipFill>
          <a:blip r:embed="rId9"/>
          <a:stretch>
            <a:fillRect/>
          </a:stretch>
        </p:blipFill>
        <p:spPr>
          <a:xfrm>
            <a:off x="3433572" y="5193792"/>
            <a:ext cx="274320" cy="274320"/>
          </a:xfrm>
          <a:prstGeom prst="rect">
            <a:avLst/>
          </a:prstGeom>
        </p:spPr>
      </p:pic>
      <p:sp>
        <p:nvSpPr>
          <p:cNvPr id="37" name="Text 28"/>
          <p:cNvSpPr/>
          <p:nvPr/>
        </p:nvSpPr>
        <p:spPr>
          <a:xfrm>
            <a:off x="736092" y="5056632"/>
            <a:ext cx="914400" cy="365760"/>
          </a:xfrm>
          <a:prstGeom prst="rect">
            <a:avLst/>
          </a:prstGeom>
          <a:noFill/>
          <a:ln/>
        </p:spPr>
        <p:txBody>
          <a:bodyPr wrap="square" lIns="0" tIns="0" rIns="0" bIns="0" rtlCol="0" anchor="ctr"/>
          <a:lstStyle/>
          <a:p>
            <a:pPr marL="0" indent="0" algn="l">
              <a:buNone/>
            </a:pPr>
            <a:r>
              <a:rPr lang="en-US" sz="2000" b="1" dirty="0">
                <a:solidFill>
                  <a:srgbClr val="B7D9CF"/>
                </a:solidFill>
                <a:latin typeface="Cambria" pitchFamily="34" charset="0"/>
                <a:ea typeface="Cambria" pitchFamily="34" charset="-122"/>
                <a:cs typeface="Cambria" pitchFamily="34" charset="-120"/>
              </a:rPr>
              <a:t>07</a:t>
            </a:r>
            <a:endParaRPr lang="en-US" sz="2000" dirty="0"/>
          </a:p>
        </p:txBody>
      </p:sp>
      <p:sp>
        <p:nvSpPr>
          <p:cNvPr id="38" name="Text 29"/>
          <p:cNvSpPr/>
          <p:nvPr/>
        </p:nvSpPr>
        <p:spPr>
          <a:xfrm>
            <a:off x="736092" y="5605272"/>
            <a:ext cx="2651760" cy="621792"/>
          </a:xfrm>
          <a:prstGeom prst="rect">
            <a:avLst/>
          </a:prstGeom>
          <a:noFill/>
          <a:ln/>
        </p:spPr>
        <p:txBody>
          <a:bodyPr wrap="square" lIns="0" tIns="0" rIns="0" bIns="0" rtlCol="0" anchor="t"/>
          <a:lstStyle/>
          <a:p>
            <a:pPr marL="0" indent="0" algn="r">
              <a:buNone/>
            </a:pPr>
            <a:r>
              <a:rPr lang="en-US" sz="1300" b="1" dirty="0">
                <a:solidFill>
                  <a:srgbClr val="0B3D3A"/>
                </a:solidFill>
                <a:latin typeface="Calibri" pitchFamily="34" charset="0"/>
                <a:ea typeface="Calibri" pitchFamily="34" charset="-122"/>
                <a:cs typeface="Calibri" pitchFamily="34" charset="-120"/>
              </a:rPr>
              <a:t>التثقيف الصحي وجمع المعلومات</a:t>
            </a:r>
            <a:endParaRPr lang="en-US" sz="1300" dirty="0"/>
          </a:p>
        </p:txBody>
      </p:sp>
      <p:sp>
        <p:nvSpPr>
          <p:cNvPr id="39" name="Shape 30"/>
          <p:cNvSpPr/>
          <p:nvPr/>
        </p:nvSpPr>
        <p:spPr>
          <a:xfrm>
            <a:off x="4320540" y="4892040"/>
            <a:ext cx="3520440" cy="1417320"/>
          </a:xfrm>
          <a:prstGeom prst="roundRect">
            <a:avLst>
              <a:gd name="adj" fmla="val 6452"/>
            </a:avLst>
          </a:prstGeom>
          <a:solidFill>
            <a:srgbClr val="FFFFFF"/>
          </a:solidFill>
          <a:ln/>
          <a:effectLst>
            <a:outerShdw blurRad="101600" dist="25400" dir="5400000" algn="bl" rotWithShape="0">
              <a:srgbClr val="0B3D3A">
                <a:alpha val="8000"/>
              </a:srgbClr>
            </a:outerShdw>
          </a:effectLst>
        </p:spPr>
      </p:sp>
      <p:sp>
        <p:nvSpPr>
          <p:cNvPr id="40" name="Shape 31"/>
          <p:cNvSpPr/>
          <p:nvPr/>
        </p:nvSpPr>
        <p:spPr>
          <a:xfrm>
            <a:off x="7063740" y="5074920"/>
            <a:ext cx="502920" cy="502920"/>
          </a:xfrm>
          <a:prstGeom prst="ellipse">
            <a:avLst/>
          </a:prstGeom>
          <a:solidFill>
            <a:srgbClr val="D9F0EA"/>
          </a:solidFill>
          <a:ln/>
        </p:spPr>
      </p:sp>
      <p:pic>
        <p:nvPicPr>
          <p:cNvPr id="41" name="Image 7" descr="icons/balance_teal.png"/>
          <p:cNvPicPr>
            <a:picLocks noChangeAspect="1"/>
          </p:cNvPicPr>
          <p:nvPr/>
        </p:nvPicPr>
        <p:blipFill>
          <a:blip r:embed="rId10"/>
          <a:stretch>
            <a:fillRect/>
          </a:stretch>
        </p:blipFill>
        <p:spPr>
          <a:xfrm>
            <a:off x="7182612" y="5193792"/>
            <a:ext cx="274320" cy="274320"/>
          </a:xfrm>
          <a:prstGeom prst="rect">
            <a:avLst/>
          </a:prstGeom>
        </p:spPr>
      </p:pic>
      <p:sp>
        <p:nvSpPr>
          <p:cNvPr id="42" name="Text 32"/>
          <p:cNvSpPr/>
          <p:nvPr/>
        </p:nvSpPr>
        <p:spPr>
          <a:xfrm>
            <a:off x="4485132" y="5056632"/>
            <a:ext cx="914400" cy="365760"/>
          </a:xfrm>
          <a:prstGeom prst="rect">
            <a:avLst/>
          </a:prstGeom>
          <a:noFill/>
          <a:ln/>
        </p:spPr>
        <p:txBody>
          <a:bodyPr wrap="square" lIns="0" tIns="0" rIns="0" bIns="0" rtlCol="0" anchor="ctr"/>
          <a:lstStyle/>
          <a:p>
            <a:pPr marL="0" indent="0" algn="l">
              <a:buNone/>
            </a:pPr>
            <a:r>
              <a:rPr lang="en-US" sz="2000" b="1" dirty="0">
                <a:solidFill>
                  <a:srgbClr val="B7D9CF"/>
                </a:solidFill>
                <a:latin typeface="Cambria" pitchFamily="34" charset="0"/>
                <a:ea typeface="Cambria" pitchFamily="34" charset="-122"/>
                <a:cs typeface="Cambria" pitchFamily="34" charset="-120"/>
              </a:rPr>
              <a:t>08</a:t>
            </a:r>
            <a:endParaRPr lang="en-US" sz="2000" dirty="0"/>
          </a:p>
        </p:txBody>
      </p:sp>
      <p:sp>
        <p:nvSpPr>
          <p:cNvPr id="43" name="Text 33"/>
          <p:cNvSpPr/>
          <p:nvPr/>
        </p:nvSpPr>
        <p:spPr>
          <a:xfrm>
            <a:off x="4485132" y="5605272"/>
            <a:ext cx="2651760" cy="621792"/>
          </a:xfrm>
          <a:prstGeom prst="rect">
            <a:avLst/>
          </a:prstGeom>
          <a:noFill/>
          <a:ln/>
        </p:spPr>
        <p:txBody>
          <a:bodyPr wrap="square" lIns="0" tIns="0" rIns="0" bIns="0" rtlCol="0" anchor="t"/>
          <a:lstStyle/>
          <a:p>
            <a:pPr marL="0" indent="0" algn="r">
              <a:buNone/>
            </a:pPr>
            <a:r>
              <a:rPr lang="en-US" sz="1300" b="1" dirty="0">
                <a:solidFill>
                  <a:srgbClr val="0B3D3A"/>
                </a:solidFill>
                <a:latin typeface="Calibri" pitchFamily="34" charset="0"/>
                <a:ea typeface="Calibri" pitchFamily="34" charset="-122"/>
                <a:cs typeface="Calibri" pitchFamily="34" charset="-120"/>
              </a:rPr>
              <a:t>تسيير الأدوية والإجازات والنزاعات</a:t>
            </a:r>
            <a:endParaRPr lang="en-US" sz="1300" dirty="0"/>
          </a:p>
        </p:txBody>
      </p:sp>
      <p:sp>
        <p:nvSpPr>
          <p:cNvPr id="44" name="Shape 34"/>
          <p:cNvSpPr/>
          <p:nvPr/>
        </p:nvSpPr>
        <p:spPr>
          <a:xfrm>
            <a:off x="8069580" y="4892040"/>
            <a:ext cx="3520440" cy="1417320"/>
          </a:xfrm>
          <a:prstGeom prst="roundRect">
            <a:avLst>
              <a:gd name="adj" fmla="val 6452"/>
            </a:avLst>
          </a:prstGeom>
          <a:solidFill>
            <a:srgbClr val="FFFFFF"/>
          </a:solidFill>
          <a:ln/>
          <a:effectLst>
            <a:outerShdw blurRad="101600" dist="25400" dir="5400000" algn="bl" rotWithShape="0">
              <a:srgbClr val="0B3D3A">
                <a:alpha val="8000"/>
              </a:srgbClr>
            </a:outerShdw>
          </a:effectLst>
        </p:spPr>
      </p:sp>
      <p:sp>
        <p:nvSpPr>
          <p:cNvPr id="45" name="Shape 35"/>
          <p:cNvSpPr/>
          <p:nvPr/>
        </p:nvSpPr>
        <p:spPr>
          <a:xfrm>
            <a:off x="10812780" y="5074920"/>
            <a:ext cx="502920" cy="502920"/>
          </a:xfrm>
          <a:prstGeom prst="ellipse">
            <a:avLst/>
          </a:prstGeom>
          <a:solidFill>
            <a:srgbClr val="D9F0EA"/>
          </a:solidFill>
          <a:ln/>
        </p:spPr>
      </p:sp>
      <p:pic>
        <p:nvPicPr>
          <p:cNvPr id="46" name="Image 8" descr="icons/check_teal.png"/>
          <p:cNvPicPr>
            <a:picLocks noChangeAspect="1"/>
          </p:cNvPicPr>
          <p:nvPr/>
        </p:nvPicPr>
        <p:blipFill>
          <a:blip r:embed="rId11"/>
          <a:stretch>
            <a:fillRect/>
          </a:stretch>
        </p:blipFill>
        <p:spPr>
          <a:xfrm>
            <a:off x="10931652" y="5193792"/>
            <a:ext cx="274320" cy="274320"/>
          </a:xfrm>
          <a:prstGeom prst="rect">
            <a:avLst/>
          </a:prstGeom>
        </p:spPr>
      </p:pic>
      <p:sp>
        <p:nvSpPr>
          <p:cNvPr id="47" name="Text 36"/>
          <p:cNvSpPr/>
          <p:nvPr/>
        </p:nvSpPr>
        <p:spPr>
          <a:xfrm>
            <a:off x="8234172" y="5056632"/>
            <a:ext cx="914400" cy="365760"/>
          </a:xfrm>
          <a:prstGeom prst="rect">
            <a:avLst/>
          </a:prstGeom>
          <a:noFill/>
          <a:ln/>
        </p:spPr>
        <p:txBody>
          <a:bodyPr wrap="square" lIns="0" tIns="0" rIns="0" bIns="0" rtlCol="0" anchor="ctr"/>
          <a:lstStyle/>
          <a:p>
            <a:pPr marL="0" indent="0" algn="l">
              <a:buNone/>
            </a:pPr>
            <a:r>
              <a:rPr lang="en-US" sz="2000" b="1" dirty="0">
                <a:solidFill>
                  <a:srgbClr val="B7D9CF"/>
                </a:solidFill>
                <a:latin typeface="Cambria" pitchFamily="34" charset="0"/>
                <a:ea typeface="Cambria" pitchFamily="34" charset="-122"/>
                <a:cs typeface="Cambria" pitchFamily="34" charset="-120"/>
              </a:rPr>
              <a:t>09</a:t>
            </a:r>
            <a:endParaRPr lang="en-US" sz="2000" dirty="0"/>
          </a:p>
        </p:txBody>
      </p:sp>
      <p:sp>
        <p:nvSpPr>
          <p:cNvPr id="48" name="Text 37"/>
          <p:cNvSpPr/>
          <p:nvPr/>
        </p:nvSpPr>
        <p:spPr>
          <a:xfrm>
            <a:off x="8234172" y="5605272"/>
            <a:ext cx="2651760" cy="621792"/>
          </a:xfrm>
          <a:prstGeom prst="rect">
            <a:avLst/>
          </a:prstGeom>
          <a:noFill/>
          <a:ln/>
        </p:spPr>
        <p:txBody>
          <a:bodyPr wrap="square" lIns="0" tIns="0" rIns="0" bIns="0" rtlCol="0" anchor="t"/>
          <a:lstStyle/>
          <a:p>
            <a:pPr marL="0" indent="0" algn="r">
              <a:buNone/>
            </a:pPr>
            <a:r>
              <a:rPr lang="en-US" sz="1300" b="1" dirty="0">
                <a:solidFill>
                  <a:srgbClr val="0B3D3A"/>
                </a:solidFill>
                <a:latin typeface="Calibri" pitchFamily="34" charset="0"/>
                <a:ea typeface="Calibri" pitchFamily="34" charset="-122"/>
                <a:cs typeface="Calibri" pitchFamily="34" charset="-120"/>
              </a:rPr>
              <a:t>التوصيات والخاتمة</a:t>
            </a:r>
            <a:endParaRPr lang="en-US" sz="1300" dirty="0"/>
          </a:p>
        </p:txBody>
      </p:sp>
      <p:sp>
        <p:nvSpPr>
          <p:cNvPr id="49" name="Text 38"/>
          <p:cNvSpPr/>
          <p:nvPr/>
        </p:nvSpPr>
        <p:spPr>
          <a:xfrm>
            <a:off x="11338560" y="6355080"/>
            <a:ext cx="457200" cy="320040"/>
          </a:xfrm>
          <a:prstGeom prst="rect">
            <a:avLst/>
          </a:prstGeom>
          <a:noFill/>
          <a:ln/>
        </p:spPr>
        <p:txBody>
          <a:bodyPr wrap="square" rtlCol="0" anchor="ctr"/>
          <a:lstStyle/>
          <a:p>
            <a:pPr marL="0" indent="0" algn="ctr">
              <a:buNone/>
            </a:pPr>
            <a:r>
              <a:rPr lang="en-US" sz="1000" dirty="0">
                <a:solidFill>
                  <a:srgbClr val="5B6F6C"/>
                </a:solidFill>
                <a:latin typeface="Calibri" pitchFamily="34" charset="0"/>
                <a:ea typeface="Calibri" pitchFamily="34" charset="-122"/>
                <a:cs typeface="Calibri" pitchFamily="34" charset="-120"/>
              </a:rPr>
              <a:t>3</a:t>
            </a:r>
            <a:endParaRPr lang="en-US" sz="1000" dirty="0"/>
          </a:p>
        </p:txBody>
      </p:sp>
      <p:sp>
        <p:nvSpPr>
          <p:cNvPr id="50" name="Text 39"/>
          <p:cNvSpPr/>
          <p:nvPr/>
        </p:nvSpPr>
        <p:spPr>
          <a:xfrm>
            <a:off x="457200" y="6355080"/>
            <a:ext cx="3657600" cy="320040"/>
          </a:xfrm>
          <a:prstGeom prst="rect">
            <a:avLst/>
          </a:prstGeom>
          <a:noFill/>
          <a:ln/>
        </p:spPr>
        <p:txBody>
          <a:bodyPr wrap="square" rtlCol="0" anchor="ctr"/>
          <a:lstStyle/>
          <a:p>
            <a:pPr marL="0" indent="0" algn="l">
              <a:buNone/>
            </a:pPr>
            <a:r>
              <a:rPr lang="en-US" sz="900" dirty="0">
                <a:solidFill>
                  <a:srgbClr val="9AAFAC"/>
                </a:solidFill>
                <a:latin typeface="Calibri" pitchFamily="34" charset="0"/>
                <a:ea typeface="Calibri" pitchFamily="34" charset="-122"/>
                <a:cs typeface="Calibri" pitchFamily="34" charset="-120"/>
              </a:rPr>
              <a:t>مدرسة الصحة العمومية بسيليبابي</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B3D3A"/>
          </a:solidFill>
          <a:ln/>
        </p:spPr>
      </p:sp>
      <p:sp>
        <p:nvSpPr>
          <p:cNvPr id="3" name="Shape 1"/>
          <p:cNvSpPr/>
          <p:nvPr/>
        </p:nvSpPr>
        <p:spPr>
          <a:xfrm>
            <a:off x="-1371600" y="-1371600"/>
            <a:ext cx="3657600" cy="3657600"/>
          </a:xfrm>
          <a:prstGeom prst="ellipse">
            <a:avLst/>
          </a:prstGeom>
          <a:solidFill>
            <a:srgbClr val="117A65">
              <a:alpha val="45000"/>
            </a:srgbClr>
          </a:solidFill>
          <a:ln/>
        </p:spPr>
      </p:sp>
      <p:sp>
        <p:nvSpPr>
          <p:cNvPr id="4" name="Shape 2"/>
          <p:cNvSpPr/>
          <p:nvPr/>
        </p:nvSpPr>
        <p:spPr>
          <a:xfrm>
            <a:off x="2011680" y="4572000"/>
            <a:ext cx="3291840" cy="3291840"/>
          </a:xfrm>
          <a:prstGeom prst="ellipse">
            <a:avLst/>
          </a:prstGeom>
          <a:solidFill>
            <a:srgbClr val="C9A24B">
              <a:alpha val="30000"/>
            </a:srgbClr>
          </a:solidFill>
          <a:ln/>
        </p:spPr>
      </p:sp>
      <p:pic>
        <p:nvPicPr>
          <p:cNvPr id="5" name="Image 0" descr="icons/graduation_white.png"/>
          <p:cNvPicPr>
            <a:picLocks noChangeAspect="1"/>
          </p:cNvPicPr>
          <p:nvPr/>
        </p:nvPicPr>
        <p:blipFill>
          <a:blip r:embed="rId3"/>
          <a:stretch>
            <a:fillRect/>
          </a:stretch>
        </p:blipFill>
        <p:spPr>
          <a:xfrm>
            <a:off x="1783080" y="2468880"/>
            <a:ext cx="1005840" cy="1005840"/>
          </a:xfrm>
          <a:prstGeom prst="rect">
            <a:avLst/>
          </a:prstGeom>
        </p:spPr>
      </p:pic>
      <p:sp>
        <p:nvSpPr>
          <p:cNvPr id="6" name="Text 3"/>
          <p:cNvSpPr/>
          <p:nvPr/>
        </p:nvSpPr>
        <p:spPr>
          <a:xfrm>
            <a:off x="365760" y="411480"/>
            <a:ext cx="1828800" cy="548640"/>
          </a:xfrm>
          <a:prstGeom prst="rect">
            <a:avLst/>
          </a:prstGeom>
          <a:noFill/>
          <a:ln/>
        </p:spPr>
        <p:txBody>
          <a:bodyPr wrap="square" lIns="0" tIns="0" rIns="0" bIns="0" rtlCol="0" anchor="ctr"/>
          <a:lstStyle/>
          <a:p>
            <a:pPr marL="0" indent="0" algn="l">
              <a:buNone/>
            </a:pPr>
            <a:r>
              <a:rPr lang="en-US" sz="2200" b="1" dirty="0">
                <a:solidFill>
                  <a:srgbClr val="5E9C8E"/>
                </a:solidFill>
                <a:latin typeface="Cambria" pitchFamily="34" charset="0"/>
                <a:ea typeface="Cambria" pitchFamily="34" charset="-122"/>
                <a:cs typeface="Cambria" pitchFamily="34" charset="-120"/>
              </a:rPr>
              <a:t>01</a:t>
            </a:r>
            <a:endParaRPr lang="en-US" sz="2200" dirty="0"/>
          </a:p>
        </p:txBody>
      </p:sp>
      <p:sp>
        <p:nvSpPr>
          <p:cNvPr id="7" name="Text 4"/>
          <p:cNvSpPr/>
          <p:nvPr/>
        </p:nvSpPr>
        <p:spPr>
          <a:xfrm>
            <a:off x="365760" y="3749040"/>
            <a:ext cx="347472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المقدمة</a:t>
            </a:r>
            <a:endParaRPr lang="en-US" sz="2400" dirty="0"/>
          </a:p>
        </p:txBody>
      </p:sp>
      <p:sp>
        <p:nvSpPr>
          <p:cNvPr id="8" name="Text 5"/>
          <p:cNvSpPr/>
          <p:nvPr/>
        </p:nvSpPr>
        <p:spPr>
          <a:xfrm>
            <a:off x="4663440" y="1463040"/>
            <a:ext cx="6949440" cy="3657600"/>
          </a:xfrm>
          <a:prstGeom prst="rect">
            <a:avLst/>
          </a:prstGeom>
          <a:noFill/>
          <a:ln/>
        </p:spPr>
        <p:txBody>
          <a:bodyPr wrap="square" lIns="0" tIns="0" rIns="0" bIns="0" rtlCol="0" anchor="t"/>
          <a:lstStyle/>
          <a:p>
            <a:pPr marL="0" indent="0" algn="r">
              <a:lnSpc>
                <a:spcPct val="135000"/>
              </a:lnSpc>
              <a:buNone/>
            </a:pPr>
            <a:r>
              <a:rPr lang="en-US" sz="1700" dirty="0">
                <a:solidFill>
                  <a:srgbClr val="1B2B28"/>
                </a:solidFill>
                <a:latin typeface="Calibri" pitchFamily="34" charset="0"/>
                <a:ea typeface="Calibri" pitchFamily="34" charset="-122"/>
                <a:cs typeface="Calibri" pitchFamily="34" charset="-120"/>
              </a:rPr>
              <a:t>يُعد التدريب الميداني مرحلة أساسية في تكوين ممرضي الدولة، حيث يهدف إلى تمكين الطالب من تطبيق المعارف النظرية المكتسبة خلال الدراسة، واكتساب المهارات العملية اللازمة لممارسة المهنة.</a:t>
            </a:r>
            <a:endParaRPr lang="en-US" sz="1700" dirty="0"/>
          </a:p>
          <a:p>
            <a:pPr marL="0" indent="0" algn="r">
              <a:lnSpc>
                <a:spcPct val="135000"/>
              </a:lnSpc>
              <a:buNone/>
            </a:pPr>
            <a:r>
              <a:rPr lang="en-US" sz="1000" dirty="0">
                <a:solidFill>
                  <a:srgbClr val="000000"/>
                </a:solidFill>
                <a:latin typeface="Calibri" pitchFamily="34" charset="0"/>
                <a:ea typeface="Calibri" pitchFamily="34" charset="-122"/>
                <a:cs typeface="Calibri" pitchFamily="34" charset="-120"/>
              </a:rPr>
              <a:t> </a:t>
            </a:r>
            <a:endParaRPr lang="en-US" sz="1700" dirty="0"/>
          </a:p>
          <a:p>
            <a:pPr marL="0" indent="0" algn="r">
              <a:lnSpc>
                <a:spcPct val="135000"/>
              </a:lnSpc>
              <a:buNone/>
            </a:pPr>
            <a:r>
              <a:rPr lang="en-US" sz="1700" dirty="0">
                <a:solidFill>
                  <a:srgbClr val="1B2B28"/>
                </a:solidFill>
                <a:latin typeface="Calibri" pitchFamily="34" charset="0"/>
                <a:ea typeface="Calibri" pitchFamily="34" charset="-122"/>
                <a:cs typeface="Calibri" pitchFamily="34" charset="-120"/>
              </a:rPr>
              <a:t>وفي هذا الإطار، أنجزت فترة تدريب ميداني بالمركز الصحي في تگنت خلال الفترة الممتدة من 01/04/2026 إلى 15/05/2026، وذلك في إطار التكوين الذي أتلقاه بمدرسة الصحة العمومية بسيليبابي.</a:t>
            </a:r>
            <a:endParaRPr lang="en-US" sz="1700" dirty="0"/>
          </a:p>
          <a:p>
            <a:pPr marL="0" indent="0" algn="r">
              <a:lnSpc>
                <a:spcPct val="135000"/>
              </a:lnSpc>
              <a:buNone/>
            </a:pPr>
            <a:r>
              <a:rPr lang="en-US" sz="1000" dirty="0">
                <a:solidFill>
                  <a:srgbClr val="000000"/>
                </a:solidFill>
                <a:latin typeface="Calibri" pitchFamily="34" charset="0"/>
                <a:ea typeface="Calibri" pitchFamily="34" charset="-122"/>
                <a:cs typeface="Calibri" pitchFamily="34" charset="-120"/>
              </a:rPr>
              <a:t> </a:t>
            </a:r>
            <a:endParaRPr lang="en-US" sz="1700" dirty="0"/>
          </a:p>
          <a:p>
            <a:pPr marL="0" indent="0" algn="r">
              <a:lnSpc>
                <a:spcPct val="135000"/>
              </a:lnSpc>
              <a:buNone/>
            </a:pPr>
            <a:r>
              <a:rPr lang="en-US" sz="1700" dirty="0">
                <a:solidFill>
                  <a:srgbClr val="1B2B28"/>
                </a:solidFill>
                <a:latin typeface="Calibri" pitchFamily="34" charset="0"/>
                <a:ea typeface="Calibri" pitchFamily="34" charset="-122"/>
                <a:cs typeface="Calibri" pitchFamily="34" charset="-120"/>
              </a:rPr>
              <a:t>وقد أتاح لي هذا التدريب فرصة التعرف على مختلف الأنشطة التمريضية وتطبيق المعارف المكتسبة، مما ساهم في تطوير مهاراتي المهنية وتعزيز خبرتي.</a:t>
            </a:r>
            <a:endParaRPr lang="en-US" sz="1700" dirty="0"/>
          </a:p>
        </p:txBody>
      </p:sp>
      <p:sp>
        <p:nvSpPr>
          <p:cNvPr id="9" name="Shape 6"/>
          <p:cNvSpPr/>
          <p:nvPr/>
        </p:nvSpPr>
        <p:spPr>
          <a:xfrm>
            <a:off x="4663440" y="5486400"/>
            <a:ext cx="2011680" cy="960120"/>
          </a:xfrm>
          <a:prstGeom prst="roundRect">
            <a:avLst>
              <a:gd name="adj" fmla="val 7619"/>
            </a:avLst>
          </a:prstGeom>
          <a:solidFill>
            <a:srgbClr val="D9F0EA"/>
          </a:solidFill>
          <a:ln/>
        </p:spPr>
      </p:sp>
      <p:sp>
        <p:nvSpPr>
          <p:cNvPr id="10" name="Text 7"/>
          <p:cNvSpPr/>
          <p:nvPr/>
        </p:nvSpPr>
        <p:spPr>
          <a:xfrm>
            <a:off x="4663440" y="5550408"/>
            <a:ext cx="2011680" cy="502920"/>
          </a:xfrm>
          <a:prstGeom prst="rect">
            <a:avLst/>
          </a:prstGeom>
          <a:noFill/>
          <a:ln/>
        </p:spPr>
        <p:txBody>
          <a:bodyPr wrap="square" lIns="0" tIns="0" rIns="0" bIns="0" rtlCol="0" anchor="ctr"/>
          <a:lstStyle/>
          <a:p>
            <a:pPr marL="0" indent="0" algn="ctr">
              <a:buNone/>
            </a:pPr>
            <a:r>
              <a:rPr lang="en-US" sz="2600" b="1" dirty="0">
                <a:solidFill>
                  <a:srgbClr val="0B3D3A"/>
                </a:solidFill>
                <a:latin typeface="Cambria" pitchFamily="34" charset="0"/>
                <a:ea typeface="Cambria" pitchFamily="34" charset="-122"/>
                <a:cs typeface="Cambria" pitchFamily="34" charset="-120"/>
              </a:rPr>
              <a:t>45</a:t>
            </a:r>
            <a:endParaRPr lang="en-US" sz="2600" dirty="0"/>
          </a:p>
        </p:txBody>
      </p:sp>
      <p:sp>
        <p:nvSpPr>
          <p:cNvPr id="11" name="Text 8"/>
          <p:cNvSpPr/>
          <p:nvPr/>
        </p:nvSpPr>
        <p:spPr>
          <a:xfrm>
            <a:off x="4663440" y="6053328"/>
            <a:ext cx="2011680" cy="320040"/>
          </a:xfrm>
          <a:prstGeom prst="rect">
            <a:avLst/>
          </a:prstGeom>
          <a:noFill/>
          <a:ln/>
        </p:spPr>
        <p:txBody>
          <a:bodyPr wrap="square" lIns="0" tIns="0" rIns="0" bIns="0" rtlCol="0" anchor="ctr"/>
          <a:lstStyle/>
          <a:p>
            <a:pPr marL="0" indent="0" algn="ctr">
              <a:buNone/>
            </a:pPr>
            <a:r>
              <a:rPr lang="en-US" sz="1100" dirty="0">
                <a:solidFill>
                  <a:srgbClr val="117A65"/>
                </a:solidFill>
                <a:latin typeface="Calibri" pitchFamily="34" charset="0"/>
                <a:ea typeface="Calibri" pitchFamily="34" charset="-122"/>
                <a:cs typeface="Calibri" pitchFamily="34" charset="-120"/>
              </a:rPr>
              <a:t>يومًا تدريبيًا</a:t>
            </a:r>
            <a:endParaRPr lang="en-US" sz="1100" dirty="0"/>
          </a:p>
        </p:txBody>
      </p:sp>
      <p:sp>
        <p:nvSpPr>
          <p:cNvPr id="12" name="Shape 9"/>
          <p:cNvSpPr/>
          <p:nvPr/>
        </p:nvSpPr>
        <p:spPr>
          <a:xfrm>
            <a:off x="6949440" y="5486400"/>
            <a:ext cx="2011680" cy="960120"/>
          </a:xfrm>
          <a:prstGeom prst="roundRect">
            <a:avLst>
              <a:gd name="adj" fmla="val 7619"/>
            </a:avLst>
          </a:prstGeom>
          <a:solidFill>
            <a:srgbClr val="D9F0EA"/>
          </a:solidFill>
          <a:ln/>
        </p:spPr>
      </p:sp>
      <p:sp>
        <p:nvSpPr>
          <p:cNvPr id="13" name="Text 10"/>
          <p:cNvSpPr/>
          <p:nvPr/>
        </p:nvSpPr>
        <p:spPr>
          <a:xfrm>
            <a:off x="6949440" y="5550408"/>
            <a:ext cx="2011680" cy="502920"/>
          </a:xfrm>
          <a:prstGeom prst="rect">
            <a:avLst/>
          </a:prstGeom>
          <a:noFill/>
          <a:ln/>
        </p:spPr>
        <p:txBody>
          <a:bodyPr wrap="square" lIns="0" tIns="0" rIns="0" bIns="0" rtlCol="0" anchor="ctr"/>
          <a:lstStyle/>
          <a:p>
            <a:pPr marL="0" indent="0" algn="ctr">
              <a:buNone/>
            </a:pPr>
            <a:r>
              <a:rPr lang="en-US" sz="2600" b="1" dirty="0">
                <a:solidFill>
                  <a:srgbClr val="0B3D3A"/>
                </a:solidFill>
                <a:latin typeface="Cambria" pitchFamily="34" charset="0"/>
                <a:ea typeface="Cambria" pitchFamily="34" charset="-122"/>
                <a:cs typeface="Cambria" pitchFamily="34" charset="-120"/>
              </a:rPr>
              <a:t>18</a:t>
            </a:r>
            <a:endParaRPr lang="en-US" sz="2600" dirty="0"/>
          </a:p>
        </p:txBody>
      </p:sp>
      <p:sp>
        <p:nvSpPr>
          <p:cNvPr id="14" name="Text 11"/>
          <p:cNvSpPr/>
          <p:nvPr/>
        </p:nvSpPr>
        <p:spPr>
          <a:xfrm>
            <a:off x="6949440" y="6053328"/>
            <a:ext cx="2011680" cy="320040"/>
          </a:xfrm>
          <a:prstGeom prst="rect">
            <a:avLst/>
          </a:prstGeom>
          <a:noFill/>
          <a:ln/>
        </p:spPr>
        <p:txBody>
          <a:bodyPr wrap="square" lIns="0" tIns="0" rIns="0" bIns="0" rtlCol="0" anchor="ctr"/>
          <a:lstStyle/>
          <a:p>
            <a:pPr marL="0" indent="0" algn="ctr">
              <a:buNone/>
            </a:pPr>
            <a:r>
              <a:rPr lang="en-US" sz="1100" dirty="0">
                <a:solidFill>
                  <a:srgbClr val="117A65"/>
                </a:solidFill>
                <a:latin typeface="Calibri" pitchFamily="34" charset="0"/>
                <a:ea typeface="Calibri" pitchFamily="34" charset="-122"/>
                <a:cs typeface="Calibri" pitchFamily="34" charset="-120"/>
              </a:rPr>
              <a:t>مهمة منجزة</a:t>
            </a:r>
            <a:endParaRPr lang="en-US" sz="1100" dirty="0"/>
          </a:p>
        </p:txBody>
      </p:sp>
      <p:sp>
        <p:nvSpPr>
          <p:cNvPr id="15" name="Shape 12"/>
          <p:cNvSpPr/>
          <p:nvPr/>
        </p:nvSpPr>
        <p:spPr>
          <a:xfrm>
            <a:off x="9235440" y="5486400"/>
            <a:ext cx="2011680" cy="960120"/>
          </a:xfrm>
          <a:prstGeom prst="roundRect">
            <a:avLst>
              <a:gd name="adj" fmla="val 7619"/>
            </a:avLst>
          </a:prstGeom>
          <a:solidFill>
            <a:srgbClr val="D9F0EA"/>
          </a:solidFill>
          <a:ln/>
        </p:spPr>
      </p:sp>
      <p:sp>
        <p:nvSpPr>
          <p:cNvPr id="16" name="Text 13"/>
          <p:cNvSpPr/>
          <p:nvPr/>
        </p:nvSpPr>
        <p:spPr>
          <a:xfrm>
            <a:off x="9235440" y="5550408"/>
            <a:ext cx="2011680" cy="502920"/>
          </a:xfrm>
          <a:prstGeom prst="rect">
            <a:avLst/>
          </a:prstGeom>
          <a:noFill/>
          <a:ln/>
        </p:spPr>
        <p:txBody>
          <a:bodyPr wrap="square" lIns="0" tIns="0" rIns="0" bIns="0" rtlCol="0" anchor="ctr"/>
          <a:lstStyle/>
          <a:p>
            <a:pPr marL="0" indent="0" algn="ctr">
              <a:buNone/>
            </a:pPr>
            <a:r>
              <a:rPr lang="en-US" sz="2600" b="1" dirty="0">
                <a:solidFill>
                  <a:srgbClr val="0B3D3A"/>
                </a:solidFill>
                <a:latin typeface="Cambria" pitchFamily="34" charset="0"/>
                <a:ea typeface="Cambria" pitchFamily="34" charset="-122"/>
                <a:cs typeface="Cambria" pitchFamily="34" charset="-120"/>
              </a:rPr>
              <a:t>7</a:t>
            </a:r>
            <a:endParaRPr lang="en-US" sz="2600" dirty="0"/>
          </a:p>
        </p:txBody>
      </p:sp>
      <p:sp>
        <p:nvSpPr>
          <p:cNvPr id="17" name="Text 14"/>
          <p:cNvSpPr/>
          <p:nvPr/>
        </p:nvSpPr>
        <p:spPr>
          <a:xfrm>
            <a:off x="9235440" y="6053328"/>
            <a:ext cx="2011680" cy="320040"/>
          </a:xfrm>
          <a:prstGeom prst="rect">
            <a:avLst/>
          </a:prstGeom>
          <a:noFill/>
          <a:ln/>
        </p:spPr>
        <p:txBody>
          <a:bodyPr wrap="square" lIns="0" tIns="0" rIns="0" bIns="0" rtlCol="0" anchor="ctr"/>
          <a:lstStyle/>
          <a:p>
            <a:pPr marL="0" indent="0" algn="ctr">
              <a:buNone/>
            </a:pPr>
            <a:r>
              <a:rPr lang="en-US" sz="1100" dirty="0">
                <a:solidFill>
                  <a:srgbClr val="117A65"/>
                </a:solidFill>
                <a:latin typeface="Calibri" pitchFamily="34" charset="0"/>
                <a:ea typeface="Calibri" pitchFamily="34" charset="-122"/>
                <a:cs typeface="Calibri" pitchFamily="34" charset="-120"/>
              </a:rPr>
              <a:t>أسابيع مداومة</a:t>
            </a:r>
            <a:endParaRPr lang="en-US" sz="1100" dirty="0"/>
          </a:p>
        </p:txBody>
      </p:sp>
      <p:sp>
        <p:nvSpPr>
          <p:cNvPr id="18" name="Text 15"/>
          <p:cNvSpPr/>
          <p:nvPr/>
        </p:nvSpPr>
        <p:spPr>
          <a:xfrm>
            <a:off x="11338560" y="6355080"/>
            <a:ext cx="457200" cy="320040"/>
          </a:xfrm>
          <a:prstGeom prst="rect">
            <a:avLst/>
          </a:prstGeom>
          <a:noFill/>
          <a:ln/>
        </p:spPr>
        <p:txBody>
          <a:bodyPr wrap="square" rtlCol="0" anchor="ctr"/>
          <a:lstStyle/>
          <a:p>
            <a:pPr marL="0" indent="0" algn="ctr">
              <a:buNone/>
            </a:pPr>
            <a:r>
              <a:rPr lang="en-US" sz="1000" dirty="0">
                <a:solidFill>
                  <a:srgbClr val="5B6F6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 cy="457200"/>
          </a:xfrm>
          <a:prstGeom prst="rect">
            <a:avLst/>
          </a:prstGeom>
          <a:noFill/>
          <a:ln/>
        </p:spPr>
        <p:txBody>
          <a:bodyPr wrap="square" lIns="0" tIns="0" rIns="0" bIns="0" rtlCol="0" anchor="ctr"/>
          <a:lstStyle/>
          <a:p>
            <a:pPr marL="0" indent="0" algn="r">
              <a:buNone/>
            </a:pPr>
            <a:r>
              <a:rPr lang="en-US" sz="1800" b="1" dirty="0">
                <a:solidFill>
                  <a:srgbClr val="B7D9CF"/>
                </a:solidFill>
                <a:latin typeface="Cambria" pitchFamily="34" charset="0"/>
                <a:ea typeface="Cambria" pitchFamily="34" charset="-122"/>
                <a:cs typeface="Cambria" pitchFamily="34" charset="-120"/>
              </a:rPr>
              <a:t>02</a:t>
            </a:r>
            <a:endParaRPr lang="en-US" sz="1800" dirty="0"/>
          </a:p>
        </p:txBody>
      </p:sp>
      <p:sp>
        <p:nvSpPr>
          <p:cNvPr id="3" name="Text 1"/>
          <p:cNvSpPr/>
          <p:nvPr/>
        </p:nvSpPr>
        <p:spPr>
          <a:xfrm>
            <a:off x="822960" y="457200"/>
            <a:ext cx="7315200" cy="594360"/>
          </a:xfrm>
          <a:prstGeom prst="rect">
            <a:avLst/>
          </a:prstGeom>
          <a:noFill/>
          <a:ln/>
        </p:spPr>
        <p:txBody>
          <a:bodyPr wrap="square" lIns="0" tIns="0" rIns="0" bIns="0" rtlCol="0" anchor="ctr"/>
          <a:lstStyle/>
          <a:p>
            <a:pPr marL="0" indent="0" algn="r">
              <a:buNone/>
            </a:pPr>
            <a:r>
              <a:rPr lang="en-US" sz="2800" b="1" dirty="0">
                <a:solidFill>
                  <a:srgbClr val="0B3D3A"/>
                </a:solidFill>
                <a:latin typeface="Cambria" pitchFamily="34" charset="0"/>
                <a:ea typeface="Cambria" pitchFamily="34" charset="-122"/>
                <a:cs typeface="Cambria" pitchFamily="34" charset="-120"/>
              </a:rPr>
              <a:t>إعداد خارطة صحية</a:t>
            </a:r>
            <a:endParaRPr lang="en-US" sz="2800" dirty="0"/>
          </a:p>
        </p:txBody>
      </p:sp>
      <p:pic>
        <p:nvPicPr>
          <p:cNvPr id="4" name="Image 0" descr="icons/mapMarked_teal.png"/>
          <p:cNvPicPr>
            <a:picLocks noChangeAspect="1"/>
          </p:cNvPicPr>
          <p:nvPr/>
        </p:nvPicPr>
        <p:blipFill>
          <a:blip r:embed="rId3"/>
          <a:stretch>
            <a:fillRect/>
          </a:stretch>
        </p:blipFill>
        <p:spPr>
          <a:xfrm>
            <a:off x="10698480" y="411480"/>
            <a:ext cx="502920" cy="502920"/>
          </a:xfrm>
          <a:prstGeom prst="rect">
            <a:avLst/>
          </a:prstGeom>
        </p:spPr>
      </p:pic>
      <p:sp>
        <p:nvSpPr>
          <p:cNvPr id="5" name="Shape 2"/>
          <p:cNvSpPr/>
          <p:nvPr/>
        </p:nvSpPr>
        <p:spPr>
          <a:xfrm>
            <a:off x="640080" y="1325880"/>
            <a:ext cx="4206240" cy="713232"/>
          </a:xfrm>
          <a:prstGeom prst="roundRect">
            <a:avLst>
              <a:gd name="adj" fmla="val 10256"/>
            </a:avLst>
          </a:prstGeom>
          <a:solidFill>
            <a:srgbClr val="FFFFFF"/>
          </a:solidFill>
          <a:ln/>
          <a:effectLst>
            <a:outerShdw blurRad="76200" dist="25400" dir="5400000" algn="bl" rotWithShape="0">
              <a:srgbClr val="0B3D3A">
                <a:alpha val="7000"/>
              </a:srgbClr>
            </a:outerShdw>
          </a:effectLst>
        </p:spPr>
      </p:sp>
      <p:sp>
        <p:nvSpPr>
          <p:cNvPr id="6" name="Text 3"/>
          <p:cNvSpPr/>
          <p:nvPr/>
        </p:nvSpPr>
        <p:spPr>
          <a:xfrm>
            <a:off x="822960" y="1408176"/>
            <a:ext cx="3840480" cy="320040"/>
          </a:xfrm>
          <a:prstGeom prst="rect">
            <a:avLst/>
          </a:prstGeom>
          <a:noFill/>
          <a:ln/>
        </p:spPr>
        <p:txBody>
          <a:bodyPr wrap="square" lIns="0" tIns="0" rIns="0" bIns="0" rtlCol="0" anchor="ctr"/>
          <a:lstStyle/>
          <a:p>
            <a:pPr marL="0" indent="0" algn="r">
              <a:buNone/>
            </a:pPr>
            <a:r>
              <a:rPr lang="en-US" sz="1600" b="1" dirty="0">
                <a:solidFill>
                  <a:srgbClr val="0B3D3A"/>
                </a:solidFill>
                <a:latin typeface="Cambria" pitchFamily="34" charset="0"/>
                <a:ea typeface="Cambria" pitchFamily="34" charset="-122"/>
                <a:cs typeface="Cambria" pitchFamily="34" charset="-120"/>
              </a:rPr>
              <a:t>الترارزة</a:t>
            </a:r>
            <a:endParaRPr lang="en-US" sz="1600" dirty="0"/>
          </a:p>
        </p:txBody>
      </p:sp>
      <p:sp>
        <p:nvSpPr>
          <p:cNvPr id="7" name="Text 4"/>
          <p:cNvSpPr/>
          <p:nvPr/>
        </p:nvSpPr>
        <p:spPr>
          <a:xfrm>
            <a:off x="822960" y="1719072"/>
            <a:ext cx="3840480" cy="274320"/>
          </a:xfrm>
          <a:prstGeom prst="rect">
            <a:avLst/>
          </a:prstGeom>
          <a:noFill/>
          <a:ln/>
        </p:spPr>
        <p:txBody>
          <a:bodyPr wrap="square" lIns="0" tIns="0" rIns="0" bIns="0" rtlCol="0" anchor="ctr"/>
          <a:lstStyle/>
          <a:p>
            <a:pPr marL="0" indent="0" algn="r">
              <a:buNone/>
            </a:pPr>
            <a:r>
              <a:rPr lang="en-US" sz="1050" dirty="0">
                <a:solidFill>
                  <a:srgbClr val="117A65"/>
                </a:solidFill>
                <a:latin typeface="Calibri" pitchFamily="34" charset="0"/>
                <a:ea typeface="Calibri" pitchFamily="34" charset="-122"/>
                <a:cs typeface="Calibri" pitchFamily="34" charset="-120"/>
              </a:rPr>
              <a:t>الولاية</a:t>
            </a:r>
            <a:endParaRPr lang="en-US" sz="1050" dirty="0"/>
          </a:p>
        </p:txBody>
      </p:sp>
      <p:sp>
        <p:nvSpPr>
          <p:cNvPr id="8" name="Shape 5"/>
          <p:cNvSpPr/>
          <p:nvPr/>
        </p:nvSpPr>
        <p:spPr>
          <a:xfrm>
            <a:off x="640080" y="2167128"/>
            <a:ext cx="4206240" cy="713232"/>
          </a:xfrm>
          <a:prstGeom prst="roundRect">
            <a:avLst>
              <a:gd name="adj" fmla="val 10256"/>
            </a:avLst>
          </a:prstGeom>
          <a:solidFill>
            <a:srgbClr val="FFFFFF"/>
          </a:solidFill>
          <a:ln/>
          <a:effectLst>
            <a:outerShdw blurRad="76200" dist="25400" dir="5400000" algn="bl" rotWithShape="0">
              <a:srgbClr val="0B3D3A">
                <a:alpha val="7000"/>
              </a:srgbClr>
            </a:outerShdw>
          </a:effectLst>
        </p:spPr>
      </p:sp>
      <p:sp>
        <p:nvSpPr>
          <p:cNvPr id="9" name="Text 6"/>
          <p:cNvSpPr/>
          <p:nvPr/>
        </p:nvSpPr>
        <p:spPr>
          <a:xfrm>
            <a:off x="822960" y="2249424"/>
            <a:ext cx="3840480" cy="320040"/>
          </a:xfrm>
          <a:prstGeom prst="rect">
            <a:avLst/>
          </a:prstGeom>
          <a:noFill/>
          <a:ln/>
        </p:spPr>
        <p:txBody>
          <a:bodyPr wrap="square" lIns="0" tIns="0" rIns="0" bIns="0" rtlCol="0" anchor="ctr"/>
          <a:lstStyle/>
          <a:p>
            <a:pPr marL="0" indent="0" algn="r">
              <a:buNone/>
            </a:pPr>
            <a:r>
              <a:rPr lang="en-US" sz="1600" b="1" dirty="0">
                <a:solidFill>
                  <a:srgbClr val="0B3D3A"/>
                </a:solidFill>
                <a:latin typeface="Cambria" pitchFamily="34" charset="0"/>
                <a:ea typeface="Cambria" pitchFamily="34" charset="-122"/>
                <a:cs typeface="Cambria" pitchFamily="34" charset="-120"/>
              </a:rPr>
              <a:t>مركز صحي</a:t>
            </a:r>
            <a:endParaRPr lang="en-US" sz="1600" dirty="0"/>
          </a:p>
        </p:txBody>
      </p:sp>
      <p:sp>
        <p:nvSpPr>
          <p:cNvPr id="10" name="Text 7"/>
          <p:cNvSpPr/>
          <p:nvPr/>
        </p:nvSpPr>
        <p:spPr>
          <a:xfrm>
            <a:off x="822960" y="2560320"/>
            <a:ext cx="3840480" cy="274320"/>
          </a:xfrm>
          <a:prstGeom prst="rect">
            <a:avLst/>
          </a:prstGeom>
          <a:noFill/>
          <a:ln/>
        </p:spPr>
        <p:txBody>
          <a:bodyPr wrap="square" lIns="0" tIns="0" rIns="0" bIns="0" rtlCol="0" anchor="ctr"/>
          <a:lstStyle/>
          <a:p>
            <a:pPr marL="0" indent="0" algn="r">
              <a:buNone/>
            </a:pPr>
            <a:r>
              <a:rPr lang="en-US" sz="1050" dirty="0">
                <a:solidFill>
                  <a:srgbClr val="117A65"/>
                </a:solidFill>
                <a:latin typeface="Calibri" pitchFamily="34" charset="0"/>
                <a:ea typeface="Calibri" pitchFamily="34" charset="-122"/>
                <a:cs typeface="Calibri" pitchFamily="34" charset="-120"/>
              </a:rPr>
              <a:t>نوع المؤسسة</a:t>
            </a:r>
            <a:endParaRPr lang="en-US" sz="1050" dirty="0"/>
          </a:p>
        </p:txBody>
      </p:sp>
      <p:sp>
        <p:nvSpPr>
          <p:cNvPr id="11" name="Shape 8"/>
          <p:cNvSpPr/>
          <p:nvPr/>
        </p:nvSpPr>
        <p:spPr>
          <a:xfrm>
            <a:off x="640080" y="3008376"/>
            <a:ext cx="4206240" cy="713232"/>
          </a:xfrm>
          <a:prstGeom prst="roundRect">
            <a:avLst>
              <a:gd name="adj" fmla="val 10256"/>
            </a:avLst>
          </a:prstGeom>
          <a:solidFill>
            <a:srgbClr val="FFFFFF"/>
          </a:solidFill>
          <a:ln/>
          <a:effectLst>
            <a:outerShdw blurRad="76200" dist="25400" dir="5400000" algn="bl" rotWithShape="0">
              <a:srgbClr val="0B3D3A">
                <a:alpha val="7000"/>
              </a:srgbClr>
            </a:outerShdw>
          </a:effectLst>
        </p:spPr>
      </p:sp>
      <p:sp>
        <p:nvSpPr>
          <p:cNvPr id="12" name="Text 9"/>
          <p:cNvSpPr/>
          <p:nvPr/>
        </p:nvSpPr>
        <p:spPr>
          <a:xfrm>
            <a:off x="822960" y="3090672"/>
            <a:ext cx="3840480" cy="320040"/>
          </a:xfrm>
          <a:prstGeom prst="rect">
            <a:avLst/>
          </a:prstGeom>
          <a:noFill/>
          <a:ln/>
        </p:spPr>
        <p:txBody>
          <a:bodyPr wrap="square" lIns="0" tIns="0" rIns="0" bIns="0" rtlCol="0" anchor="ctr"/>
          <a:lstStyle/>
          <a:p>
            <a:pPr marL="0" indent="0" algn="r">
              <a:buNone/>
            </a:pPr>
            <a:r>
              <a:rPr lang="en-US" sz="1600" b="1" dirty="0">
                <a:solidFill>
                  <a:srgbClr val="0B3D3A"/>
                </a:solidFill>
                <a:latin typeface="Cambria" pitchFamily="34" charset="0"/>
                <a:ea typeface="Cambria" pitchFamily="34" charset="-122"/>
                <a:cs typeface="Cambria" pitchFamily="34" charset="-120"/>
              </a:rPr>
              <a:t>15,000 نسمة تقريبًا</a:t>
            </a:r>
            <a:endParaRPr lang="en-US" sz="1600" dirty="0"/>
          </a:p>
        </p:txBody>
      </p:sp>
      <p:sp>
        <p:nvSpPr>
          <p:cNvPr id="13" name="Text 10"/>
          <p:cNvSpPr/>
          <p:nvPr/>
        </p:nvSpPr>
        <p:spPr>
          <a:xfrm>
            <a:off x="822960" y="3401568"/>
            <a:ext cx="3840480" cy="274320"/>
          </a:xfrm>
          <a:prstGeom prst="rect">
            <a:avLst/>
          </a:prstGeom>
          <a:noFill/>
          <a:ln/>
        </p:spPr>
        <p:txBody>
          <a:bodyPr wrap="square" lIns="0" tIns="0" rIns="0" bIns="0" rtlCol="0" anchor="ctr"/>
          <a:lstStyle/>
          <a:p>
            <a:pPr marL="0" indent="0" algn="r">
              <a:buNone/>
            </a:pPr>
            <a:r>
              <a:rPr lang="en-US" sz="1050" dirty="0">
                <a:solidFill>
                  <a:srgbClr val="117A65"/>
                </a:solidFill>
                <a:latin typeface="Calibri" pitchFamily="34" charset="0"/>
                <a:ea typeface="Calibri" pitchFamily="34" charset="-122"/>
                <a:cs typeface="Calibri" pitchFamily="34" charset="-120"/>
              </a:rPr>
              <a:t>السكان المستهدفون</a:t>
            </a:r>
            <a:endParaRPr lang="en-US" sz="1050" dirty="0"/>
          </a:p>
        </p:txBody>
      </p:sp>
      <p:sp>
        <p:nvSpPr>
          <p:cNvPr id="14" name="Shape 11"/>
          <p:cNvSpPr/>
          <p:nvPr/>
        </p:nvSpPr>
        <p:spPr>
          <a:xfrm>
            <a:off x="640080" y="3849624"/>
            <a:ext cx="4206240" cy="713232"/>
          </a:xfrm>
          <a:prstGeom prst="roundRect">
            <a:avLst>
              <a:gd name="adj" fmla="val 10256"/>
            </a:avLst>
          </a:prstGeom>
          <a:solidFill>
            <a:srgbClr val="FFFFFF"/>
          </a:solidFill>
          <a:ln/>
          <a:effectLst>
            <a:outerShdw blurRad="76200" dist="25400" dir="5400000" algn="bl" rotWithShape="0">
              <a:srgbClr val="0B3D3A">
                <a:alpha val="7000"/>
              </a:srgbClr>
            </a:outerShdw>
          </a:effectLst>
        </p:spPr>
      </p:sp>
      <p:sp>
        <p:nvSpPr>
          <p:cNvPr id="15" name="Text 12"/>
          <p:cNvSpPr/>
          <p:nvPr/>
        </p:nvSpPr>
        <p:spPr>
          <a:xfrm>
            <a:off x="822960" y="3931920"/>
            <a:ext cx="3840480" cy="320040"/>
          </a:xfrm>
          <a:prstGeom prst="rect">
            <a:avLst/>
          </a:prstGeom>
          <a:noFill/>
          <a:ln/>
        </p:spPr>
        <p:txBody>
          <a:bodyPr wrap="square" lIns="0" tIns="0" rIns="0" bIns="0" rtlCol="0" anchor="ctr"/>
          <a:lstStyle/>
          <a:p>
            <a:pPr marL="0" indent="0" algn="r">
              <a:buNone/>
            </a:pPr>
            <a:r>
              <a:rPr lang="en-US" sz="1600" b="1" dirty="0">
                <a:solidFill>
                  <a:srgbClr val="0B3D3A"/>
                </a:solidFill>
                <a:latin typeface="Cambria" pitchFamily="34" charset="0"/>
                <a:ea typeface="Cambria" pitchFamily="34" charset="-122"/>
                <a:cs typeface="Cambria" pitchFamily="34" charset="-120"/>
              </a:rPr>
              <a:t>26 موظفًا</a:t>
            </a:r>
            <a:endParaRPr lang="en-US" sz="1600" dirty="0"/>
          </a:p>
        </p:txBody>
      </p:sp>
      <p:sp>
        <p:nvSpPr>
          <p:cNvPr id="16" name="Text 13"/>
          <p:cNvSpPr/>
          <p:nvPr/>
        </p:nvSpPr>
        <p:spPr>
          <a:xfrm>
            <a:off x="822960" y="4242816"/>
            <a:ext cx="3840480" cy="274320"/>
          </a:xfrm>
          <a:prstGeom prst="rect">
            <a:avLst/>
          </a:prstGeom>
          <a:noFill/>
          <a:ln/>
        </p:spPr>
        <p:txBody>
          <a:bodyPr wrap="square" lIns="0" tIns="0" rIns="0" bIns="0" rtlCol="0" anchor="ctr"/>
          <a:lstStyle/>
          <a:p>
            <a:pPr marL="0" indent="0" algn="r">
              <a:buNone/>
            </a:pPr>
            <a:r>
              <a:rPr lang="en-US" sz="1050" dirty="0">
                <a:solidFill>
                  <a:srgbClr val="117A65"/>
                </a:solidFill>
                <a:latin typeface="Calibri" pitchFamily="34" charset="0"/>
                <a:ea typeface="Calibri" pitchFamily="34" charset="-122"/>
                <a:cs typeface="Calibri" pitchFamily="34" charset="-120"/>
              </a:rPr>
              <a:t>إجمالي الطاقم</a:t>
            </a:r>
            <a:endParaRPr lang="en-US" sz="1050" dirty="0"/>
          </a:p>
        </p:txBody>
      </p:sp>
      <p:sp>
        <p:nvSpPr>
          <p:cNvPr id="17" name="Shape 14"/>
          <p:cNvSpPr/>
          <p:nvPr/>
        </p:nvSpPr>
        <p:spPr>
          <a:xfrm>
            <a:off x="5074920" y="1325880"/>
            <a:ext cx="6492240" cy="2331720"/>
          </a:xfrm>
          <a:prstGeom prst="roundRect">
            <a:avLst>
              <a:gd name="adj" fmla="val 3922"/>
            </a:avLst>
          </a:prstGeom>
          <a:solidFill>
            <a:srgbClr val="FFFFFF"/>
          </a:solidFill>
          <a:ln/>
          <a:effectLst>
            <a:outerShdw blurRad="101600" dist="25400" dir="5400000" algn="bl" rotWithShape="0">
              <a:srgbClr val="0B3D3A">
                <a:alpha val="8000"/>
              </a:srgbClr>
            </a:outerShdw>
          </a:effectLst>
        </p:spPr>
      </p:sp>
      <p:sp>
        <p:nvSpPr>
          <p:cNvPr id="18" name="Text 15"/>
          <p:cNvSpPr/>
          <p:nvPr/>
        </p:nvSpPr>
        <p:spPr>
          <a:xfrm>
            <a:off x="5349240" y="1463040"/>
            <a:ext cx="5943600" cy="365760"/>
          </a:xfrm>
          <a:prstGeom prst="rect">
            <a:avLst/>
          </a:prstGeom>
          <a:noFill/>
          <a:ln/>
        </p:spPr>
        <p:txBody>
          <a:bodyPr wrap="square" lIns="0" tIns="0" rIns="0" bIns="0" rtlCol="0" anchor="ctr"/>
          <a:lstStyle/>
          <a:p>
            <a:pPr marL="0" indent="0" algn="r">
              <a:buNone/>
            </a:pPr>
            <a:r>
              <a:rPr lang="en-US" sz="1500" b="1" dirty="0">
                <a:solidFill>
                  <a:srgbClr val="0B3D3A"/>
                </a:solidFill>
                <a:latin typeface="Cambria" pitchFamily="34" charset="0"/>
                <a:ea typeface="Cambria" pitchFamily="34" charset="-122"/>
                <a:cs typeface="Cambria" pitchFamily="34" charset="-120"/>
              </a:rPr>
              <a:t>تركيبة الطاقم الطبي</a:t>
            </a:r>
            <a:endParaRPr lang="en-US" sz="1500" dirty="0"/>
          </a:p>
        </p:txBody>
      </p:sp>
      <p:sp>
        <p:nvSpPr>
          <p:cNvPr id="19" name="Text 16"/>
          <p:cNvSpPr/>
          <p:nvPr/>
        </p:nvSpPr>
        <p:spPr>
          <a:xfrm>
            <a:off x="9052560" y="1965960"/>
            <a:ext cx="1463040" cy="274320"/>
          </a:xfrm>
          <a:prstGeom prst="rect">
            <a:avLst/>
          </a:prstGeom>
          <a:noFill/>
          <a:ln/>
        </p:spPr>
        <p:txBody>
          <a:bodyPr wrap="square" lIns="0" tIns="0" rIns="0" bIns="0" rtlCol="0" anchor="ctr"/>
          <a:lstStyle/>
          <a:p>
            <a:pPr marL="0" indent="0" algn="r">
              <a:buNone/>
            </a:pPr>
            <a:r>
              <a:rPr lang="en-US" sz="1100" dirty="0">
                <a:solidFill>
                  <a:srgbClr val="1B2B28"/>
                </a:solidFill>
                <a:latin typeface="Calibri" pitchFamily="34" charset="0"/>
                <a:ea typeface="Calibri" pitchFamily="34" charset="-122"/>
                <a:cs typeface="Calibri" pitchFamily="34" charset="-120"/>
              </a:rPr>
              <a:t>أطباء</a:t>
            </a:r>
            <a:endParaRPr lang="en-US" sz="1100" dirty="0"/>
          </a:p>
        </p:txBody>
      </p:sp>
      <p:sp>
        <p:nvSpPr>
          <p:cNvPr id="20" name="Shape 17"/>
          <p:cNvSpPr/>
          <p:nvPr/>
        </p:nvSpPr>
        <p:spPr>
          <a:xfrm>
            <a:off x="5349240" y="1984248"/>
            <a:ext cx="4206240" cy="201168"/>
          </a:xfrm>
          <a:prstGeom prst="roundRect">
            <a:avLst>
              <a:gd name="adj" fmla="val 18182"/>
            </a:avLst>
          </a:prstGeom>
          <a:solidFill>
            <a:srgbClr val="EEF3F1"/>
          </a:solidFill>
          <a:ln/>
        </p:spPr>
      </p:sp>
      <p:sp>
        <p:nvSpPr>
          <p:cNvPr id="21" name="Shape 18"/>
          <p:cNvSpPr/>
          <p:nvPr/>
        </p:nvSpPr>
        <p:spPr>
          <a:xfrm>
            <a:off x="5349240" y="1984248"/>
            <a:ext cx="841248" cy="201168"/>
          </a:xfrm>
          <a:prstGeom prst="roundRect">
            <a:avLst>
              <a:gd name="adj" fmla="val 18182"/>
            </a:avLst>
          </a:prstGeom>
          <a:solidFill>
            <a:srgbClr val="B85C38"/>
          </a:solidFill>
          <a:ln/>
        </p:spPr>
      </p:sp>
      <p:sp>
        <p:nvSpPr>
          <p:cNvPr id="22" name="Text 19"/>
          <p:cNvSpPr/>
          <p:nvPr/>
        </p:nvSpPr>
        <p:spPr>
          <a:xfrm>
            <a:off x="5806440" y="1956816"/>
            <a:ext cx="36576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23" name="Text 20"/>
          <p:cNvSpPr/>
          <p:nvPr/>
        </p:nvSpPr>
        <p:spPr>
          <a:xfrm>
            <a:off x="9052560" y="2386584"/>
            <a:ext cx="1463040" cy="274320"/>
          </a:xfrm>
          <a:prstGeom prst="rect">
            <a:avLst/>
          </a:prstGeom>
          <a:noFill/>
          <a:ln/>
        </p:spPr>
        <p:txBody>
          <a:bodyPr wrap="square" lIns="0" tIns="0" rIns="0" bIns="0" rtlCol="0" anchor="ctr"/>
          <a:lstStyle/>
          <a:p>
            <a:pPr marL="0" indent="0" algn="r">
              <a:buNone/>
            </a:pPr>
            <a:r>
              <a:rPr lang="en-US" sz="1100" dirty="0">
                <a:solidFill>
                  <a:srgbClr val="1B2B28"/>
                </a:solidFill>
                <a:latin typeface="Calibri" pitchFamily="34" charset="0"/>
                <a:ea typeface="Calibri" pitchFamily="34" charset="-122"/>
                <a:cs typeface="Calibri" pitchFamily="34" charset="-120"/>
              </a:rPr>
              <a:t>ممرضون</a:t>
            </a:r>
            <a:endParaRPr lang="en-US" sz="1100" dirty="0"/>
          </a:p>
        </p:txBody>
      </p:sp>
      <p:sp>
        <p:nvSpPr>
          <p:cNvPr id="24" name="Shape 21"/>
          <p:cNvSpPr/>
          <p:nvPr/>
        </p:nvSpPr>
        <p:spPr>
          <a:xfrm>
            <a:off x="5349240" y="2404872"/>
            <a:ext cx="4206240" cy="201168"/>
          </a:xfrm>
          <a:prstGeom prst="roundRect">
            <a:avLst>
              <a:gd name="adj" fmla="val 18182"/>
            </a:avLst>
          </a:prstGeom>
          <a:solidFill>
            <a:srgbClr val="EEF3F1"/>
          </a:solidFill>
          <a:ln/>
        </p:spPr>
      </p:sp>
      <p:sp>
        <p:nvSpPr>
          <p:cNvPr id="25" name="Shape 22"/>
          <p:cNvSpPr/>
          <p:nvPr/>
        </p:nvSpPr>
        <p:spPr>
          <a:xfrm>
            <a:off x="5349240" y="2404872"/>
            <a:ext cx="4206240" cy="201168"/>
          </a:xfrm>
          <a:prstGeom prst="roundRect">
            <a:avLst>
              <a:gd name="adj" fmla="val 18182"/>
            </a:avLst>
          </a:prstGeom>
          <a:solidFill>
            <a:srgbClr val="117A65"/>
          </a:solidFill>
          <a:ln/>
        </p:spPr>
      </p:sp>
      <p:sp>
        <p:nvSpPr>
          <p:cNvPr id="26" name="Text 23"/>
          <p:cNvSpPr/>
          <p:nvPr/>
        </p:nvSpPr>
        <p:spPr>
          <a:xfrm>
            <a:off x="9171432" y="2377440"/>
            <a:ext cx="36576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10</a:t>
            </a:r>
            <a:endParaRPr lang="en-US" sz="1100" dirty="0"/>
          </a:p>
        </p:txBody>
      </p:sp>
      <p:sp>
        <p:nvSpPr>
          <p:cNvPr id="27" name="Text 24"/>
          <p:cNvSpPr/>
          <p:nvPr/>
        </p:nvSpPr>
        <p:spPr>
          <a:xfrm>
            <a:off x="9052560" y="2807208"/>
            <a:ext cx="1463040" cy="274320"/>
          </a:xfrm>
          <a:prstGeom prst="rect">
            <a:avLst/>
          </a:prstGeom>
          <a:noFill/>
          <a:ln/>
        </p:spPr>
        <p:txBody>
          <a:bodyPr wrap="square" lIns="0" tIns="0" rIns="0" bIns="0" rtlCol="0" anchor="ctr"/>
          <a:lstStyle/>
          <a:p>
            <a:pPr marL="0" indent="0" algn="r">
              <a:buNone/>
            </a:pPr>
            <a:r>
              <a:rPr lang="en-US" sz="1100" dirty="0">
                <a:solidFill>
                  <a:srgbClr val="1B2B28"/>
                </a:solidFill>
                <a:latin typeface="Calibri" pitchFamily="34" charset="0"/>
                <a:ea typeface="Calibri" pitchFamily="34" charset="-122"/>
                <a:cs typeface="Calibri" pitchFamily="34" charset="-120"/>
              </a:rPr>
              <a:t>قابلات</a:t>
            </a:r>
            <a:endParaRPr lang="en-US" sz="1100" dirty="0"/>
          </a:p>
        </p:txBody>
      </p:sp>
      <p:sp>
        <p:nvSpPr>
          <p:cNvPr id="28" name="Shape 25"/>
          <p:cNvSpPr/>
          <p:nvPr/>
        </p:nvSpPr>
        <p:spPr>
          <a:xfrm>
            <a:off x="5349240" y="2825496"/>
            <a:ext cx="4206240" cy="201168"/>
          </a:xfrm>
          <a:prstGeom prst="roundRect">
            <a:avLst>
              <a:gd name="adj" fmla="val 18182"/>
            </a:avLst>
          </a:prstGeom>
          <a:solidFill>
            <a:srgbClr val="EEF3F1"/>
          </a:solidFill>
          <a:ln/>
        </p:spPr>
      </p:sp>
      <p:sp>
        <p:nvSpPr>
          <p:cNvPr id="29" name="Shape 26"/>
          <p:cNvSpPr/>
          <p:nvPr/>
        </p:nvSpPr>
        <p:spPr>
          <a:xfrm>
            <a:off x="5349240" y="2825496"/>
            <a:ext cx="2103120" cy="201168"/>
          </a:xfrm>
          <a:prstGeom prst="roundRect">
            <a:avLst>
              <a:gd name="adj" fmla="val 18182"/>
            </a:avLst>
          </a:prstGeom>
          <a:solidFill>
            <a:srgbClr val="C9A24B"/>
          </a:solidFill>
          <a:ln/>
        </p:spPr>
      </p:sp>
      <p:sp>
        <p:nvSpPr>
          <p:cNvPr id="30" name="Text 27"/>
          <p:cNvSpPr/>
          <p:nvPr/>
        </p:nvSpPr>
        <p:spPr>
          <a:xfrm>
            <a:off x="7068312" y="2798064"/>
            <a:ext cx="36576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5</a:t>
            </a:r>
            <a:endParaRPr lang="en-US" sz="1100" dirty="0"/>
          </a:p>
        </p:txBody>
      </p:sp>
      <p:sp>
        <p:nvSpPr>
          <p:cNvPr id="31" name="Text 28"/>
          <p:cNvSpPr/>
          <p:nvPr/>
        </p:nvSpPr>
        <p:spPr>
          <a:xfrm>
            <a:off x="9052560" y="3227832"/>
            <a:ext cx="1463040" cy="274320"/>
          </a:xfrm>
          <a:prstGeom prst="rect">
            <a:avLst/>
          </a:prstGeom>
          <a:noFill/>
          <a:ln/>
        </p:spPr>
        <p:txBody>
          <a:bodyPr wrap="square" lIns="0" tIns="0" rIns="0" bIns="0" rtlCol="0" anchor="ctr"/>
          <a:lstStyle/>
          <a:p>
            <a:pPr marL="0" indent="0" algn="r">
              <a:buNone/>
            </a:pPr>
            <a:r>
              <a:rPr lang="en-US" sz="1100" dirty="0">
                <a:solidFill>
                  <a:srgbClr val="1B2B28"/>
                </a:solidFill>
                <a:latin typeface="Calibri" pitchFamily="34" charset="0"/>
                <a:ea typeface="Calibri" pitchFamily="34" charset="-122"/>
                <a:cs typeface="Calibri" pitchFamily="34" charset="-120"/>
              </a:rPr>
              <a:t>عمال الدعم</a:t>
            </a:r>
            <a:endParaRPr lang="en-US" sz="1100" dirty="0"/>
          </a:p>
        </p:txBody>
      </p:sp>
      <p:sp>
        <p:nvSpPr>
          <p:cNvPr id="32" name="Shape 29"/>
          <p:cNvSpPr/>
          <p:nvPr/>
        </p:nvSpPr>
        <p:spPr>
          <a:xfrm>
            <a:off x="5349240" y="3246120"/>
            <a:ext cx="4206240" cy="201168"/>
          </a:xfrm>
          <a:prstGeom prst="roundRect">
            <a:avLst>
              <a:gd name="adj" fmla="val 18182"/>
            </a:avLst>
          </a:prstGeom>
          <a:solidFill>
            <a:srgbClr val="EEF3F1"/>
          </a:solidFill>
          <a:ln/>
        </p:spPr>
      </p:sp>
      <p:sp>
        <p:nvSpPr>
          <p:cNvPr id="33" name="Shape 30"/>
          <p:cNvSpPr/>
          <p:nvPr/>
        </p:nvSpPr>
        <p:spPr>
          <a:xfrm>
            <a:off x="5349240" y="3246120"/>
            <a:ext cx="3785616" cy="201168"/>
          </a:xfrm>
          <a:prstGeom prst="roundRect">
            <a:avLst>
              <a:gd name="adj" fmla="val 18182"/>
            </a:avLst>
          </a:prstGeom>
          <a:solidFill>
            <a:srgbClr val="6E8B86"/>
          </a:solidFill>
          <a:ln/>
        </p:spPr>
      </p:sp>
      <p:sp>
        <p:nvSpPr>
          <p:cNvPr id="34" name="Text 31"/>
          <p:cNvSpPr/>
          <p:nvPr/>
        </p:nvSpPr>
        <p:spPr>
          <a:xfrm>
            <a:off x="8750808" y="3218688"/>
            <a:ext cx="36576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9</a:t>
            </a:r>
            <a:endParaRPr lang="en-US" sz="1100" dirty="0"/>
          </a:p>
        </p:txBody>
      </p:sp>
      <p:sp>
        <p:nvSpPr>
          <p:cNvPr id="35" name="Shape 32"/>
          <p:cNvSpPr/>
          <p:nvPr/>
        </p:nvSpPr>
        <p:spPr>
          <a:xfrm>
            <a:off x="5074920" y="3840480"/>
            <a:ext cx="6492240" cy="1828800"/>
          </a:xfrm>
          <a:prstGeom prst="roundRect">
            <a:avLst>
              <a:gd name="adj" fmla="val 5000"/>
            </a:avLst>
          </a:prstGeom>
          <a:solidFill>
            <a:srgbClr val="0B3D3A"/>
          </a:solidFill>
          <a:ln/>
        </p:spPr>
      </p:sp>
      <p:sp>
        <p:nvSpPr>
          <p:cNvPr id="36" name="Text 33"/>
          <p:cNvSpPr/>
          <p:nvPr/>
        </p:nvSpPr>
        <p:spPr>
          <a:xfrm>
            <a:off x="5349240" y="3977640"/>
            <a:ext cx="5943600" cy="365760"/>
          </a:xfrm>
          <a:prstGeom prst="rect">
            <a:avLst/>
          </a:prstGeom>
          <a:noFill/>
          <a:ln/>
        </p:spPr>
        <p:txBody>
          <a:bodyPr wrap="square" lIns="0" tIns="0" rIns="0" bIns="0" rtlCol="0" anchor="ctr"/>
          <a:lstStyle/>
          <a:p>
            <a:pPr marL="0" indent="0" algn="r">
              <a:buNone/>
            </a:pPr>
            <a:r>
              <a:rPr lang="en-US" sz="1500" b="1" dirty="0">
                <a:solidFill>
                  <a:srgbClr val="FFFFFF"/>
                </a:solidFill>
                <a:latin typeface="Cambria" pitchFamily="34" charset="0"/>
                <a:ea typeface="Cambria" pitchFamily="34" charset="-122"/>
                <a:cs typeface="Cambria" pitchFamily="34" charset="-120"/>
              </a:rPr>
              <a:t>الخدمات المتوفرة</a:t>
            </a:r>
            <a:endParaRPr lang="en-US" sz="1500" dirty="0"/>
          </a:p>
        </p:txBody>
      </p:sp>
      <p:sp>
        <p:nvSpPr>
          <p:cNvPr id="37" name="Text 34"/>
          <p:cNvSpPr/>
          <p:nvPr/>
        </p:nvSpPr>
        <p:spPr>
          <a:xfrm>
            <a:off x="5349240" y="4434840"/>
            <a:ext cx="5943600" cy="1097280"/>
          </a:xfrm>
          <a:prstGeom prst="rect">
            <a:avLst/>
          </a:prstGeom>
          <a:noFill/>
          <a:ln/>
        </p:spPr>
        <p:txBody>
          <a:bodyPr wrap="square" lIns="0" tIns="0" rIns="0" bIns="0" rtlCol="0" anchor="t"/>
          <a:lstStyle/>
          <a:p>
            <a:pPr marL="0" indent="0" algn="r">
              <a:lnSpc>
                <a:spcPct val="150000"/>
              </a:lnSpc>
              <a:buNone/>
            </a:pPr>
            <a:r>
              <a:rPr lang="en-US" sz="1350" dirty="0">
                <a:solidFill>
                  <a:srgbClr val="CFE8E0"/>
                </a:solidFill>
                <a:latin typeface="Calibri" pitchFamily="34" charset="0"/>
                <a:ea typeface="Calibri" pitchFamily="34" charset="-122"/>
                <a:cs typeface="Calibri" pitchFamily="34" charset="-120"/>
              </a:rPr>
              <a:t>الاستشارات الخارجية  •  استشارات ما قبل الولادة  •  الولادة</a:t>
            </a:r>
            <a:endParaRPr lang="en-US" sz="1350" dirty="0"/>
          </a:p>
          <a:p>
            <a:pPr marL="0" indent="0" algn="r">
              <a:lnSpc>
                <a:spcPct val="150000"/>
              </a:lnSpc>
              <a:buNone/>
            </a:pPr>
            <a:r>
              <a:rPr lang="en-US" sz="1350" dirty="0">
                <a:solidFill>
                  <a:srgbClr val="CFE8E0"/>
                </a:solidFill>
                <a:latin typeface="Calibri" pitchFamily="34" charset="0"/>
                <a:ea typeface="Calibri" pitchFamily="34" charset="-122"/>
                <a:cs typeface="Calibri" pitchFamily="34" charset="-120"/>
              </a:rPr>
              <a:t>التلقيح  •  المختبر  •  الصيدلية</a:t>
            </a:r>
            <a:endParaRPr lang="en-US" sz="1350" dirty="0"/>
          </a:p>
        </p:txBody>
      </p:sp>
      <p:sp>
        <p:nvSpPr>
          <p:cNvPr id="38" name="Text 35"/>
          <p:cNvSpPr/>
          <p:nvPr/>
        </p:nvSpPr>
        <p:spPr>
          <a:xfrm>
            <a:off x="11338560" y="6355080"/>
            <a:ext cx="457200" cy="320040"/>
          </a:xfrm>
          <a:prstGeom prst="rect">
            <a:avLst/>
          </a:prstGeom>
          <a:noFill/>
          <a:ln/>
        </p:spPr>
        <p:txBody>
          <a:bodyPr wrap="square" rtlCol="0" anchor="ctr"/>
          <a:lstStyle/>
          <a:p>
            <a:pPr marL="0" indent="0" algn="ctr">
              <a:buNone/>
            </a:pPr>
            <a:r>
              <a:rPr lang="en-US" sz="1000" dirty="0">
                <a:solidFill>
                  <a:srgbClr val="5B6F6C"/>
                </a:solidFill>
                <a:latin typeface="Calibri" pitchFamily="34" charset="0"/>
                <a:ea typeface="Calibri" pitchFamily="34" charset="-122"/>
                <a:cs typeface="Calibri" pitchFamily="34" charset="-120"/>
              </a:rPr>
              <a:t>5</a:t>
            </a:r>
            <a:endParaRPr lang="en-US" sz="1000" dirty="0"/>
          </a:p>
        </p:txBody>
      </p:sp>
      <p:sp>
        <p:nvSpPr>
          <p:cNvPr id="39" name="Text 36"/>
          <p:cNvSpPr/>
          <p:nvPr/>
        </p:nvSpPr>
        <p:spPr>
          <a:xfrm>
            <a:off x="457200" y="6355080"/>
            <a:ext cx="3657600" cy="320040"/>
          </a:xfrm>
          <a:prstGeom prst="rect">
            <a:avLst/>
          </a:prstGeom>
          <a:noFill/>
          <a:ln/>
        </p:spPr>
        <p:txBody>
          <a:bodyPr wrap="square" rtlCol="0" anchor="ctr"/>
          <a:lstStyle/>
          <a:p>
            <a:pPr marL="0" indent="0" algn="l">
              <a:buNone/>
            </a:pPr>
            <a:r>
              <a:rPr lang="en-US" sz="900" dirty="0">
                <a:solidFill>
                  <a:srgbClr val="9AAFAC"/>
                </a:solidFill>
                <a:latin typeface="Calibri" pitchFamily="34" charset="0"/>
                <a:ea typeface="Calibri" pitchFamily="34" charset="-122"/>
                <a:cs typeface="Calibri" pitchFamily="34" charset="-120"/>
              </a:rPr>
              <a:t>مدرسة الصحة العمومية بسيليبابي</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3D3A"/>
        </a:solidFill>
        <a:effectLst/>
      </p:bgPr>
    </p:bg>
    <p:spTree>
      <p:nvGrpSpPr>
        <p:cNvPr id="1" name=""/>
        <p:cNvGrpSpPr/>
        <p:nvPr/>
      </p:nvGrpSpPr>
      <p:grpSpPr>
        <a:xfrm>
          <a:off x="0" y="0"/>
          <a:ext cx="0" cy="0"/>
          <a:chOff x="0" y="0"/>
          <a:chExt cx="0" cy="0"/>
        </a:xfrm>
      </p:grpSpPr>
      <p:sp>
        <p:nvSpPr>
          <p:cNvPr id="2" name="Shape 0"/>
          <p:cNvSpPr/>
          <p:nvPr/>
        </p:nvSpPr>
        <p:spPr>
          <a:xfrm>
            <a:off x="9601200" y="4206240"/>
            <a:ext cx="3657600" cy="3657600"/>
          </a:xfrm>
          <a:prstGeom prst="ellipse">
            <a:avLst/>
          </a:prstGeom>
          <a:solidFill>
            <a:srgbClr val="117A65">
              <a:alpha val="30000"/>
            </a:srgbClr>
          </a:solidFill>
          <a:ln/>
        </p:spPr>
      </p:sp>
      <p:sp>
        <p:nvSpPr>
          <p:cNvPr id="3" name="Text 1"/>
          <p:cNvSpPr/>
          <p:nvPr/>
        </p:nvSpPr>
        <p:spPr>
          <a:xfrm>
            <a:off x="548640" y="2011680"/>
            <a:ext cx="1828800" cy="548640"/>
          </a:xfrm>
          <a:prstGeom prst="rect">
            <a:avLst/>
          </a:prstGeom>
          <a:noFill/>
          <a:ln/>
        </p:spPr>
        <p:txBody>
          <a:bodyPr wrap="square" lIns="0" tIns="0" rIns="0" bIns="0" rtlCol="0" anchor="ctr"/>
          <a:lstStyle/>
          <a:p>
            <a:pPr marL="0" indent="0" algn="r">
              <a:buNone/>
            </a:pPr>
            <a:r>
              <a:rPr lang="en-US" sz="2000" b="1" dirty="0">
                <a:solidFill>
                  <a:srgbClr val="5E9C8E"/>
                </a:solidFill>
                <a:latin typeface="Cambria" pitchFamily="34" charset="0"/>
                <a:ea typeface="Cambria" pitchFamily="34" charset="-122"/>
                <a:cs typeface="Cambria" pitchFamily="34" charset="-120"/>
              </a:rPr>
              <a:t>03</a:t>
            </a:r>
            <a:endParaRPr lang="en-US" sz="2000" dirty="0"/>
          </a:p>
        </p:txBody>
      </p:sp>
      <p:sp>
        <p:nvSpPr>
          <p:cNvPr id="4" name="Text 2"/>
          <p:cNvSpPr/>
          <p:nvPr/>
        </p:nvSpPr>
        <p:spPr>
          <a:xfrm>
            <a:off x="822960" y="2514600"/>
            <a:ext cx="10515600" cy="822960"/>
          </a:xfrm>
          <a:prstGeom prst="rect">
            <a:avLst/>
          </a:prstGeom>
          <a:noFill/>
          <a:ln/>
        </p:spPr>
        <p:txBody>
          <a:bodyPr wrap="square" lIns="0" tIns="0" rIns="0" bIns="0" rtlCol="0" anchor="ctr"/>
          <a:lstStyle/>
          <a:p>
            <a:pPr marL="0" indent="0" algn="r">
              <a:buNone/>
            </a:pPr>
            <a:r>
              <a:rPr lang="en-US" sz="3800" b="1" dirty="0">
                <a:solidFill>
                  <a:srgbClr val="FFFFFF"/>
                </a:solidFill>
                <a:latin typeface="Cambria" pitchFamily="34" charset="0"/>
                <a:ea typeface="Cambria" pitchFamily="34" charset="-122"/>
                <a:cs typeface="Cambria" pitchFamily="34" charset="-120"/>
              </a:rPr>
              <a:t>أهداف التدريب الريفي</a:t>
            </a:r>
            <a:endParaRPr lang="en-US" sz="3800" dirty="0"/>
          </a:p>
        </p:txBody>
      </p:sp>
      <p:sp>
        <p:nvSpPr>
          <p:cNvPr id="5" name="Text 3"/>
          <p:cNvSpPr/>
          <p:nvPr/>
        </p:nvSpPr>
        <p:spPr>
          <a:xfrm>
            <a:off x="822960" y="3611880"/>
            <a:ext cx="8686800" cy="822960"/>
          </a:xfrm>
          <a:prstGeom prst="rect">
            <a:avLst/>
          </a:prstGeom>
          <a:noFill/>
          <a:ln/>
        </p:spPr>
        <p:txBody>
          <a:bodyPr wrap="square" lIns="0" tIns="0" rIns="0" bIns="0" rtlCol="0" anchor="t"/>
          <a:lstStyle/>
          <a:p>
            <a:pPr marL="0" indent="0" algn="r">
              <a:buNone/>
            </a:pPr>
            <a:r>
              <a:rPr lang="en-US" sz="1600" dirty="0">
                <a:solidFill>
                  <a:srgbClr val="BFE3D9"/>
                </a:solidFill>
                <a:latin typeface="Calibri" pitchFamily="34" charset="0"/>
                <a:ea typeface="Calibri" pitchFamily="34" charset="-122"/>
                <a:cs typeface="Calibri" pitchFamily="34" charset="-120"/>
              </a:rPr>
              <a:t>الاندماج التام في فريق العمل عبر جدول مداومة منظم على </a:t>
            </a:r>
            <a:r>
              <a:rPr lang="en-US" sz="1600" dirty="0" err="1">
                <a:solidFill>
                  <a:srgbClr val="BFE3D9"/>
                </a:solidFill>
                <a:latin typeface="Calibri" pitchFamily="34" charset="0"/>
                <a:ea typeface="Calibri" pitchFamily="34" charset="-122"/>
                <a:cs typeface="Calibri" pitchFamily="34" charset="-120"/>
              </a:rPr>
              <a:t>مدى</a:t>
            </a:r>
            <a:r>
              <a:rPr lang="en-US" sz="1600" dirty="0">
                <a:solidFill>
                  <a:srgbClr val="BFE3D9"/>
                </a:solidFill>
                <a:latin typeface="Calibri" pitchFamily="34" charset="0"/>
                <a:ea typeface="Calibri" pitchFamily="34" charset="-122"/>
                <a:cs typeface="Calibri" pitchFamily="34" charset="-120"/>
              </a:rPr>
              <a:t> 7 أسابيع، يغطي أقسام الاستشارات الخارجية، استشارات ما قبل الولادة، والتلقيح.</a:t>
            </a:r>
            <a:endParaRPr lang="en-US" sz="1600" dirty="0"/>
          </a:p>
        </p:txBody>
      </p:sp>
      <p:pic>
        <p:nvPicPr>
          <p:cNvPr id="6" name="Image 0" descr="icons/calendar_white.png"/>
          <p:cNvPicPr>
            <a:picLocks noChangeAspect="1"/>
          </p:cNvPicPr>
          <p:nvPr/>
        </p:nvPicPr>
        <p:blipFill>
          <a:blip r:embed="rId3"/>
          <a:stretch>
            <a:fillRect/>
          </a:stretch>
        </p:blipFill>
        <p:spPr>
          <a:xfrm>
            <a:off x="10607040" y="502920"/>
            <a:ext cx="594360" cy="594360"/>
          </a:xfrm>
          <a:prstGeom prst="rect">
            <a:avLst/>
          </a:prstGeom>
        </p:spPr>
      </p:pic>
      <p:sp>
        <p:nvSpPr>
          <p:cNvPr id="7" name="Text 4"/>
          <p:cNvSpPr/>
          <p:nvPr/>
        </p:nvSpPr>
        <p:spPr>
          <a:xfrm>
            <a:off x="11338560" y="6355080"/>
            <a:ext cx="457200" cy="320040"/>
          </a:xfrm>
          <a:prstGeom prst="rect">
            <a:avLst/>
          </a:prstGeom>
          <a:noFill/>
          <a:ln/>
        </p:spPr>
        <p:txBody>
          <a:bodyPr wrap="square" rtlCol="0" anchor="ctr"/>
          <a:lstStyle/>
          <a:p>
            <a:pPr marL="0" indent="0" algn="ctr">
              <a:buNone/>
            </a:pPr>
            <a:r>
              <a:rPr lang="en-US" sz="1000" dirty="0">
                <a:solidFill>
                  <a:srgbClr val="B9CFC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22960" y="457200"/>
            <a:ext cx="7315200" cy="594360"/>
          </a:xfrm>
          <a:prstGeom prst="rect">
            <a:avLst/>
          </a:prstGeom>
          <a:noFill/>
          <a:ln/>
        </p:spPr>
        <p:txBody>
          <a:bodyPr wrap="square" lIns="0" tIns="0" rIns="0" bIns="0" rtlCol="0" anchor="ctr"/>
          <a:lstStyle/>
          <a:p>
            <a:pPr marL="0" indent="0" algn="r">
              <a:buNone/>
            </a:pPr>
            <a:r>
              <a:rPr lang="en-US" sz="2800" b="1" dirty="0">
                <a:solidFill>
                  <a:srgbClr val="0B3D3A"/>
                </a:solidFill>
                <a:latin typeface="Cambria" pitchFamily="34" charset="0"/>
                <a:ea typeface="Cambria" pitchFamily="34" charset="-122"/>
                <a:cs typeface="Cambria" pitchFamily="34" charset="-120"/>
              </a:rPr>
              <a:t>جدول المداومة الأسبوعي</a:t>
            </a:r>
            <a:endParaRPr lang="en-US" sz="2800" dirty="0"/>
          </a:p>
        </p:txBody>
      </p:sp>
      <p:sp>
        <p:nvSpPr>
          <p:cNvPr id="3" name="Text 1"/>
          <p:cNvSpPr/>
          <p:nvPr/>
        </p:nvSpPr>
        <p:spPr>
          <a:xfrm>
            <a:off x="822960" y="960120"/>
            <a:ext cx="8229600" cy="365760"/>
          </a:xfrm>
          <a:prstGeom prst="rect">
            <a:avLst/>
          </a:prstGeom>
          <a:noFill/>
          <a:ln/>
        </p:spPr>
        <p:txBody>
          <a:bodyPr wrap="square" lIns="0" tIns="0" rIns="0" bIns="0" rtlCol="0" anchor="ctr"/>
          <a:lstStyle/>
          <a:p>
            <a:pPr marL="0" indent="0" algn="r">
              <a:buNone/>
            </a:pPr>
            <a:r>
              <a:rPr lang="en-US" sz="1300" dirty="0">
                <a:solidFill>
                  <a:srgbClr val="5B6F6C"/>
                </a:solidFill>
                <a:latin typeface="Calibri" pitchFamily="34" charset="0"/>
                <a:ea typeface="Calibri" pitchFamily="34" charset="-122"/>
                <a:cs typeface="Calibri" pitchFamily="34" charset="-120"/>
              </a:rPr>
              <a:t>توزيع 7 أسابيع تدريب على أقسام المركز الصحي (01/04 – 18/05/2026)</a:t>
            </a:r>
            <a:endParaRPr lang="en-US" sz="1300" dirty="0"/>
          </a:p>
        </p:txBody>
      </p:sp>
      <p:pic>
        <p:nvPicPr>
          <p:cNvPr id="4" name="Image 0" descr="icons/clock_teal.png"/>
          <p:cNvPicPr>
            <a:picLocks noChangeAspect="1"/>
          </p:cNvPicPr>
          <p:nvPr/>
        </p:nvPicPr>
        <p:blipFill>
          <a:blip r:embed="rId3"/>
          <a:stretch>
            <a:fillRect/>
          </a:stretch>
        </p:blipFill>
        <p:spPr>
          <a:xfrm>
            <a:off x="10698480" y="457200"/>
            <a:ext cx="502920" cy="502920"/>
          </a:xfrm>
          <a:prstGeom prst="rect">
            <a:avLst/>
          </a:prstGeom>
        </p:spPr>
      </p:pic>
      <p:sp>
        <p:nvSpPr>
          <p:cNvPr id="5" name="Shape 2"/>
          <p:cNvSpPr/>
          <p:nvPr/>
        </p:nvSpPr>
        <p:spPr>
          <a:xfrm>
            <a:off x="822960" y="1691640"/>
            <a:ext cx="10515600" cy="594360"/>
          </a:xfrm>
          <a:prstGeom prst="roundRect">
            <a:avLst>
              <a:gd name="adj" fmla="val 15385"/>
            </a:avLst>
          </a:prstGeom>
          <a:solidFill>
            <a:srgbClr val="EEF3F1"/>
          </a:solidFill>
          <a:ln/>
        </p:spPr>
      </p:sp>
      <p:sp>
        <p:nvSpPr>
          <p:cNvPr id="6" name="Shape 3"/>
          <p:cNvSpPr/>
          <p:nvPr/>
        </p:nvSpPr>
        <p:spPr>
          <a:xfrm>
            <a:off x="822960" y="1691640"/>
            <a:ext cx="6536724" cy="594360"/>
          </a:xfrm>
          <a:prstGeom prst="rect">
            <a:avLst/>
          </a:prstGeom>
          <a:solidFill>
            <a:srgbClr val="117A65"/>
          </a:solidFill>
          <a:ln/>
        </p:spPr>
      </p:sp>
      <p:sp>
        <p:nvSpPr>
          <p:cNvPr id="7" name="Shape 4"/>
          <p:cNvSpPr/>
          <p:nvPr/>
        </p:nvSpPr>
        <p:spPr>
          <a:xfrm>
            <a:off x="7359684" y="1691640"/>
            <a:ext cx="2842054" cy="594360"/>
          </a:xfrm>
          <a:prstGeom prst="rect">
            <a:avLst/>
          </a:prstGeom>
          <a:solidFill>
            <a:srgbClr val="C9A24B"/>
          </a:solidFill>
          <a:ln/>
        </p:spPr>
      </p:sp>
      <p:sp>
        <p:nvSpPr>
          <p:cNvPr id="8" name="Shape 5"/>
          <p:cNvSpPr/>
          <p:nvPr/>
        </p:nvSpPr>
        <p:spPr>
          <a:xfrm>
            <a:off x="10201738" y="1691640"/>
            <a:ext cx="1136822" cy="594360"/>
          </a:xfrm>
          <a:prstGeom prst="rect">
            <a:avLst/>
          </a:prstGeom>
          <a:solidFill>
            <a:srgbClr val="B85C38"/>
          </a:solidFill>
          <a:ln/>
        </p:spPr>
      </p:sp>
      <p:sp>
        <p:nvSpPr>
          <p:cNvPr id="9" name="Shape 6"/>
          <p:cNvSpPr/>
          <p:nvPr/>
        </p:nvSpPr>
        <p:spPr>
          <a:xfrm>
            <a:off x="822960" y="1691640"/>
            <a:ext cx="10515600" cy="594360"/>
          </a:xfrm>
          <a:prstGeom prst="roundRect">
            <a:avLst>
              <a:gd name="adj" fmla="val 15385"/>
            </a:avLst>
          </a:prstGeom>
          <a:ln w="38100">
            <a:solidFill>
              <a:srgbClr val="FBFAF6"/>
            </a:solidFill>
            <a:prstDash val="solid"/>
          </a:ln>
        </p:spPr>
      </p:sp>
      <p:sp>
        <p:nvSpPr>
          <p:cNvPr id="10" name="Shape 7"/>
          <p:cNvSpPr/>
          <p:nvPr/>
        </p:nvSpPr>
        <p:spPr>
          <a:xfrm>
            <a:off x="822960" y="2606040"/>
            <a:ext cx="3383280" cy="1371600"/>
          </a:xfrm>
          <a:prstGeom prst="roundRect">
            <a:avLst>
              <a:gd name="adj" fmla="val 6667"/>
            </a:avLst>
          </a:prstGeom>
          <a:solidFill>
            <a:srgbClr val="FFFFFF"/>
          </a:solidFill>
          <a:ln/>
          <a:effectLst>
            <a:outerShdw blurRad="76200" dist="25400" dir="5400000" algn="bl" rotWithShape="0">
              <a:srgbClr val="0B3D3A">
                <a:alpha val="7000"/>
              </a:srgbClr>
            </a:outerShdw>
          </a:effectLst>
        </p:spPr>
      </p:sp>
      <p:sp>
        <p:nvSpPr>
          <p:cNvPr id="11" name="Shape 8"/>
          <p:cNvSpPr/>
          <p:nvPr/>
        </p:nvSpPr>
        <p:spPr>
          <a:xfrm>
            <a:off x="1051560" y="2834640"/>
            <a:ext cx="201168" cy="201168"/>
          </a:xfrm>
          <a:prstGeom prst="ellipse">
            <a:avLst/>
          </a:prstGeom>
          <a:solidFill>
            <a:srgbClr val="117A65"/>
          </a:solidFill>
          <a:ln/>
        </p:spPr>
      </p:sp>
      <p:sp>
        <p:nvSpPr>
          <p:cNvPr id="12" name="Text 9"/>
          <p:cNvSpPr/>
          <p:nvPr/>
        </p:nvSpPr>
        <p:spPr>
          <a:xfrm>
            <a:off x="1325880" y="2788920"/>
            <a:ext cx="2651760" cy="457200"/>
          </a:xfrm>
          <a:prstGeom prst="rect">
            <a:avLst/>
          </a:prstGeom>
          <a:noFill/>
          <a:ln/>
        </p:spPr>
        <p:txBody>
          <a:bodyPr wrap="square" lIns="0" tIns="0" rIns="0" bIns="0" rtlCol="0" anchor="ctr"/>
          <a:lstStyle/>
          <a:p>
            <a:pPr marL="0" indent="0" algn="r">
              <a:buNone/>
            </a:pPr>
            <a:r>
              <a:rPr lang="en-US" sz="1300" b="1" dirty="0">
                <a:solidFill>
                  <a:srgbClr val="0B3D3A"/>
                </a:solidFill>
                <a:latin typeface="Calibri" pitchFamily="34" charset="0"/>
                <a:ea typeface="Calibri" pitchFamily="34" charset="-122"/>
                <a:cs typeface="Calibri" pitchFamily="34" charset="-120"/>
              </a:rPr>
              <a:t>الاستشارات الخارجية</a:t>
            </a:r>
            <a:endParaRPr lang="en-US" sz="1300" dirty="0"/>
          </a:p>
        </p:txBody>
      </p:sp>
      <p:sp>
        <p:nvSpPr>
          <p:cNvPr id="13" name="Text 10"/>
          <p:cNvSpPr/>
          <p:nvPr/>
        </p:nvSpPr>
        <p:spPr>
          <a:xfrm>
            <a:off x="1051560" y="3200400"/>
            <a:ext cx="2926080" cy="548640"/>
          </a:xfrm>
          <a:prstGeom prst="rect">
            <a:avLst/>
          </a:prstGeom>
          <a:noFill/>
          <a:ln/>
        </p:spPr>
        <p:txBody>
          <a:bodyPr wrap="square" lIns="0" tIns="0" rIns="0" bIns="0" rtlCol="0" anchor="ctr"/>
          <a:lstStyle/>
          <a:p>
            <a:pPr marL="0" indent="0" algn="r">
              <a:buNone/>
            </a:pPr>
            <a:r>
              <a:rPr lang="en-US" sz="3000" b="1" dirty="0">
                <a:solidFill>
                  <a:srgbClr val="117A65"/>
                </a:solidFill>
                <a:latin typeface="Cambria" pitchFamily="34" charset="0"/>
                <a:ea typeface="Cambria" pitchFamily="34" charset="-122"/>
                <a:cs typeface="Cambria" pitchFamily="34" charset="-120"/>
              </a:rPr>
              <a:t>23</a:t>
            </a:r>
            <a:endParaRPr lang="en-US" sz="3000" dirty="0"/>
          </a:p>
        </p:txBody>
      </p:sp>
      <p:sp>
        <p:nvSpPr>
          <p:cNvPr id="14" name="Text 11"/>
          <p:cNvSpPr/>
          <p:nvPr/>
        </p:nvSpPr>
        <p:spPr>
          <a:xfrm>
            <a:off x="1051560" y="3685032"/>
            <a:ext cx="2926080" cy="228600"/>
          </a:xfrm>
          <a:prstGeom prst="rect">
            <a:avLst/>
          </a:prstGeom>
          <a:noFill/>
          <a:ln/>
        </p:spPr>
        <p:txBody>
          <a:bodyPr wrap="square" lIns="0" tIns="0" rIns="0" bIns="0" rtlCol="0" anchor="ctr"/>
          <a:lstStyle/>
          <a:p>
            <a:pPr marL="0" indent="0" algn="r">
              <a:buNone/>
            </a:pPr>
            <a:r>
              <a:rPr lang="en-US" sz="1000" dirty="0">
                <a:solidFill>
                  <a:srgbClr val="5B6F6C"/>
                </a:solidFill>
                <a:latin typeface="Calibri" pitchFamily="34" charset="0"/>
                <a:ea typeface="Calibri" pitchFamily="34" charset="-122"/>
                <a:cs typeface="Calibri" pitchFamily="34" charset="-120"/>
              </a:rPr>
              <a:t>يومًا</a:t>
            </a:r>
            <a:endParaRPr lang="en-US" sz="1000" dirty="0"/>
          </a:p>
        </p:txBody>
      </p:sp>
      <p:sp>
        <p:nvSpPr>
          <p:cNvPr id="15" name="Shape 12"/>
          <p:cNvSpPr/>
          <p:nvPr/>
        </p:nvSpPr>
        <p:spPr>
          <a:xfrm>
            <a:off x="4434840" y="2606040"/>
            <a:ext cx="3383280" cy="1371600"/>
          </a:xfrm>
          <a:prstGeom prst="roundRect">
            <a:avLst>
              <a:gd name="adj" fmla="val 6667"/>
            </a:avLst>
          </a:prstGeom>
          <a:solidFill>
            <a:srgbClr val="FFFFFF"/>
          </a:solidFill>
          <a:ln/>
          <a:effectLst>
            <a:outerShdw blurRad="76200" dist="25400" dir="5400000" algn="bl" rotWithShape="0">
              <a:srgbClr val="0B3D3A">
                <a:alpha val="7000"/>
              </a:srgbClr>
            </a:outerShdw>
          </a:effectLst>
        </p:spPr>
      </p:sp>
      <p:sp>
        <p:nvSpPr>
          <p:cNvPr id="16" name="Shape 13"/>
          <p:cNvSpPr/>
          <p:nvPr/>
        </p:nvSpPr>
        <p:spPr>
          <a:xfrm>
            <a:off x="4663440" y="2834640"/>
            <a:ext cx="201168" cy="201168"/>
          </a:xfrm>
          <a:prstGeom prst="ellipse">
            <a:avLst/>
          </a:prstGeom>
          <a:solidFill>
            <a:srgbClr val="C9A24B"/>
          </a:solidFill>
          <a:ln/>
        </p:spPr>
      </p:sp>
      <p:sp>
        <p:nvSpPr>
          <p:cNvPr id="17" name="Text 14"/>
          <p:cNvSpPr/>
          <p:nvPr/>
        </p:nvSpPr>
        <p:spPr>
          <a:xfrm>
            <a:off x="4937760" y="2788920"/>
            <a:ext cx="2651760" cy="457200"/>
          </a:xfrm>
          <a:prstGeom prst="rect">
            <a:avLst/>
          </a:prstGeom>
          <a:noFill/>
          <a:ln/>
        </p:spPr>
        <p:txBody>
          <a:bodyPr wrap="square" lIns="0" tIns="0" rIns="0" bIns="0" rtlCol="0" anchor="ctr"/>
          <a:lstStyle/>
          <a:p>
            <a:pPr marL="0" indent="0" algn="r">
              <a:buNone/>
            </a:pPr>
            <a:r>
              <a:rPr lang="en-US" sz="1300" b="1" dirty="0">
                <a:solidFill>
                  <a:srgbClr val="0B3D3A"/>
                </a:solidFill>
                <a:latin typeface="Calibri" pitchFamily="34" charset="0"/>
                <a:ea typeface="Calibri" pitchFamily="34" charset="-122"/>
                <a:cs typeface="Calibri" pitchFamily="34" charset="-120"/>
              </a:rPr>
              <a:t>استشارات ما قبل الولادة</a:t>
            </a:r>
            <a:endParaRPr lang="en-US" sz="1300" dirty="0"/>
          </a:p>
        </p:txBody>
      </p:sp>
      <p:sp>
        <p:nvSpPr>
          <p:cNvPr id="18" name="Text 15"/>
          <p:cNvSpPr/>
          <p:nvPr/>
        </p:nvSpPr>
        <p:spPr>
          <a:xfrm>
            <a:off x="4663440" y="3200400"/>
            <a:ext cx="2926080" cy="548640"/>
          </a:xfrm>
          <a:prstGeom prst="rect">
            <a:avLst/>
          </a:prstGeom>
          <a:noFill/>
          <a:ln/>
        </p:spPr>
        <p:txBody>
          <a:bodyPr wrap="square" lIns="0" tIns="0" rIns="0" bIns="0" rtlCol="0" anchor="ctr"/>
          <a:lstStyle/>
          <a:p>
            <a:pPr marL="0" indent="0" algn="r">
              <a:buNone/>
            </a:pPr>
            <a:r>
              <a:rPr lang="en-US" sz="3000" b="1" dirty="0">
                <a:solidFill>
                  <a:srgbClr val="C9A24B"/>
                </a:solidFill>
                <a:latin typeface="Cambria" pitchFamily="34" charset="0"/>
                <a:ea typeface="Cambria" pitchFamily="34" charset="-122"/>
                <a:cs typeface="Cambria" pitchFamily="34" charset="-120"/>
              </a:rPr>
              <a:t>10</a:t>
            </a:r>
            <a:endParaRPr lang="en-US" sz="3000" dirty="0"/>
          </a:p>
        </p:txBody>
      </p:sp>
      <p:sp>
        <p:nvSpPr>
          <p:cNvPr id="19" name="Text 16"/>
          <p:cNvSpPr/>
          <p:nvPr/>
        </p:nvSpPr>
        <p:spPr>
          <a:xfrm>
            <a:off x="4663440" y="3685032"/>
            <a:ext cx="2926080" cy="228600"/>
          </a:xfrm>
          <a:prstGeom prst="rect">
            <a:avLst/>
          </a:prstGeom>
          <a:noFill/>
          <a:ln/>
        </p:spPr>
        <p:txBody>
          <a:bodyPr wrap="square" lIns="0" tIns="0" rIns="0" bIns="0" rtlCol="0" anchor="ctr"/>
          <a:lstStyle/>
          <a:p>
            <a:pPr marL="0" indent="0" algn="r">
              <a:buNone/>
            </a:pPr>
            <a:r>
              <a:rPr lang="en-US" sz="1000" dirty="0">
                <a:solidFill>
                  <a:srgbClr val="5B6F6C"/>
                </a:solidFill>
                <a:latin typeface="Calibri" pitchFamily="34" charset="0"/>
                <a:ea typeface="Calibri" pitchFamily="34" charset="-122"/>
                <a:cs typeface="Calibri" pitchFamily="34" charset="-120"/>
              </a:rPr>
              <a:t>يومًا</a:t>
            </a:r>
            <a:endParaRPr lang="en-US" sz="1000" dirty="0"/>
          </a:p>
        </p:txBody>
      </p:sp>
      <p:sp>
        <p:nvSpPr>
          <p:cNvPr id="20" name="Shape 17"/>
          <p:cNvSpPr/>
          <p:nvPr/>
        </p:nvSpPr>
        <p:spPr>
          <a:xfrm>
            <a:off x="8046720" y="2606040"/>
            <a:ext cx="3383280" cy="1371600"/>
          </a:xfrm>
          <a:prstGeom prst="roundRect">
            <a:avLst>
              <a:gd name="adj" fmla="val 6667"/>
            </a:avLst>
          </a:prstGeom>
          <a:solidFill>
            <a:srgbClr val="FFFFFF"/>
          </a:solidFill>
          <a:ln/>
          <a:effectLst>
            <a:outerShdw blurRad="76200" dist="25400" dir="5400000" algn="bl" rotWithShape="0">
              <a:srgbClr val="0B3D3A">
                <a:alpha val="7000"/>
              </a:srgbClr>
            </a:outerShdw>
          </a:effectLst>
        </p:spPr>
      </p:sp>
      <p:sp>
        <p:nvSpPr>
          <p:cNvPr id="21" name="Shape 18"/>
          <p:cNvSpPr/>
          <p:nvPr/>
        </p:nvSpPr>
        <p:spPr>
          <a:xfrm>
            <a:off x="8275320" y="2834640"/>
            <a:ext cx="201168" cy="201168"/>
          </a:xfrm>
          <a:prstGeom prst="ellipse">
            <a:avLst/>
          </a:prstGeom>
          <a:solidFill>
            <a:srgbClr val="B85C38"/>
          </a:solidFill>
          <a:ln/>
        </p:spPr>
      </p:sp>
      <p:sp>
        <p:nvSpPr>
          <p:cNvPr id="22" name="Text 19"/>
          <p:cNvSpPr/>
          <p:nvPr/>
        </p:nvSpPr>
        <p:spPr>
          <a:xfrm>
            <a:off x="8549640" y="2788920"/>
            <a:ext cx="2651760" cy="457200"/>
          </a:xfrm>
          <a:prstGeom prst="rect">
            <a:avLst/>
          </a:prstGeom>
          <a:noFill/>
          <a:ln/>
        </p:spPr>
        <p:txBody>
          <a:bodyPr wrap="square" lIns="0" tIns="0" rIns="0" bIns="0" rtlCol="0" anchor="ctr"/>
          <a:lstStyle/>
          <a:p>
            <a:pPr marL="0" indent="0" algn="r">
              <a:buNone/>
            </a:pPr>
            <a:r>
              <a:rPr lang="en-US" sz="1300" b="1" dirty="0">
                <a:solidFill>
                  <a:srgbClr val="0B3D3A"/>
                </a:solidFill>
                <a:latin typeface="Calibri" pitchFamily="34" charset="0"/>
                <a:ea typeface="Calibri" pitchFamily="34" charset="-122"/>
                <a:cs typeface="Calibri" pitchFamily="34" charset="-120"/>
              </a:rPr>
              <a:t>قسم التلقيح</a:t>
            </a:r>
            <a:endParaRPr lang="en-US" sz="1300" dirty="0"/>
          </a:p>
        </p:txBody>
      </p:sp>
      <p:sp>
        <p:nvSpPr>
          <p:cNvPr id="23" name="Text 20"/>
          <p:cNvSpPr/>
          <p:nvPr/>
        </p:nvSpPr>
        <p:spPr>
          <a:xfrm>
            <a:off x="8275320" y="3200400"/>
            <a:ext cx="2926080" cy="548640"/>
          </a:xfrm>
          <a:prstGeom prst="rect">
            <a:avLst/>
          </a:prstGeom>
          <a:noFill/>
          <a:ln/>
        </p:spPr>
        <p:txBody>
          <a:bodyPr wrap="square" lIns="0" tIns="0" rIns="0" bIns="0" rtlCol="0" anchor="ctr"/>
          <a:lstStyle/>
          <a:p>
            <a:pPr marL="0" indent="0" algn="r">
              <a:buNone/>
            </a:pPr>
            <a:r>
              <a:rPr lang="en-US" sz="3000" b="1" dirty="0">
                <a:solidFill>
                  <a:srgbClr val="B85C38"/>
                </a:solidFill>
                <a:latin typeface="Cambria" pitchFamily="34" charset="0"/>
                <a:ea typeface="Cambria" pitchFamily="34" charset="-122"/>
                <a:cs typeface="Cambria" pitchFamily="34" charset="-120"/>
              </a:rPr>
              <a:t>4</a:t>
            </a:r>
            <a:endParaRPr lang="en-US" sz="3000" dirty="0"/>
          </a:p>
        </p:txBody>
      </p:sp>
      <p:sp>
        <p:nvSpPr>
          <p:cNvPr id="24" name="Text 21"/>
          <p:cNvSpPr/>
          <p:nvPr/>
        </p:nvSpPr>
        <p:spPr>
          <a:xfrm>
            <a:off x="8275320" y="3685032"/>
            <a:ext cx="2926080" cy="228600"/>
          </a:xfrm>
          <a:prstGeom prst="rect">
            <a:avLst/>
          </a:prstGeom>
          <a:noFill/>
          <a:ln/>
        </p:spPr>
        <p:txBody>
          <a:bodyPr wrap="square" lIns="0" tIns="0" rIns="0" bIns="0" rtlCol="0" anchor="ctr"/>
          <a:lstStyle/>
          <a:p>
            <a:pPr marL="0" indent="0" algn="r">
              <a:buNone/>
            </a:pPr>
            <a:r>
              <a:rPr lang="en-US" sz="1000" dirty="0">
                <a:solidFill>
                  <a:srgbClr val="5B6F6C"/>
                </a:solidFill>
                <a:latin typeface="Calibri" pitchFamily="34" charset="0"/>
                <a:ea typeface="Calibri" pitchFamily="34" charset="-122"/>
                <a:cs typeface="Calibri" pitchFamily="34" charset="-120"/>
              </a:rPr>
              <a:t>يومًا</a:t>
            </a:r>
            <a:endParaRPr lang="en-US" sz="1000" dirty="0"/>
          </a:p>
        </p:txBody>
      </p:sp>
      <p:sp>
        <p:nvSpPr>
          <p:cNvPr id="25" name="Shape 22"/>
          <p:cNvSpPr/>
          <p:nvPr/>
        </p:nvSpPr>
        <p:spPr>
          <a:xfrm>
            <a:off x="822960" y="4251960"/>
            <a:ext cx="10515600" cy="1965960"/>
          </a:xfrm>
          <a:prstGeom prst="roundRect">
            <a:avLst>
              <a:gd name="adj" fmla="val 4651"/>
            </a:avLst>
          </a:prstGeom>
          <a:solidFill>
            <a:srgbClr val="0B3D3A"/>
          </a:solidFill>
          <a:ln/>
        </p:spPr>
      </p:sp>
      <p:sp>
        <p:nvSpPr>
          <p:cNvPr id="26" name="Text 23"/>
          <p:cNvSpPr/>
          <p:nvPr/>
        </p:nvSpPr>
        <p:spPr>
          <a:xfrm>
            <a:off x="1097280" y="4434840"/>
            <a:ext cx="4572000" cy="365760"/>
          </a:xfrm>
          <a:prstGeom prst="rect">
            <a:avLst/>
          </a:prstGeom>
          <a:noFill/>
          <a:ln/>
        </p:spPr>
        <p:txBody>
          <a:bodyPr wrap="square" lIns="0" tIns="0" rIns="0" bIns="0" rtlCol="0" anchor="ctr"/>
          <a:lstStyle/>
          <a:p>
            <a:pPr marL="0" indent="0" algn="r">
              <a:buNone/>
            </a:pPr>
            <a:r>
              <a:rPr lang="en-US" sz="1500" b="1" dirty="0">
                <a:solidFill>
                  <a:srgbClr val="FFFFFF"/>
                </a:solidFill>
                <a:latin typeface="Cambria" pitchFamily="34" charset="0"/>
                <a:ea typeface="Cambria" pitchFamily="34" charset="-122"/>
                <a:cs typeface="Cambria" pitchFamily="34" charset="-120"/>
              </a:rPr>
              <a:t>ملخص المداومة</a:t>
            </a:r>
            <a:endParaRPr lang="en-US" sz="1500" dirty="0"/>
          </a:p>
        </p:txBody>
      </p:sp>
      <p:sp>
        <p:nvSpPr>
          <p:cNvPr id="27" name="Text 24"/>
          <p:cNvSpPr/>
          <p:nvPr/>
        </p:nvSpPr>
        <p:spPr>
          <a:xfrm>
            <a:off x="1097280" y="4846320"/>
            <a:ext cx="9966960" cy="1280160"/>
          </a:xfrm>
          <a:prstGeom prst="rect">
            <a:avLst/>
          </a:prstGeom>
          <a:noFill/>
          <a:ln/>
        </p:spPr>
        <p:txBody>
          <a:bodyPr wrap="square" lIns="0" tIns="0" rIns="0" bIns="0" rtlCol="0" anchor="t"/>
          <a:lstStyle/>
          <a:p>
            <a:pPr marL="0" indent="0" algn="r">
              <a:lnSpc>
                <a:spcPct val="130000"/>
              </a:lnSpc>
              <a:buNone/>
            </a:pPr>
            <a:r>
              <a:rPr lang="en-US" sz="1350" dirty="0">
                <a:solidFill>
                  <a:srgbClr val="CFE8E0"/>
                </a:solidFill>
                <a:latin typeface="Calibri" pitchFamily="34" charset="0"/>
                <a:ea typeface="Calibri" pitchFamily="34" charset="-122"/>
                <a:cs typeface="Calibri" pitchFamily="34" charset="-120"/>
              </a:rPr>
              <a:t>امتدت المداومة على 7 أسابيع كاملة بدءًا من 01/04/2026 وحتى 18/05/2026.</a:t>
            </a:r>
            <a:endParaRPr lang="en-US" sz="1350" dirty="0"/>
          </a:p>
          <a:p>
            <a:pPr marL="0" indent="0" algn="r">
              <a:lnSpc>
                <a:spcPct val="130000"/>
              </a:lnSpc>
              <a:buNone/>
            </a:pPr>
            <a:r>
              <a:rPr lang="en-US" sz="1350" dirty="0">
                <a:solidFill>
                  <a:srgbClr val="CFE8E0"/>
                </a:solidFill>
                <a:latin typeface="Calibri" pitchFamily="34" charset="0"/>
                <a:ea typeface="Calibri" pitchFamily="34" charset="-122"/>
                <a:cs typeface="Calibri" pitchFamily="34" charset="-120"/>
              </a:rPr>
              <a:t>تركّز معظم الوقت في قسم الاستشارات الخارجية لتعزيز التعامل مع الحالات اليومية المتنوعة.</a:t>
            </a:r>
            <a:endParaRPr lang="en-US" sz="1350" dirty="0"/>
          </a:p>
          <a:p>
            <a:pPr marL="0" indent="0" algn="r">
              <a:lnSpc>
                <a:spcPct val="130000"/>
              </a:lnSpc>
              <a:buNone/>
            </a:pPr>
            <a:r>
              <a:rPr lang="en-US" sz="1350" dirty="0">
                <a:solidFill>
                  <a:srgbClr val="CFE8E0"/>
                </a:solidFill>
                <a:latin typeface="Calibri" pitchFamily="34" charset="0"/>
                <a:ea typeface="Calibri" pitchFamily="34" charset="-122"/>
                <a:cs typeface="Calibri" pitchFamily="34" charset="-120"/>
              </a:rPr>
              <a:t>تخللت البرنامج فترات منتظمة في قسم ما قبل الولادة والتلقيح لتغطية كافة الخدمات.</a:t>
            </a:r>
            <a:endParaRPr lang="en-US" sz="1350" dirty="0"/>
          </a:p>
        </p:txBody>
      </p:sp>
      <p:sp>
        <p:nvSpPr>
          <p:cNvPr id="28" name="Text 25"/>
          <p:cNvSpPr/>
          <p:nvPr/>
        </p:nvSpPr>
        <p:spPr>
          <a:xfrm>
            <a:off x="11338560" y="6355080"/>
            <a:ext cx="457200" cy="320040"/>
          </a:xfrm>
          <a:prstGeom prst="rect">
            <a:avLst/>
          </a:prstGeom>
          <a:noFill/>
          <a:ln/>
        </p:spPr>
        <p:txBody>
          <a:bodyPr wrap="square" rtlCol="0" anchor="ctr"/>
          <a:lstStyle/>
          <a:p>
            <a:pPr marL="0" indent="0" algn="ctr">
              <a:buNone/>
            </a:pPr>
            <a:r>
              <a:rPr lang="en-US" sz="1000" dirty="0">
                <a:solidFill>
                  <a:srgbClr val="5B6F6C"/>
                </a:solidFill>
                <a:latin typeface="Calibri" pitchFamily="34" charset="0"/>
                <a:ea typeface="Calibri" pitchFamily="34" charset="-122"/>
                <a:cs typeface="Calibri" pitchFamily="34" charset="-120"/>
              </a:rPr>
              <a:t>7</a:t>
            </a:r>
            <a:endParaRPr lang="en-US" sz="1000" dirty="0"/>
          </a:p>
        </p:txBody>
      </p:sp>
      <p:sp>
        <p:nvSpPr>
          <p:cNvPr id="29" name="Text 26"/>
          <p:cNvSpPr/>
          <p:nvPr/>
        </p:nvSpPr>
        <p:spPr>
          <a:xfrm>
            <a:off x="457200" y="6355080"/>
            <a:ext cx="3657600" cy="320040"/>
          </a:xfrm>
          <a:prstGeom prst="rect">
            <a:avLst/>
          </a:prstGeom>
          <a:noFill/>
          <a:ln/>
        </p:spPr>
        <p:txBody>
          <a:bodyPr wrap="square" rtlCol="0" anchor="ctr"/>
          <a:lstStyle/>
          <a:p>
            <a:pPr marL="0" indent="0" algn="l">
              <a:buNone/>
            </a:pPr>
            <a:r>
              <a:rPr lang="en-US" sz="900" dirty="0">
                <a:solidFill>
                  <a:srgbClr val="9AAFAC"/>
                </a:solidFill>
                <a:latin typeface="Calibri" pitchFamily="34" charset="0"/>
                <a:ea typeface="Calibri" pitchFamily="34" charset="-122"/>
                <a:cs typeface="Calibri" pitchFamily="34" charset="-120"/>
              </a:rPr>
              <a:t>مدرسة الصحة العمومية بسيليبابي</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 cy="457200"/>
          </a:xfrm>
          <a:prstGeom prst="rect">
            <a:avLst/>
          </a:prstGeom>
          <a:noFill/>
          <a:ln/>
        </p:spPr>
        <p:txBody>
          <a:bodyPr wrap="square" lIns="0" tIns="0" rIns="0" bIns="0" rtlCol="0" anchor="ctr"/>
          <a:lstStyle/>
          <a:p>
            <a:pPr marL="0" indent="0" algn="r">
              <a:buNone/>
            </a:pPr>
            <a:r>
              <a:rPr lang="en-US" sz="1800" b="1" dirty="0">
                <a:solidFill>
                  <a:srgbClr val="B7D9CF"/>
                </a:solidFill>
                <a:latin typeface="Cambria" pitchFamily="34" charset="0"/>
                <a:ea typeface="Cambria" pitchFamily="34" charset="-122"/>
                <a:cs typeface="Cambria" pitchFamily="34" charset="-120"/>
              </a:rPr>
              <a:t>04</a:t>
            </a:r>
            <a:endParaRPr lang="en-US" sz="1800" dirty="0"/>
          </a:p>
        </p:txBody>
      </p:sp>
      <p:sp>
        <p:nvSpPr>
          <p:cNvPr id="3" name="Text 1"/>
          <p:cNvSpPr/>
          <p:nvPr/>
        </p:nvSpPr>
        <p:spPr>
          <a:xfrm>
            <a:off x="822960" y="457200"/>
            <a:ext cx="8229600" cy="594360"/>
          </a:xfrm>
          <a:prstGeom prst="rect">
            <a:avLst/>
          </a:prstGeom>
          <a:noFill/>
          <a:ln/>
        </p:spPr>
        <p:txBody>
          <a:bodyPr wrap="square" lIns="0" tIns="0" rIns="0" bIns="0" rtlCol="0" anchor="ctr"/>
          <a:lstStyle/>
          <a:p>
            <a:pPr marL="0" indent="0" algn="r">
              <a:buNone/>
            </a:pPr>
            <a:r>
              <a:rPr lang="en-US" sz="2700" b="1" dirty="0">
                <a:solidFill>
                  <a:srgbClr val="0B3D3A"/>
                </a:solidFill>
                <a:latin typeface="Cambria" pitchFamily="34" charset="0"/>
                <a:ea typeface="Cambria" pitchFamily="34" charset="-122"/>
                <a:cs typeface="Cambria" pitchFamily="34" charset="-120"/>
              </a:rPr>
              <a:t>تنفيذ 15 بروتوكولًا علاجيًا</a:t>
            </a:r>
            <a:endParaRPr lang="en-US" sz="2700" dirty="0"/>
          </a:p>
        </p:txBody>
      </p:sp>
      <p:sp>
        <p:nvSpPr>
          <p:cNvPr id="4" name="Text 2"/>
          <p:cNvSpPr/>
          <p:nvPr/>
        </p:nvSpPr>
        <p:spPr>
          <a:xfrm>
            <a:off x="822960" y="987552"/>
            <a:ext cx="8686800" cy="365760"/>
          </a:xfrm>
          <a:prstGeom prst="rect">
            <a:avLst/>
          </a:prstGeom>
          <a:noFill/>
          <a:ln/>
        </p:spPr>
        <p:txBody>
          <a:bodyPr wrap="square" lIns="0" tIns="0" rIns="0" bIns="0" rtlCol="0" anchor="ctr"/>
          <a:lstStyle/>
          <a:p>
            <a:pPr marL="0" indent="0" algn="r">
              <a:buNone/>
            </a:pPr>
            <a:r>
              <a:rPr lang="en-US" sz="1300" dirty="0">
                <a:solidFill>
                  <a:srgbClr val="5B6F6C"/>
                </a:solidFill>
                <a:latin typeface="Calibri" pitchFamily="34" charset="0"/>
                <a:ea typeface="Calibri" pitchFamily="34" charset="-122"/>
                <a:cs typeface="Calibri" pitchFamily="34" charset="-120"/>
              </a:rPr>
              <a:t>للأمراض الأكثر شيوعًا بين المرضى المراجعين خلال فترة التدريب</a:t>
            </a:r>
            <a:endParaRPr lang="en-US" sz="1300" dirty="0"/>
          </a:p>
        </p:txBody>
      </p:sp>
      <p:pic>
        <p:nvPicPr>
          <p:cNvPr id="5" name="Image 0" descr="icons/pills_teal.png"/>
          <p:cNvPicPr>
            <a:picLocks noChangeAspect="1"/>
          </p:cNvPicPr>
          <p:nvPr/>
        </p:nvPicPr>
        <p:blipFill>
          <a:blip r:embed="rId3"/>
          <a:stretch>
            <a:fillRect/>
          </a:stretch>
        </p:blipFill>
        <p:spPr>
          <a:xfrm>
            <a:off x="10698480" y="457200"/>
            <a:ext cx="502920" cy="502920"/>
          </a:xfrm>
          <a:prstGeom prst="rect">
            <a:avLst/>
          </a:prstGeom>
        </p:spPr>
      </p:pic>
      <p:sp>
        <p:nvSpPr>
          <p:cNvPr id="6" name="Text 3"/>
          <p:cNvSpPr/>
          <p:nvPr/>
        </p:nvSpPr>
        <p:spPr>
          <a:xfrm>
            <a:off x="822960" y="1645920"/>
            <a:ext cx="4572000" cy="365760"/>
          </a:xfrm>
          <a:prstGeom prst="rect">
            <a:avLst/>
          </a:prstGeom>
          <a:noFill/>
          <a:ln/>
        </p:spPr>
        <p:txBody>
          <a:bodyPr wrap="square" lIns="0" tIns="0" rIns="0" bIns="0" rtlCol="0" anchor="ctr"/>
          <a:lstStyle/>
          <a:p>
            <a:pPr marL="0" indent="0" algn="r">
              <a:buNone/>
            </a:pPr>
            <a:r>
              <a:rPr lang="en-US" sz="1500" b="1" dirty="0">
                <a:solidFill>
                  <a:srgbClr val="0B3D3A"/>
                </a:solidFill>
                <a:latin typeface="Cambria" pitchFamily="34" charset="0"/>
                <a:ea typeface="Cambria" pitchFamily="34" charset="-122"/>
                <a:cs typeface="Cambria" pitchFamily="34" charset="-120"/>
              </a:rPr>
              <a:t>الأعراض الأكثر تكرارًا</a:t>
            </a:r>
            <a:endParaRPr lang="en-US" sz="1500" dirty="0"/>
          </a:p>
        </p:txBody>
      </p:sp>
      <p:sp>
        <p:nvSpPr>
          <p:cNvPr id="7" name="Text 4"/>
          <p:cNvSpPr/>
          <p:nvPr/>
        </p:nvSpPr>
        <p:spPr>
          <a:xfrm>
            <a:off x="822960" y="2148840"/>
            <a:ext cx="1828800" cy="274320"/>
          </a:xfrm>
          <a:prstGeom prst="rect">
            <a:avLst/>
          </a:prstGeom>
          <a:noFill/>
          <a:ln/>
        </p:spPr>
        <p:txBody>
          <a:bodyPr wrap="square" lIns="0" tIns="0" rIns="0" bIns="0" rtlCol="0" anchor="ctr"/>
          <a:lstStyle/>
          <a:p>
            <a:pPr marL="0" indent="0" algn="r">
              <a:buNone/>
            </a:pPr>
            <a:r>
              <a:rPr lang="en-US" sz="1150" dirty="0">
                <a:solidFill>
                  <a:srgbClr val="1B2B28"/>
                </a:solidFill>
                <a:latin typeface="Calibri" pitchFamily="34" charset="0"/>
                <a:ea typeface="Calibri" pitchFamily="34" charset="-122"/>
                <a:cs typeface="Calibri" pitchFamily="34" charset="-120"/>
              </a:rPr>
              <a:t>الحمى</a:t>
            </a:r>
            <a:endParaRPr lang="en-US" sz="1150" dirty="0"/>
          </a:p>
        </p:txBody>
      </p:sp>
      <p:sp>
        <p:nvSpPr>
          <p:cNvPr id="8" name="Shape 5"/>
          <p:cNvSpPr/>
          <p:nvPr/>
        </p:nvSpPr>
        <p:spPr>
          <a:xfrm>
            <a:off x="822960" y="2441448"/>
            <a:ext cx="5120640" cy="219456"/>
          </a:xfrm>
          <a:prstGeom prst="roundRect">
            <a:avLst>
              <a:gd name="adj" fmla="val 16667"/>
            </a:avLst>
          </a:prstGeom>
          <a:solidFill>
            <a:srgbClr val="EEF3F1"/>
          </a:solidFill>
          <a:ln/>
        </p:spPr>
      </p:sp>
      <p:sp>
        <p:nvSpPr>
          <p:cNvPr id="9" name="Shape 6"/>
          <p:cNvSpPr/>
          <p:nvPr/>
        </p:nvSpPr>
        <p:spPr>
          <a:xfrm>
            <a:off x="822960" y="2441448"/>
            <a:ext cx="5120640" cy="219456"/>
          </a:xfrm>
          <a:prstGeom prst="roundRect">
            <a:avLst>
              <a:gd name="adj" fmla="val 16667"/>
            </a:avLst>
          </a:prstGeom>
          <a:solidFill>
            <a:srgbClr val="117A65"/>
          </a:solidFill>
          <a:ln/>
        </p:spPr>
      </p:sp>
      <p:sp>
        <p:nvSpPr>
          <p:cNvPr id="10" name="Text 7"/>
          <p:cNvSpPr/>
          <p:nvPr/>
        </p:nvSpPr>
        <p:spPr>
          <a:xfrm>
            <a:off x="5577840" y="2414016"/>
            <a:ext cx="347472"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8</a:t>
            </a:r>
            <a:endParaRPr lang="en-US" sz="1100" dirty="0"/>
          </a:p>
        </p:txBody>
      </p:sp>
      <p:sp>
        <p:nvSpPr>
          <p:cNvPr id="11" name="Text 8"/>
          <p:cNvSpPr/>
          <p:nvPr/>
        </p:nvSpPr>
        <p:spPr>
          <a:xfrm>
            <a:off x="822960" y="2752344"/>
            <a:ext cx="1828800" cy="274320"/>
          </a:xfrm>
          <a:prstGeom prst="rect">
            <a:avLst/>
          </a:prstGeom>
          <a:noFill/>
          <a:ln/>
        </p:spPr>
        <p:txBody>
          <a:bodyPr wrap="square" lIns="0" tIns="0" rIns="0" bIns="0" rtlCol="0" anchor="ctr"/>
          <a:lstStyle/>
          <a:p>
            <a:pPr marL="0" indent="0" algn="r">
              <a:buNone/>
            </a:pPr>
            <a:r>
              <a:rPr lang="en-US" sz="1150" dirty="0">
                <a:solidFill>
                  <a:srgbClr val="1B2B28"/>
                </a:solidFill>
                <a:latin typeface="Calibri" pitchFamily="34" charset="0"/>
                <a:ea typeface="Calibri" pitchFamily="34" charset="-122"/>
                <a:cs typeface="Calibri" pitchFamily="34" charset="-120"/>
              </a:rPr>
              <a:t>الإقياء</a:t>
            </a:r>
            <a:endParaRPr lang="en-US" sz="1150" dirty="0"/>
          </a:p>
        </p:txBody>
      </p:sp>
      <p:sp>
        <p:nvSpPr>
          <p:cNvPr id="12" name="Shape 9"/>
          <p:cNvSpPr/>
          <p:nvPr/>
        </p:nvSpPr>
        <p:spPr>
          <a:xfrm>
            <a:off x="822960" y="3044952"/>
            <a:ext cx="5120640" cy="219456"/>
          </a:xfrm>
          <a:prstGeom prst="roundRect">
            <a:avLst>
              <a:gd name="adj" fmla="val 16667"/>
            </a:avLst>
          </a:prstGeom>
          <a:solidFill>
            <a:srgbClr val="EEF3F1"/>
          </a:solidFill>
          <a:ln/>
        </p:spPr>
      </p:sp>
      <p:sp>
        <p:nvSpPr>
          <p:cNvPr id="13" name="Shape 10"/>
          <p:cNvSpPr/>
          <p:nvPr/>
        </p:nvSpPr>
        <p:spPr>
          <a:xfrm>
            <a:off x="822960" y="3044952"/>
            <a:ext cx="3840480" cy="219456"/>
          </a:xfrm>
          <a:prstGeom prst="roundRect">
            <a:avLst>
              <a:gd name="adj" fmla="val 16667"/>
            </a:avLst>
          </a:prstGeom>
          <a:solidFill>
            <a:srgbClr val="C9A24B"/>
          </a:solidFill>
          <a:ln/>
        </p:spPr>
      </p:sp>
      <p:sp>
        <p:nvSpPr>
          <p:cNvPr id="14" name="Text 11"/>
          <p:cNvSpPr/>
          <p:nvPr/>
        </p:nvSpPr>
        <p:spPr>
          <a:xfrm>
            <a:off x="4297680" y="3017520"/>
            <a:ext cx="347472"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6</a:t>
            </a:r>
            <a:endParaRPr lang="en-US" sz="1100" dirty="0"/>
          </a:p>
        </p:txBody>
      </p:sp>
      <p:sp>
        <p:nvSpPr>
          <p:cNvPr id="15" name="Text 12"/>
          <p:cNvSpPr/>
          <p:nvPr/>
        </p:nvSpPr>
        <p:spPr>
          <a:xfrm>
            <a:off x="822960" y="3355848"/>
            <a:ext cx="1828800" cy="274320"/>
          </a:xfrm>
          <a:prstGeom prst="rect">
            <a:avLst/>
          </a:prstGeom>
          <a:noFill/>
          <a:ln/>
        </p:spPr>
        <p:txBody>
          <a:bodyPr wrap="square" lIns="0" tIns="0" rIns="0" bIns="0" rtlCol="0" anchor="ctr"/>
          <a:lstStyle/>
          <a:p>
            <a:pPr marL="0" indent="0" algn="r">
              <a:buNone/>
            </a:pPr>
            <a:r>
              <a:rPr lang="en-US" sz="1150" dirty="0">
                <a:solidFill>
                  <a:srgbClr val="1B2B28"/>
                </a:solidFill>
                <a:latin typeface="Calibri" pitchFamily="34" charset="0"/>
                <a:ea typeface="Calibri" pitchFamily="34" charset="-122"/>
                <a:cs typeface="Calibri" pitchFamily="34" charset="-120"/>
              </a:rPr>
              <a:t>آلام المفاصل/الظهر</a:t>
            </a:r>
            <a:endParaRPr lang="en-US" sz="1150" dirty="0"/>
          </a:p>
        </p:txBody>
      </p:sp>
      <p:sp>
        <p:nvSpPr>
          <p:cNvPr id="16" name="Shape 13"/>
          <p:cNvSpPr/>
          <p:nvPr/>
        </p:nvSpPr>
        <p:spPr>
          <a:xfrm>
            <a:off x="822960" y="3648456"/>
            <a:ext cx="5120640" cy="219456"/>
          </a:xfrm>
          <a:prstGeom prst="roundRect">
            <a:avLst>
              <a:gd name="adj" fmla="val 16667"/>
            </a:avLst>
          </a:prstGeom>
          <a:solidFill>
            <a:srgbClr val="EEF3F1"/>
          </a:solidFill>
          <a:ln/>
        </p:spPr>
      </p:sp>
      <p:sp>
        <p:nvSpPr>
          <p:cNvPr id="17" name="Shape 14"/>
          <p:cNvSpPr/>
          <p:nvPr/>
        </p:nvSpPr>
        <p:spPr>
          <a:xfrm>
            <a:off x="822960" y="3648456"/>
            <a:ext cx="3200400" cy="219456"/>
          </a:xfrm>
          <a:prstGeom prst="roundRect">
            <a:avLst>
              <a:gd name="adj" fmla="val 16667"/>
            </a:avLst>
          </a:prstGeom>
          <a:solidFill>
            <a:srgbClr val="B85C38"/>
          </a:solidFill>
          <a:ln/>
        </p:spPr>
      </p:sp>
      <p:sp>
        <p:nvSpPr>
          <p:cNvPr id="18" name="Text 15"/>
          <p:cNvSpPr/>
          <p:nvPr/>
        </p:nvSpPr>
        <p:spPr>
          <a:xfrm>
            <a:off x="3657600" y="3621024"/>
            <a:ext cx="347472"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5</a:t>
            </a:r>
            <a:endParaRPr lang="en-US" sz="1100" dirty="0"/>
          </a:p>
        </p:txBody>
      </p:sp>
      <p:sp>
        <p:nvSpPr>
          <p:cNvPr id="19" name="Text 16"/>
          <p:cNvSpPr/>
          <p:nvPr/>
        </p:nvSpPr>
        <p:spPr>
          <a:xfrm>
            <a:off x="822960" y="3959352"/>
            <a:ext cx="1828800" cy="274320"/>
          </a:xfrm>
          <a:prstGeom prst="rect">
            <a:avLst/>
          </a:prstGeom>
          <a:noFill/>
          <a:ln/>
        </p:spPr>
        <p:txBody>
          <a:bodyPr wrap="square" lIns="0" tIns="0" rIns="0" bIns="0" rtlCol="0" anchor="ctr"/>
          <a:lstStyle/>
          <a:p>
            <a:pPr marL="0" indent="0" algn="r">
              <a:buNone/>
            </a:pPr>
            <a:r>
              <a:rPr lang="en-US" sz="1150" dirty="0">
                <a:solidFill>
                  <a:srgbClr val="1B2B28"/>
                </a:solidFill>
                <a:latin typeface="Calibri" pitchFamily="34" charset="0"/>
                <a:ea typeface="Calibri" pitchFamily="34" charset="-122"/>
                <a:cs typeface="Calibri" pitchFamily="34" charset="-120"/>
              </a:rPr>
              <a:t>حرقة معدية</a:t>
            </a:r>
            <a:endParaRPr lang="en-US" sz="1150" dirty="0"/>
          </a:p>
        </p:txBody>
      </p:sp>
      <p:sp>
        <p:nvSpPr>
          <p:cNvPr id="20" name="Shape 17"/>
          <p:cNvSpPr/>
          <p:nvPr/>
        </p:nvSpPr>
        <p:spPr>
          <a:xfrm>
            <a:off x="822960" y="4251960"/>
            <a:ext cx="5120640" cy="219456"/>
          </a:xfrm>
          <a:prstGeom prst="roundRect">
            <a:avLst>
              <a:gd name="adj" fmla="val 16667"/>
            </a:avLst>
          </a:prstGeom>
          <a:solidFill>
            <a:srgbClr val="EEF3F1"/>
          </a:solidFill>
          <a:ln/>
        </p:spPr>
      </p:sp>
      <p:sp>
        <p:nvSpPr>
          <p:cNvPr id="21" name="Shape 18"/>
          <p:cNvSpPr/>
          <p:nvPr/>
        </p:nvSpPr>
        <p:spPr>
          <a:xfrm>
            <a:off x="822960" y="4251960"/>
            <a:ext cx="1920240" cy="219456"/>
          </a:xfrm>
          <a:prstGeom prst="roundRect">
            <a:avLst>
              <a:gd name="adj" fmla="val 16667"/>
            </a:avLst>
          </a:prstGeom>
          <a:solidFill>
            <a:srgbClr val="5E9C8E"/>
          </a:solidFill>
          <a:ln/>
        </p:spPr>
      </p:sp>
      <p:sp>
        <p:nvSpPr>
          <p:cNvPr id="22" name="Text 19"/>
          <p:cNvSpPr/>
          <p:nvPr/>
        </p:nvSpPr>
        <p:spPr>
          <a:xfrm>
            <a:off x="2377440" y="4224528"/>
            <a:ext cx="347472"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3" name="Text 20"/>
          <p:cNvSpPr/>
          <p:nvPr/>
        </p:nvSpPr>
        <p:spPr>
          <a:xfrm>
            <a:off x="822960" y="4562856"/>
            <a:ext cx="1828800" cy="274320"/>
          </a:xfrm>
          <a:prstGeom prst="rect">
            <a:avLst/>
          </a:prstGeom>
          <a:noFill/>
          <a:ln/>
        </p:spPr>
        <p:txBody>
          <a:bodyPr wrap="square" lIns="0" tIns="0" rIns="0" bIns="0" rtlCol="0" anchor="ctr"/>
          <a:lstStyle/>
          <a:p>
            <a:pPr marL="0" indent="0" algn="r">
              <a:buNone/>
            </a:pPr>
            <a:r>
              <a:rPr lang="en-US" sz="1150" dirty="0">
                <a:solidFill>
                  <a:srgbClr val="1B2B28"/>
                </a:solidFill>
                <a:latin typeface="Calibri" pitchFamily="34" charset="0"/>
                <a:ea typeface="Calibri" pitchFamily="34" charset="-122"/>
                <a:cs typeface="Calibri" pitchFamily="34" charset="-120"/>
              </a:rPr>
              <a:t>إسهال</a:t>
            </a:r>
            <a:endParaRPr lang="en-US" sz="1150" dirty="0"/>
          </a:p>
        </p:txBody>
      </p:sp>
      <p:sp>
        <p:nvSpPr>
          <p:cNvPr id="24" name="Shape 21"/>
          <p:cNvSpPr/>
          <p:nvPr/>
        </p:nvSpPr>
        <p:spPr>
          <a:xfrm>
            <a:off x="822960" y="4855464"/>
            <a:ext cx="5120640" cy="219456"/>
          </a:xfrm>
          <a:prstGeom prst="roundRect">
            <a:avLst>
              <a:gd name="adj" fmla="val 16667"/>
            </a:avLst>
          </a:prstGeom>
          <a:solidFill>
            <a:srgbClr val="EEF3F1"/>
          </a:solidFill>
          <a:ln/>
        </p:spPr>
      </p:sp>
      <p:sp>
        <p:nvSpPr>
          <p:cNvPr id="25" name="Shape 22"/>
          <p:cNvSpPr/>
          <p:nvPr/>
        </p:nvSpPr>
        <p:spPr>
          <a:xfrm>
            <a:off x="822960" y="4855464"/>
            <a:ext cx="1280160" cy="219456"/>
          </a:xfrm>
          <a:prstGeom prst="roundRect">
            <a:avLst>
              <a:gd name="adj" fmla="val 16667"/>
            </a:avLst>
          </a:prstGeom>
          <a:solidFill>
            <a:srgbClr val="8FAFA8"/>
          </a:solidFill>
          <a:ln/>
        </p:spPr>
      </p:sp>
      <p:sp>
        <p:nvSpPr>
          <p:cNvPr id="26" name="Text 23"/>
          <p:cNvSpPr/>
          <p:nvPr/>
        </p:nvSpPr>
        <p:spPr>
          <a:xfrm>
            <a:off x="1737360" y="4828032"/>
            <a:ext cx="347472"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27" name="Shape 24"/>
          <p:cNvSpPr/>
          <p:nvPr/>
        </p:nvSpPr>
        <p:spPr>
          <a:xfrm>
            <a:off x="6263640" y="1645920"/>
            <a:ext cx="5257800" cy="4434840"/>
          </a:xfrm>
          <a:prstGeom prst="roundRect">
            <a:avLst>
              <a:gd name="adj" fmla="val 2474"/>
            </a:avLst>
          </a:prstGeom>
          <a:solidFill>
            <a:srgbClr val="0B3D3A"/>
          </a:solidFill>
          <a:ln/>
        </p:spPr>
      </p:sp>
      <p:sp>
        <p:nvSpPr>
          <p:cNvPr id="28" name="Text 25"/>
          <p:cNvSpPr/>
          <p:nvPr/>
        </p:nvSpPr>
        <p:spPr>
          <a:xfrm>
            <a:off x="6537960" y="1828800"/>
            <a:ext cx="4754880" cy="365760"/>
          </a:xfrm>
          <a:prstGeom prst="rect">
            <a:avLst/>
          </a:prstGeom>
          <a:noFill/>
          <a:ln/>
        </p:spPr>
        <p:txBody>
          <a:bodyPr wrap="square" lIns="0" tIns="0" rIns="0" bIns="0" rtlCol="0" anchor="ctr"/>
          <a:lstStyle/>
          <a:p>
            <a:pPr marL="0" indent="0" algn="r">
              <a:buNone/>
            </a:pPr>
            <a:r>
              <a:rPr lang="en-US" sz="1500" b="1" dirty="0">
                <a:solidFill>
                  <a:srgbClr val="FFFFFF"/>
                </a:solidFill>
                <a:latin typeface="Cambria" pitchFamily="34" charset="0"/>
                <a:ea typeface="Cambria" pitchFamily="34" charset="-122"/>
                <a:cs typeface="Cambria" pitchFamily="34" charset="-120"/>
              </a:rPr>
              <a:t>أبرز الأدوية المستخدمة</a:t>
            </a:r>
            <a:endParaRPr lang="en-US" sz="1500" dirty="0"/>
          </a:p>
        </p:txBody>
      </p:sp>
      <p:sp>
        <p:nvSpPr>
          <p:cNvPr id="29" name="Shape 26"/>
          <p:cNvSpPr/>
          <p:nvPr/>
        </p:nvSpPr>
        <p:spPr>
          <a:xfrm>
            <a:off x="10927080" y="2386584"/>
            <a:ext cx="109728" cy="109728"/>
          </a:xfrm>
          <a:prstGeom prst="ellipse">
            <a:avLst/>
          </a:prstGeom>
          <a:solidFill>
            <a:srgbClr val="C9A24B"/>
          </a:solidFill>
          <a:ln/>
        </p:spPr>
      </p:sp>
      <p:sp>
        <p:nvSpPr>
          <p:cNvPr id="30" name="Text 27"/>
          <p:cNvSpPr/>
          <p:nvPr/>
        </p:nvSpPr>
        <p:spPr>
          <a:xfrm>
            <a:off x="6537960" y="2331720"/>
            <a:ext cx="4251960" cy="365760"/>
          </a:xfrm>
          <a:prstGeom prst="rect">
            <a:avLst/>
          </a:prstGeom>
          <a:noFill/>
          <a:ln/>
        </p:spPr>
        <p:txBody>
          <a:bodyPr wrap="square" lIns="0" tIns="0" rIns="0" bIns="0" rtlCol="0" anchor="ctr"/>
          <a:lstStyle/>
          <a:p>
            <a:pPr marL="0" indent="0" algn="r">
              <a:buNone/>
            </a:pPr>
            <a:r>
              <a:rPr lang="en-US" sz="1350" dirty="0">
                <a:solidFill>
                  <a:srgbClr val="DCEEE9"/>
                </a:solidFill>
                <a:latin typeface="Calibri" pitchFamily="34" charset="0"/>
                <a:ea typeface="Calibri" pitchFamily="34" charset="-122"/>
                <a:cs typeface="Calibri" pitchFamily="34" charset="-120"/>
              </a:rPr>
              <a:t>Prefalgan / Perfelgan 1g</a:t>
            </a:r>
            <a:endParaRPr lang="en-US" sz="1350" dirty="0"/>
          </a:p>
        </p:txBody>
      </p:sp>
      <p:sp>
        <p:nvSpPr>
          <p:cNvPr id="31" name="Shape 28"/>
          <p:cNvSpPr/>
          <p:nvPr/>
        </p:nvSpPr>
        <p:spPr>
          <a:xfrm>
            <a:off x="10927080" y="2807208"/>
            <a:ext cx="109728" cy="109728"/>
          </a:xfrm>
          <a:prstGeom prst="ellipse">
            <a:avLst/>
          </a:prstGeom>
          <a:solidFill>
            <a:srgbClr val="C9A24B"/>
          </a:solidFill>
          <a:ln/>
        </p:spPr>
      </p:sp>
      <p:sp>
        <p:nvSpPr>
          <p:cNvPr id="32" name="Text 29"/>
          <p:cNvSpPr/>
          <p:nvPr/>
        </p:nvSpPr>
        <p:spPr>
          <a:xfrm>
            <a:off x="6537960" y="2752344"/>
            <a:ext cx="4251960" cy="365760"/>
          </a:xfrm>
          <a:prstGeom prst="rect">
            <a:avLst/>
          </a:prstGeom>
          <a:noFill/>
          <a:ln/>
        </p:spPr>
        <p:txBody>
          <a:bodyPr wrap="square" lIns="0" tIns="0" rIns="0" bIns="0" rtlCol="0" anchor="ctr"/>
          <a:lstStyle/>
          <a:p>
            <a:pPr marL="0" indent="0" algn="r">
              <a:buNone/>
            </a:pPr>
            <a:r>
              <a:rPr lang="en-US" sz="1350" dirty="0">
                <a:solidFill>
                  <a:srgbClr val="DCEEE9"/>
                </a:solidFill>
                <a:latin typeface="Calibri" pitchFamily="34" charset="0"/>
                <a:ea typeface="Calibri" pitchFamily="34" charset="-122"/>
                <a:cs typeface="Calibri" pitchFamily="34" charset="-120"/>
              </a:rPr>
              <a:t>Novalgin 1 Amp</a:t>
            </a:r>
            <a:endParaRPr lang="en-US" sz="1350" dirty="0"/>
          </a:p>
        </p:txBody>
      </p:sp>
      <p:sp>
        <p:nvSpPr>
          <p:cNvPr id="33" name="Shape 30"/>
          <p:cNvSpPr/>
          <p:nvPr/>
        </p:nvSpPr>
        <p:spPr>
          <a:xfrm>
            <a:off x="10927080" y="3227832"/>
            <a:ext cx="109728" cy="109728"/>
          </a:xfrm>
          <a:prstGeom prst="ellipse">
            <a:avLst/>
          </a:prstGeom>
          <a:solidFill>
            <a:srgbClr val="C9A24B"/>
          </a:solidFill>
          <a:ln/>
        </p:spPr>
      </p:sp>
      <p:sp>
        <p:nvSpPr>
          <p:cNvPr id="34" name="Text 31"/>
          <p:cNvSpPr/>
          <p:nvPr/>
        </p:nvSpPr>
        <p:spPr>
          <a:xfrm>
            <a:off x="6537960" y="3172968"/>
            <a:ext cx="4251960" cy="365760"/>
          </a:xfrm>
          <a:prstGeom prst="rect">
            <a:avLst/>
          </a:prstGeom>
          <a:noFill/>
          <a:ln/>
        </p:spPr>
        <p:txBody>
          <a:bodyPr wrap="square" lIns="0" tIns="0" rIns="0" bIns="0" rtlCol="0" anchor="ctr"/>
          <a:lstStyle/>
          <a:p>
            <a:pPr marL="0" indent="0" algn="r">
              <a:buNone/>
            </a:pPr>
            <a:r>
              <a:rPr lang="en-US" sz="1350" dirty="0">
                <a:solidFill>
                  <a:srgbClr val="DCEEE9"/>
                </a:solidFill>
                <a:latin typeface="Calibri" pitchFamily="34" charset="0"/>
                <a:ea typeface="Calibri" pitchFamily="34" charset="-122"/>
                <a:cs typeface="Calibri" pitchFamily="34" charset="-120"/>
              </a:rPr>
              <a:t>Dislep (مضاد للإقياء)</a:t>
            </a:r>
            <a:endParaRPr lang="en-US" sz="1350" dirty="0"/>
          </a:p>
        </p:txBody>
      </p:sp>
      <p:sp>
        <p:nvSpPr>
          <p:cNvPr id="35" name="Shape 32"/>
          <p:cNvSpPr/>
          <p:nvPr/>
        </p:nvSpPr>
        <p:spPr>
          <a:xfrm>
            <a:off x="10927080" y="3648456"/>
            <a:ext cx="109728" cy="109728"/>
          </a:xfrm>
          <a:prstGeom prst="ellipse">
            <a:avLst/>
          </a:prstGeom>
          <a:solidFill>
            <a:srgbClr val="C9A24B"/>
          </a:solidFill>
          <a:ln/>
        </p:spPr>
      </p:sp>
      <p:sp>
        <p:nvSpPr>
          <p:cNvPr id="36" name="Text 33"/>
          <p:cNvSpPr/>
          <p:nvPr/>
        </p:nvSpPr>
        <p:spPr>
          <a:xfrm>
            <a:off x="6537960" y="3593592"/>
            <a:ext cx="4251960" cy="365760"/>
          </a:xfrm>
          <a:prstGeom prst="rect">
            <a:avLst/>
          </a:prstGeom>
          <a:noFill/>
          <a:ln/>
        </p:spPr>
        <p:txBody>
          <a:bodyPr wrap="square" lIns="0" tIns="0" rIns="0" bIns="0" rtlCol="0" anchor="ctr"/>
          <a:lstStyle/>
          <a:p>
            <a:pPr marL="0" indent="0" algn="r">
              <a:buNone/>
            </a:pPr>
            <a:r>
              <a:rPr lang="en-US" sz="1350" dirty="0">
                <a:solidFill>
                  <a:srgbClr val="DCEEE9"/>
                </a:solidFill>
                <a:latin typeface="Calibri" pitchFamily="34" charset="0"/>
                <a:ea typeface="Calibri" pitchFamily="34" charset="-122"/>
                <a:cs typeface="Calibri" pitchFamily="34" charset="-120"/>
              </a:rPr>
              <a:t>Diclofenac (حقن/جل)</a:t>
            </a:r>
            <a:endParaRPr lang="en-US" sz="1350" dirty="0"/>
          </a:p>
        </p:txBody>
      </p:sp>
      <p:sp>
        <p:nvSpPr>
          <p:cNvPr id="37" name="Shape 34"/>
          <p:cNvSpPr/>
          <p:nvPr/>
        </p:nvSpPr>
        <p:spPr>
          <a:xfrm>
            <a:off x="10927080" y="4069080"/>
            <a:ext cx="109728" cy="109728"/>
          </a:xfrm>
          <a:prstGeom prst="ellipse">
            <a:avLst/>
          </a:prstGeom>
          <a:solidFill>
            <a:srgbClr val="C9A24B"/>
          </a:solidFill>
          <a:ln/>
        </p:spPr>
      </p:sp>
      <p:sp>
        <p:nvSpPr>
          <p:cNvPr id="38" name="Text 35"/>
          <p:cNvSpPr/>
          <p:nvPr/>
        </p:nvSpPr>
        <p:spPr>
          <a:xfrm>
            <a:off x="6537960" y="4014216"/>
            <a:ext cx="4251960" cy="365760"/>
          </a:xfrm>
          <a:prstGeom prst="rect">
            <a:avLst/>
          </a:prstGeom>
          <a:noFill/>
          <a:ln/>
        </p:spPr>
        <p:txBody>
          <a:bodyPr wrap="square" lIns="0" tIns="0" rIns="0" bIns="0" rtlCol="0" anchor="ctr"/>
          <a:lstStyle/>
          <a:p>
            <a:pPr marL="0" indent="0" algn="r">
              <a:buNone/>
            </a:pPr>
            <a:r>
              <a:rPr lang="en-US" sz="1350" dirty="0">
                <a:solidFill>
                  <a:srgbClr val="DCEEE9"/>
                </a:solidFill>
                <a:latin typeface="Calibri" pitchFamily="34" charset="0"/>
                <a:ea typeface="Calibri" pitchFamily="34" charset="-122"/>
                <a:cs typeface="Calibri" pitchFamily="34" charset="-120"/>
              </a:rPr>
              <a:t>Omeprazole 40mg</a:t>
            </a:r>
            <a:endParaRPr lang="en-US" sz="1350" dirty="0"/>
          </a:p>
        </p:txBody>
      </p:sp>
      <p:sp>
        <p:nvSpPr>
          <p:cNvPr id="39" name="Shape 36"/>
          <p:cNvSpPr/>
          <p:nvPr/>
        </p:nvSpPr>
        <p:spPr>
          <a:xfrm>
            <a:off x="10927080" y="4489704"/>
            <a:ext cx="109728" cy="109728"/>
          </a:xfrm>
          <a:prstGeom prst="ellipse">
            <a:avLst/>
          </a:prstGeom>
          <a:solidFill>
            <a:srgbClr val="C9A24B"/>
          </a:solidFill>
          <a:ln/>
        </p:spPr>
      </p:sp>
      <p:sp>
        <p:nvSpPr>
          <p:cNvPr id="40" name="Text 37"/>
          <p:cNvSpPr/>
          <p:nvPr/>
        </p:nvSpPr>
        <p:spPr>
          <a:xfrm>
            <a:off x="6537960" y="4434840"/>
            <a:ext cx="4251960" cy="365760"/>
          </a:xfrm>
          <a:prstGeom prst="rect">
            <a:avLst/>
          </a:prstGeom>
          <a:noFill/>
          <a:ln/>
        </p:spPr>
        <p:txBody>
          <a:bodyPr wrap="square" lIns="0" tIns="0" rIns="0" bIns="0" rtlCol="0" anchor="ctr"/>
          <a:lstStyle/>
          <a:p>
            <a:pPr marL="0" indent="0" algn="r">
              <a:buNone/>
            </a:pPr>
            <a:r>
              <a:rPr lang="en-US" sz="1350" dirty="0">
                <a:solidFill>
                  <a:srgbClr val="DCEEE9"/>
                </a:solidFill>
                <a:latin typeface="Calibri" pitchFamily="34" charset="0"/>
                <a:ea typeface="Calibri" pitchFamily="34" charset="-122"/>
                <a:cs typeface="Calibri" pitchFamily="34" charset="-120"/>
              </a:rPr>
              <a:t>Ampicillin / Claforan</a:t>
            </a:r>
            <a:endParaRPr lang="en-US" sz="1350" dirty="0"/>
          </a:p>
        </p:txBody>
      </p:sp>
      <p:sp>
        <p:nvSpPr>
          <p:cNvPr id="41" name="Shape 38"/>
          <p:cNvSpPr/>
          <p:nvPr/>
        </p:nvSpPr>
        <p:spPr>
          <a:xfrm>
            <a:off x="6537960" y="4946904"/>
            <a:ext cx="4709160" cy="18288"/>
          </a:xfrm>
          <a:prstGeom prst="rect">
            <a:avLst/>
          </a:prstGeom>
          <a:solidFill>
            <a:srgbClr val="2A5C57"/>
          </a:solidFill>
          <a:ln/>
        </p:spPr>
      </p:sp>
      <p:sp>
        <p:nvSpPr>
          <p:cNvPr id="42" name="Text 39"/>
          <p:cNvSpPr/>
          <p:nvPr/>
        </p:nvSpPr>
        <p:spPr>
          <a:xfrm>
            <a:off x="6537960" y="5129784"/>
            <a:ext cx="4754880" cy="320040"/>
          </a:xfrm>
          <a:prstGeom prst="rect">
            <a:avLst/>
          </a:prstGeom>
          <a:noFill/>
          <a:ln/>
        </p:spPr>
        <p:txBody>
          <a:bodyPr wrap="square" lIns="0" tIns="0" rIns="0" bIns="0" rtlCol="0" anchor="ctr"/>
          <a:lstStyle/>
          <a:p>
            <a:pPr marL="0" indent="0" algn="r">
              <a:buNone/>
            </a:pPr>
            <a:r>
              <a:rPr lang="en-US" sz="1300" b="1" dirty="0">
                <a:solidFill>
                  <a:srgbClr val="FFFFFF"/>
                </a:solidFill>
                <a:latin typeface="Cambria" pitchFamily="34" charset="0"/>
                <a:ea typeface="Cambria" pitchFamily="34" charset="-122"/>
                <a:cs typeface="Cambria" pitchFamily="34" charset="-120"/>
              </a:rPr>
              <a:t>توزيع الحالات حسب الجنس</a:t>
            </a:r>
            <a:endParaRPr lang="en-US" sz="1300" dirty="0"/>
          </a:p>
        </p:txBody>
      </p:sp>
      <p:sp>
        <p:nvSpPr>
          <p:cNvPr id="43" name="Text 40"/>
          <p:cNvSpPr/>
          <p:nvPr/>
        </p:nvSpPr>
        <p:spPr>
          <a:xfrm>
            <a:off x="6537960" y="5477256"/>
            <a:ext cx="4754880" cy="320040"/>
          </a:xfrm>
          <a:prstGeom prst="rect">
            <a:avLst/>
          </a:prstGeom>
          <a:noFill/>
          <a:ln/>
        </p:spPr>
        <p:txBody>
          <a:bodyPr wrap="square" lIns="0" tIns="0" rIns="0" bIns="0" rtlCol="0" anchor="ctr"/>
          <a:lstStyle/>
          <a:p>
            <a:pPr marL="0" indent="0" algn="r">
              <a:buNone/>
            </a:pPr>
            <a:r>
              <a:rPr lang="en-US" sz="1300" dirty="0">
                <a:solidFill>
                  <a:srgbClr val="BFE3D9"/>
                </a:solidFill>
                <a:latin typeface="Calibri" pitchFamily="34" charset="0"/>
                <a:ea typeface="Calibri" pitchFamily="34" charset="-122"/>
                <a:cs typeface="Calibri" pitchFamily="34" charset="-120"/>
              </a:rPr>
              <a:t>ذكور: 7 حالات   •   إناث: 8 حالات</a:t>
            </a:r>
            <a:endParaRPr lang="en-US" sz="1300" dirty="0"/>
          </a:p>
        </p:txBody>
      </p:sp>
      <p:sp>
        <p:nvSpPr>
          <p:cNvPr id="44" name="Text 41"/>
          <p:cNvSpPr/>
          <p:nvPr/>
        </p:nvSpPr>
        <p:spPr>
          <a:xfrm>
            <a:off x="11338560" y="6355080"/>
            <a:ext cx="457200" cy="320040"/>
          </a:xfrm>
          <a:prstGeom prst="rect">
            <a:avLst/>
          </a:prstGeom>
          <a:noFill/>
          <a:ln/>
        </p:spPr>
        <p:txBody>
          <a:bodyPr wrap="square" rtlCol="0" anchor="ctr"/>
          <a:lstStyle/>
          <a:p>
            <a:pPr marL="0" indent="0" algn="ctr">
              <a:buNone/>
            </a:pPr>
            <a:r>
              <a:rPr lang="en-US" sz="1000" dirty="0">
                <a:solidFill>
                  <a:srgbClr val="5B6F6C"/>
                </a:solidFill>
                <a:latin typeface="Calibri" pitchFamily="34" charset="0"/>
                <a:ea typeface="Calibri" pitchFamily="34" charset="-122"/>
                <a:cs typeface="Calibri" pitchFamily="34" charset="-120"/>
              </a:rPr>
              <a:t>8</a:t>
            </a:r>
            <a:endParaRPr lang="en-US" sz="1000" dirty="0"/>
          </a:p>
        </p:txBody>
      </p:sp>
      <p:sp>
        <p:nvSpPr>
          <p:cNvPr id="45" name="Text 42"/>
          <p:cNvSpPr/>
          <p:nvPr/>
        </p:nvSpPr>
        <p:spPr>
          <a:xfrm>
            <a:off x="457200" y="6355080"/>
            <a:ext cx="3657600" cy="320040"/>
          </a:xfrm>
          <a:prstGeom prst="rect">
            <a:avLst/>
          </a:prstGeom>
          <a:noFill/>
          <a:ln/>
        </p:spPr>
        <p:txBody>
          <a:bodyPr wrap="square" rtlCol="0" anchor="ctr"/>
          <a:lstStyle/>
          <a:p>
            <a:pPr marL="0" indent="0" algn="l">
              <a:buNone/>
            </a:pPr>
            <a:r>
              <a:rPr lang="en-US" sz="900" dirty="0">
                <a:solidFill>
                  <a:srgbClr val="9AAFAC"/>
                </a:solidFill>
                <a:latin typeface="Calibri" pitchFamily="34" charset="0"/>
                <a:ea typeface="Calibri" pitchFamily="34" charset="-122"/>
                <a:cs typeface="Calibri" pitchFamily="34" charset="-120"/>
              </a:rPr>
              <a:t>مدرسة الصحة العمومية بسيليبابي</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8686800" cy="594360"/>
          </a:xfrm>
          <a:prstGeom prst="rect">
            <a:avLst/>
          </a:prstGeom>
          <a:noFill/>
          <a:ln/>
        </p:spPr>
        <p:txBody>
          <a:bodyPr wrap="square" lIns="0" tIns="0" rIns="0" bIns="0" rtlCol="0" anchor="ctr"/>
          <a:lstStyle/>
          <a:p>
            <a:pPr marL="0" indent="0" algn="r">
              <a:buNone/>
            </a:pPr>
            <a:r>
              <a:rPr lang="en-US" sz="2700" b="1" dirty="0">
                <a:solidFill>
                  <a:srgbClr val="0B3D3A"/>
                </a:solidFill>
                <a:latin typeface="Cambria" pitchFamily="34" charset="0"/>
                <a:ea typeface="Cambria" pitchFamily="34" charset="-122"/>
                <a:cs typeface="Cambria" pitchFamily="34" charset="-120"/>
              </a:rPr>
              <a:t>ضمان التكفل بحالة استعجالية</a:t>
            </a:r>
            <a:endParaRPr lang="en-US" sz="2700" dirty="0"/>
          </a:p>
        </p:txBody>
      </p:sp>
      <p:pic>
        <p:nvPicPr>
          <p:cNvPr id="3" name="Image 0" descr="icons/stethoscope_teal.png"/>
          <p:cNvPicPr>
            <a:picLocks noChangeAspect="1"/>
          </p:cNvPicPr>
          <p:nvPr/>
        </p:nvPicPr>
        <p:blipFill>
          <a:blip r:embed="rId3"/>
          <a:stretch>
            <a:fillRect/>
          </a:stretch>
        </p:blipFill>
        <p:spPr>
          <a:xfrm>
            <a:off x="10698480" y="457200"/>
            <a:ext cx="502920" cy="502920"/>
          </a:xfrm>
          <a:prstGeom prst="rect">
            <a:avLst/>
          </a:prstGeom>
        </p:spPr>
      </p:pic>
      <p:sp>
        <p:nvSpPr>
          <p:cNvPr id="4" name="Shape 1"/>
          <p:cNvSpPr/>
          <p:nvPr/>
        </p:nvSpPr>
        <p:spPr>
          <a:xfrm>
            <a:off x="822960" y="1371600"/>
            <a:ext cx="3291840" cy="4663440"/>
          </a:xfrm>
          <a:prstGeom prst="roundRect">
            <a:avLst>
              <a:gd name="adj" fmla="val 3333"/>
            </a:avLst>
          </a:prstGeom>
          <a:solidFill>
            <a:srgbClr val="0B3D3A"/>
          </a:solidFill>
          <a:ln/>
        </p:spPr>
      </p:sp>
      <p:sp>
        <p:nvSpPr>
          <p:cNvPr id="5" name="Shape 2"/>
          <p:cNvSpPr/>
          <p:nvPr/>
        </p:nvSpPr>
        <p:spPr>
          <a:xfrm>
            <a:off x="1371600" y="1691640"/>
            <a:ext cx="822960" cy="822960"/>
          </a:xfrm>
          <a:prstGeom prst="ellipse">
            <a:avLst/>
          </a:prstGeom>
          <a:solidFill>
            <a:srgbClr val="1A5650"/>
          </a:solidFill>
          <a:ln/>
        </p:spPr>
      </p:sp>
      <p:pic>
        <p:nvPicPr>
          <p:cNvPr id="6" name="Image 1" descr="icons/userMd_white.png"/>
          <p:cNvPicPr>
            <a:picLocks noChangeAspect="1"/>
          </p:cNvPicPr>
          <p:nvPr/>
        </p:nvPicPr>
        <p:blipFill>
          <a:blip r:embed="rId4"/>
          <a:stretch>
            <a:fillRect/>
          </a:stretch>
        </p:blipFill>
        <p:spPr>
          <a:xfrm>
            <a:off x="1536192" y="1856232"/>
            <a:ext cx="493776" cy="493776"/>
          </a:xfrm>
          <a:prstGeom prst="rect">
            <a:avLst/>
          </a:prstGeom>
        </p:spPr>
      </p:pic>
      <p:sp>
        <p:nvSpPr>
          <p:cNvPr id="7" name="Text 3"/>
          <p:cNvSpPr/>
          <p:nvPr/>
        </p:nvSpPr>
        <p:spPr>
          <a:xfrm>
            <a:off x="822960" y="2697480"/>
            <a:ext cx="3291840"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ذكر، 38 سنة</a:t>
            </a:r>
            <a:endParaRPr lang="en-US" sz="1700" dirty="0"/>
          </a:p>
        </p:txBody>
      </p:sp>
      <p:sp>
        <p:nvSpPr>
          <p:cNvPr id="8" name="Text 4"/>
          <p:cNvSpPr/>
          <p:nvPr/>
        </p:nvSpPr>
        <p:spPr>
          <a:xfrm>
            <a:off x="822960" y="3035808"/>
            <a:ext cx="3291840" cy="274320"/>
          </a:xfrm>
          <a:prstGeom prst="rect">
            <a:avLst/>
          </a:prstGeom>
          <a:noFill/>
          <a:ln/>
        </p:spPr>
        <p:txBody>
          <a:bodyPr wrap="square" lIns="0" tIns="0" rIns="0" bIns="0" rtlCol="0" anchor="ctr"/>
          <a:lstStyle/>
          <a:p>
            <a:pPr marL="0" indent="0" algn="ctr">
              <a:buNone/>
            </a:pPr>
            <a:r>
              <a:rPr lang="en-US" sz="1200" dirty="0">
                <a:solidFill>
                  <a:srgbClr val="9FC6BC"/>
                </a:solidFill>
                <a:latin typeface="Calibri" pitchFamily="34" charset="0"/>
                <a:ea typeface="Calibri" pitchFamily="34" charset="-122"/>
                <a:cs typeface="Calibri" pitchFamily="34" charset="-120"/>
              </a:rPr>
              <a:t>الإقامة: تكينت</a:t>
            </a:r>
            <a:endParaRPr lang="en-US" sz="1200" dirty="0"/>
          </a:p>
        </p:txBody>
      </p:sp>
      <p:sp>
        <p:nvSpPr>
          <p:cNvPr id="9" name="Shape 5"/>
          <p:cNvSpPr/>
          <p:nvPr/>
        </p:nvSpPr>
        <p:spPr>
          <a:xfrm>
            <a:off x="1097280" y="3520440"/>
            <a:ext cx="2743200" cy="13716"/>
          </a:xfrm>
          <a:prstGeom prst="rect">
            <a:avLst/>
          </a:prstGeom>
          <a:solidFill>
            <a:srgbClr val="2A5C57"/>
          </a:solidFill>
          <a:ln/>
        </p:spPr>
      </p:sp>
      <p:sp>
        <p:nvSpPr>
          <p:cNvPr id="10" name="Text 6"/>
          <p:cNvSpPr/>
          <p:nvPr/>
        </p:nvSpPr>
        <p:spPr>
          <a:xfrm>
            <a:off x="1097280" y="3703320"/>
            <a:ext cx="1371600" cy="365760"/>
          </a:xfrm>
          <a:prstGeom prst="rect">
            <a:avLst/>
          </a:prstGeom>
          <a:noFill/>
          <a:ln/>
        </p:spPr>
        <p:txBody>
          <a:bodyPr wrap="square" lIns="0" tIns="0" rIns="0" bIns="0" rtlCol="0" anchor="ctr"/>
          <a:lstStyle/>
          <a:p>
            <a:pPr marL="0" indent="0" algn="ctr">
              <a:buNone/>
            </a:pPr>
            <a:r>
              <a:rPr lang="en-US" sz="1900" b="1" dirty="0">
                <a:solidFill>
                  <a:srgbClr val="C9A24B"/>
                </a:solidFill>
                <a:latin typeface="Cambria" pitchFamily="34" charset="0"/>
                <a:ea typeface="Cambria" pitchFamily="34" charset="-122"/>
                <a:cs typeface="Cambria" pitchFamily="34" charset="-120"/>
              </a:rPr>
              <a:t>39°C</a:t>
            </a:r>
            <a:endParaRPr lang="en-US" sz="1900" dirty="0"/>
          </a:p>
        </p:txBody>
      </p:sp>
      <p:sp>
        <p:nvSpPr>
          <p:cNvPr id="11" name="Text 7"/>
          <p:cNvSpPr/>
          <p:nvPr/>
        </p:nvSpPr>
        <p:spPr>
          <a:xfrm>
            <a:off x="1097280" y="4069080"/>
            <a:ext cx="1371600" cy="274320"/>
          </a:xfrm>
          <a:prstGeom prst="rect">
            <a:avLst/>
          </a:prstGeom>
          <a:noFill/>
          <a:ln/>
        </p:spPr>
        <p:txBody>
          <a:bodyPr wrap="square" lIns="0" tIns="0" rIns="0" bIns="0" rtlCol="0" anchor="ctr"/>
          <a:lstStyle/>
          <a:p>
            <a:pPr marL="0" indent="0" algn="ctr">
              <a:buNone/>
            </a:pPr>
            <a:r>
              <a:rPr lang="en-US" sz="1000" dirty="0">
                <a:solidFill>
                  <a:srgbClr val="9FC6BC"/>
                </a:solidFill>
                <a:latin typeface="Calibri" pitchFamily="34" charset="0"/>
                <a:ea typeface="Calibri" pitchFamily="34" charset="-122"/>
                <a:cs typeface="Calibri" pitchFamily="34" charset="-120"/>
              </a:rPr>
              <a:t>°T</a:t>
            </a:r>
            <a:endParaRPr lang="en-US" sz="1000" dirty="0"/>
          </a:p>
        </p:txBody>
      </p:sp>
      <p:sp>
        <p:nvSpPr>
          <p:cNvPr id="12" name="Text 8"/>
          <p:cNvSpPr/>
          <p:nvPr/>
        </p:nvSpPr>
        <p:spPr>
          <a:xfrm>
            <a:off x="2468880" y="3703320"/>
            <a:ext cx="1371600" cy="365760"/>
          </a:xfrm>
          <a:prstGeom prst="rect">
            <a:avLst/>
          </a:prstGeom>
          <a:noFill/>
          <a:ln/>
        </p:spPr>
        <p:txBody>
          <a:bodyPr wrap="square" lIns="0" tIns="0" rIns="0" bIns="0" rtlCol="0" anchor="ctr"/>
          <a:lstStyle/>
          <a:p>
            <a:pPr marL="0" indent="0" algn="ctr">
              <a:buNone/>
            </a:pPr>
            <a:r>
              <a:rPr lang="en-US" sz="1900" b="1" dirty="0">
                <a:solidFill>
                  <a:srgbClr val="C9A24B"/>
                </a:solidFill>
                <a:latin typeface="Cambria" pitchFamily="34" charset="0"/>
                <a:ea typeface="Cambria" pitchFamily="34" charset="-122"/>
                <a:cs typeface="Cambria" pitchFamily="34" charset="-120"/>
              </a:rPr>
              <a:t>12/07</a:t>
            </a:r>
            <a:endParaRPr lang="en-US" sz="1900" dirty="0"/>
          </a:p>
        </p:txBody>
      </p:sp>
      <p:sp>
        <p:nvSpPr>
          <p:cNvPr id="13" name="Text 9"/>
          <p:cNvSpPr/>
          <p:nvPr/>
        </p:nvSpPr>
        <p:spPr>
          <a:xfrm>
            <a:off x="2468880" y="4069080"/>
            <a:ext cx="1371600" cy="274320"/>
          </a:xfrm>
          <a:prstGeom prst="rect">
            <a:avLst/>
          </a:prstGeom>
          <a:noFill/>
          <a:ln/>
        </p:spPr>
        <p:txBody>
          <a:bodyPr wrap="square" lIns="0" tIns="0" rIns="0" bIns="0" rtlCol="0" anchor="ctr"/>
          <a:lstStyle/>
          <a:p>
            <a:pPr marL="0" indent="0" algn="ctr">
              <a:buNone/>
            </a:pPr>
            <a:r>
              <a:rPr lang="en-US" sz="1000" dirty="0">
                <a:solidFill>
                  <a:srgbClr val="9FC6BC"/>
                </a:solidFill>
                <a:latin typeface="Calibri" pitchFamily="34" charset="0"/>
                <a:ea typeface="Calibri" pitchFamily="34" charset="-122"/>
                <a:cs typeface="Calibri" pitchFamily="34" charset="-120"/>
              </a:rPr>
              <a:t>TA</a:t>
            </a:r>
            <a:endParaRPr lang="en-US" sz="1000" dirty="0"/>
          </a:p>
        </p:txBody>
      </p:sp>
      <p:sp>
        <p:nvSpPr>
          <p:cNvPr id="14" name="Text 10"/>
          <p:cNvSpPr/>
          <p:nvPr/>
        </p:nvSpPr>
        <p:spPr>
          <a:xfrm>
            <a:off x="1097280" y="4572000"/>
            <a:ext cx="2743200" cy="274320"/>
          </a:xfrm>
          <a:prstGeom prst="rect">
            <a:avLst/>
          </a:prstGeom>
          <a:noFill/>
          <a:ln/>
        </p:spPr>
        <p:txBody>
          <a:bodyPr wrap="square" lIns="0" tIns="0" rIns="0" bIns="0" rtlCol="0" anchor="ctr"/>
          <a:lstStyle/>
          <a:p>
            <a:pPr marL="0" indent="0" algn="r">
              <a:buNone/>
            </a:pPr>
            <a:r>
              <a:rPr lang="en-US" sz="1100" dirty="0">
                <a:solidFill>
                  <a:srgbClr val="9FC6BC"/>
                </a:solidFill>
                <a:latin typeface="Calibri" pitchFamily="34" charset="0"/>
                <a:ea typeface="Calibri" pitchFamily="34" charset="-122"/>
                <a:cs typeface="Calibri" pitchFamily="34" charset="-120"/>
              </a:rPr>
              <a:t>التشخيص</a:t>
            </a:r>
            <a:endParaRPr lang="en-US" sz="1100" dirty="0"/>
          </a:p>
        </p:txBody>
      </p:sp>
      <p:sp>
        <p:nvSpPr>
          <p:cNvPr id="15" name="Text 11"/>
          <p:cNvSpPr/>
          <p:nvPr/>
        </p:nvSpPr>
        <p:spPr>
          <a:xfrm>
            <a:off x="1097280" y="4864608"/>
            <a:ext cx="2743200" cy="548640"/>
          </a:xfrm>
          <a:prstGeom prst="rect">
            <a:avLst/>
          </a:prstGeom>
          <a:noFill/>
          <a:ln/>
        </p:spPr>
        <p:txBody>
          <a:bodyPr wrap="square" lIns="0" tIns="0" rIns="0" bIns="0" rtlCol="0" anchor="t"/>
          <a:lstStyle/>
          <a:p>
            <a:pPr marL="0" indent="0" algn="r">
              <a:buNone/>
            </a:pPr>
            <a:r>
              <a:rPr lang="en-US" sz="1400" b="1" dirty="0">
                <a:solidFill>
                  <a:srgbClr val="FFFFFF"/>
                </a:solidFill>
                <a:latin typeface="Cambria" pitchFamily="34" charset="0"/>
                <a:ea typeface="Cambria" pitchFamily="34" charset="-122"/>
                <a:cs typeface="Cambria" pitchFamily="34" charset="-120"/>
              </a:rPr>
              <a:t>اشتباه بالتهاب الزائدة الدودية</a:t>
            </a:r>
            <a:endParaRPr lang="en-US" sz="1400" dirty="0"/>
          </a:p>
        </p:txBody>
      </p:sp>
      <p:sp>
        <p:nvSpPr>
          <p:cNvPr id="16" name="Shape 12"/>
          <p:cNvSpPr/>
          <p:nvPr/>
        </p:nvSpPr>
        <p:spPr>
          <a:xfrm>
            <a:off x="10835640" y="1435608"/>
            <a:ext cx="384048" cy="384048"/>
          </a:xfrm>
          <a:prstGeom prst="ellipse">
            <a:avLst/>
          </a:prstGeom>
          <a:solidFill>
            <a:srgbClr val="D9F0EA"/>
          </a:solidFill>
          <a:ln/>
        </p:spPr>
      </p:sp>
      <p:sp>
        <p:nvSpPr>
          <p:cNvPr id="17" name="Text 13"/>
          <p:cNvSpPr/>
          <p:nvPr/>
        </p:nvSpPr>
        <p:spPr>
          <a:xfrm>
            <a:off x="10835640" y="1435608"/>
            <a:ext cx="384048" cy="384048"/>
          </a:xfrm>
          <a:prstGeom prst="rect">
            <a:avLst/>
          </a:prstGeom>
          <a:noFill/>
          <a:ln/>
        </p:spPr>
        <p:txBody>
          <a:bodyPr wrap="square" lIns="0" tIns="0" rIns="0" bIns="0" rtlCol="0" anchor="ctr"/>
          <a:lstStyle/>
          <a:p>
            <a:pPr marL="0" indent="0" algn="ctr">
              <a:buNone/>
            </a:pPr>
            <a:r>
              <a:rPr lang="en-US" sz="1500" b="1" dirty="0">
                <a:solidFill>
                  <a:srgbClr val="0B3D3A"/>
                </a:solidFill>
                <a:latin typeface="Cambria" pitchFamily="34" charset="0"/>
                <a:ea typeface="Cambria" pitchFamily="34" charset="-122"/>
                <a:cs typeface="Cambria" pitchFamily="34" charset="-120"/>
              </a:rPr>
              <a:t>1</a:t>
            </a:r>
            <a:endParaRPr lang="en-US" sz="1500" dirty="0"/>
          </a:p>
        </p:txBody>
      </p:sp>
      <p:sp>
        <p:nvSpPr>
          <p:cNvPr id="18" name="Text 14"/>
          <p:cNvSpPr/>
          <p:nvPr/>
        </p:nvSpPr>
        <p:spPr>
          <a:xfrm>
            <a:off x="4572000" y="1417320"/>
            <a:ext cx="6080760" cy="292608"/>
          </a:xfrm>
          <a:prstGeom prst="rect">
            <a:avLst/>
          </a:prstGeom>
          <a:noFill/>
          <a:ln/>
        </p:spPr>
        <p:txBody>
          <a:bodyPr wrap="square" lIns="0" tIns="0" rIns="0" bIns="0" rtlCol="0" anchor="ctr"/>
          <a:lstStyle/>
          <a:p>
            <a:pPr marL="0" indent="0" algn="r">
              <a:buNone/>
            </a:pPr>
            <a:r>
              <a:rPr lang="en-US" sz="1400" b="1" dirty="0">
                <a:solidFill>
                  <a:srgbClr val="0B3D3A"/>
                </a:solidFill>
                <a:latin typeface="Cambria" pitchFamily="34" charset="0"/>
                <a:ea typeface="Cambria" pitchFamily="34" charset="-122"/>
                <a:cs typeface="Cambria" pitchFamily="34" charset="-120"/>
              </a:rPr>
              <a:t>الأعراض</a:t>
            </a:r>
            <a:endParaRPr lang="en-US" sz="1400" dirty="0"/>
          </a:p>
        </p:txBody>
      </p:sp>
      <p:sp>
        <p:nvSpPr>
          <p:cNvPr id="19" name="Text 15"/>
          <p:cNvSpPr/>
          <p:nvPr/>
        </p:nvSpPr>
        <p:spPr>
          <a:xfrm>
            <a:off x="4572000" y="1728216"/>
            <a:ext cx="6080760" cy="502920"/>
          </a:xfrm>
          <a:prstGeom prst="rect">
            <a:avLst/>
          </a:prstGeom>
          <a:noFill/>
          <a:ln/>
        </p:spPr>
        <p:txBody>
          <a:bodyPr wrap="square" lIns="0" tIns="0" rIns="0" bIns="0" rtlCol="0" anchor="t"/>
          <a:lstStyle/>
          <a:p>
            <a:pPr marL="0" indent="0" algn="r">
              <a:buNone/>
            </a:pPr>
            <a:r>
              <a:rPr lang="en-US" sz="1250" dirty="0">
                <a:solidFill>
                  <a:srgbClr val="5B6F6C"/>
                </a:solidFill>
                <a:latin typeface="Calibri" pitchFamily="34" charset="0"/>
                <a:ea typeface="Calibri" pitchFamily="34" charset="-122"/>
                <a:cs typeface="Calibri" pitchFamily="34" charset="-120"/>
              </a:rPr>
              <a:t>حمى، غثيان، ألم في الربع السفلي الأيمن للبطن</a:t>
            </a:r>
            <a:endParaRPr lang="en-US" sz="1250" dirty="0"/>
          </a:p>
        </p:txBody>
      </p:sp>
      <p:sp>
        <p:nvSpPr>
          <p:cNvPr id="20" name="Shape 16"/>
          <p:cNvSpPr/>
          <p:nvPr/>
        </p:nvSpPr>
        <p:spPr>
          <a:xfrm>
            <a:off x="10835640" y="2395728"/>
            <a:ext cx="384048" cy="384048"/>
          </a:xfrm>
          <a:prstGeom prst="ellipse">
            <a:avLst/>
          </a:prstGeom>
          <a:solidFill>
            <a:srgbClr val="D9F0EA"/>
          </a:solidFill>
          <a:ln/>
        </p:spPr>
      </p:sp>
      <p:sp>
        <p:nvSpPr>
          <p:cNvPr id="21" name="Text 17"/>
          <p:cNvSpPr/>
          <p:nvPr/>
        </p:nvSpPr>
        <p:spPr>
          <a:xfrm>
            <a:off x="10835640" y="2395728"/>
            <a:ext cx="384048" cy="384048"/>
          </a:xfrm>
          <a:prstGeom prst="rect">
            <a:avLst/>
          </a:prstGeom>
          <a:noFill/>
          <a:ln/>
        </p:spPr>
        <p:txBody>
          <a:bodyPr wrap="square" lIns="0" tIns="0" rIns="0" bIns="0" rtlCol="0" anchor="ctr"/>
          <a:lstStyle/>
          <a:p>
            <a:pPr marL="0" indent="0" algn="ctr">
              <a:buNone/>
            </a:pPr>
            <a:r>
              <a:rPr lang="en-US" sz="1500" b="1" dirty="0">
                <a:solidFill>
                  <a:srgbClr val="0B3D3A"/>
                </a:solidFill>
                <a:latin typeface="Cambria" pitchFamily="34" charset="0"/>
                <a:ea typeface="Cambria" pitchFamily="34" charset="-122"/>
                <a:cs typeface="Cambria" pitchFamily="34" charset="-120"/>
              </a:rPr>
              <a:t>2</a:t>
            </a:r>
            <a:endParaRPr lang="en-US" sz="1500" dirty="0"/>
          </a:p>
        </p:txBody>
      </p:sp>
      <p:sp>
        <p:nvSpPr>
          <p:cNvPr id="22" name="Text 18"/>
          <p:cNvSpPr/>
          <p:nvPr/>
        </p:nvSpPr>
        <p:spPr>
          <a:xfrm>
            <a:off x="4572000" y="2377440"/>
            <a:ext cx="6080760" cy="292608"/>
          </a:xfrm>
          <a:prstGeom prst="rect">
            <a:avLst/>
          </a:prstGeom>
          <a:noFill/>
          <a:ln/>
        </p:spPr>
        <p:txBody>
          <a:bodyPr wrap="square" lIns="0" tIns="0" rIns="0" bIns="0" rtlCol="0" anchor="ctr"/>
          <a:lstStyle/>
          <a:p>
            <a:pPr marL="0" indent="0" algn="r">
              <a:buNone/>
            </a:pPr>
            <a:r>
              <a:rPr lang="en-US" sz="1400" b="1" dirty="0">
                <a:solidFill>
                  <a:srgbClr val="0B3D3A"/>
                </a:solidFill>
                <a:latin typeface="Cambria" pitchFamily="34" charset="0"/>
                <a:ea typeface="Cambria" pitchFamily="34" charset="-122"/>
                <a:cs typeface="Cambria" pitchFamily="34" charset="-120"/>
              </a:rPr>
              <a:t>الفحص السريري</a:t>
            </a:r>
            <a:endParaRPr lang="en-US" sz="1400" dirty="0"/>
          </a:p>
        </p:txBody>
      </p:sp>
      <p:sp>
        <p:nvSpPr>
          <p:cNvPr id="23" name="Text 19"/>
          <p:cNvSpPr/>
          <p:nvPr/>
        </p:nvSpPr>
        <p:spPr>
          <a:xfrm>
            <a:off x="4572000" y="2688336"/>
            <a:ext cx="6080760" cy="502920"/>
          </a:xfrm>
          <a:prstGeom prst="rect">
            <a:avLst/>
          </a:prstGeom>
          <a:noFill/>
          <a:ln/>
        </p:spPr>
        <p:txBody>
          <a:bodyPr wrap="square" lIns="0" tIns="0" rIns="0" bIns="0" rtlCol="0" anchor="t"/>
          <a:lstStyle/>
          <a:p>
            <a:pPr marL="0" indent="0" algn="r">
              <a:buNone/>
            </a:pPr>
            <a:r>
              <a:rPr lang="en-US" sz="1250" dirty="0">
                <a:solidFill>
                  <a:srgbClr val="5B6F6C"/>
                </a:solidFill>
                <a:latin typeface="Calibri" pitchFamily="34" charset="0"/>
                <a:ea typeface="Calibri" pitchFamily="34" charset="-122"/>
                <a:cs typeface="Calibri" pitchFamily="34" charset="-120"/>
              </a:rPr>
              <a:t>ألم عند الضغط على الربع السفلي الأيسر، وألم عند رفع الرجل اليمنى تجاه الربع السفلي الأيمن للبطن</a:t>
            </a:r>
            <a:endParaRPr lang="en-US" sz="1250" dirty="0"/>
          </a:p>
        </p:txBody>
      </p:sp>
      <p:sp>
        <p:nvSpPr>
          <p:cNvPr id="24" name="Shape 20"/>
          <p:cNvSpPr/>
          <p:nvPr/>
        </p:nvSpPr>
        <p:spPr>
          <a:xfrm>
            <a:off x="10835640" y="3355848"/>
            <a:ext cx="384048" cy="384048"/>
          </a:xfrm>
          <a:prstGeom prst="ellipse">
            <a:avLst/>
          </a:prstGeom>
          <a:solidFill>
            <a:srgbClr val="D9F0EA"/>
          </a:solidFill>
          <a:ln/>
        </p:spPr>
      </p:sp>
      <p:sp>
        <p:nvSpPr>
          <p:cNvPr id="25" name="Text 21"/>
          <p:cNvSpPr/>
          <p:nvPr/>
        </p:nvSpPr>
        <p:spPr>
          <a:xfrm>
            <a:off x="10835640" y="3355848"/>
            <a:ext cx="384048" cy="384048"/>
          </a:xfrm>
          <a:prstGeom prst="rect">
            <a:avLst/>
          </a:prstGeom>
          <a:noFill/>
          <a:ln/>
        </p:spPr>
        <p:txBody>
          <a:bodyPr wrap="square" lIns="0" tIns="0" rIns="0" bIns="0" rtlCol="0" anchor="ctr"/>
          <a:lstStyle/>
          <a:p>
            <a:pPr marL="0" indent="0" algn="ctr">
              <a:buNone/>
            </a:pPr>
            <a:r>
              <a:rPr lang="en-US" sz="1500" b="1" dirty="0">
                <a:solidFill>
                  <a:srgbClr val="0B3D3A"/>
                </a:solidFill>
                <a:latin typeface="Cambria" pitchFamily="34" charset="0"/>
                <a:ea typeface="Cambria" pitchFamily="34" charset="-122"/>
                <a:cs typeface="Cambria" pitchFamily="34" charset="-120"/>
              </a:rPr>
              <a:t>3</a:t>
            </a:r>
            <a:endParaRPr lang="en-US" sz="1500" dirty="0"/>
          </a:p>
        </p:txBody>
      </p:sp>
      <p:sp>
        <p:nvSpPr>
          <p:cNvPr id="26" name="Text 22"/>
          <p:cNvSpPr/>
          <p:nvPr/>
        </p:nvSpPr>
        <p:spPr>
          <a:xfrm>
            <a:off x="4572000" y="3337560"/>
            <a:ext cx="6080760" cy="292608"/>
          </a:xfrm>
          <a:prstGeom prst="rect">
            <a:avLst/>
          </a:prstGeom>
          <a:noFill/>
          <a:ln/>
        </p:spPr>
        <p:txBody>
          <a:bodyPr wrap="square" lIns="0" tIns="0" rIns="0" bIns="0" rtlCol="0" anchor="ctr"/>
          <a:lstStyle/>
          <a:p>
            <a:pPr marL="0" indent="0" algn="r">
              <a:buNone/>
            </a:pPr>
            <a:r>
              <a:rPr lang="en-US" sz="1400" b="1" dirty="0">
                <a:solidFill>
                  <a:srgbClr val="0B3D3A"/>
                </a:solidFill>
                <a:latin typeface="Cambria" pitchFamily="34" charset="0"/>
                <a:ea typeface="Cambria" pitchFamily="34" charset="-122"/>
                <a:cs typeface="Cambria" pitchFamily="34" charset="-120"/>
              </a:rPr>
              <a:t>العلاج الأولي</a:t>
            </a:r>
            <a:endParaRPr lang="en-US" sz="1400" dirty="0"/>
          </a:p>
        </p:txBody>
      </p:sp>
      <p:sp>
        <p:nvSpPr>
          <p:cNvPr id="27" name="Text 23"/>
          <p:cNvSpPr/>
          <p:nvPr/>
        </p:nvSpPr>
        <p:spPr>
          <a:xfrm>
            <a:off x="4572000" y="3648456"/>
            <a:ext cx="6080760" cy="502920"/>
          </a:xfrm>
          <a:prstGeom prst="rect">
            <a:avLst/>
          </a:prstGeom>
          <a:noFill/>
          <a:ln/>
        </p:spPr>
        <p:txBody>
          <a:bodyPr wrap="square" lIns="0" tIns="0" rIns="0" bIns="0" rtlCol="0" anchor="t"/>
          <a:lstStyle/>
          <a:p>
            <a:pPr marL="0" indent="0" algn="r">
              <a:buNone/>
            </a:pPr>
            <a:r>
              <a:rPr lang="en-US" sz="1250" dirty="0">
                <a:solidFill>
                  <a:srgbClr val="5B6F6C"/>
                </a:solidFill>
                <a:latin typeface="Calibri" pitchFamily="34" charset="0"/>
                <a:ea typeface="Calibri" pitchFamily="34" charset="-122"/>
                <a:cs typeface="Calibri" pitchFamily="34" charset="-120"/>
              </a:rPr>
              <a:t>Perfelgan 1g + Novalgen 1Amp + Dislep 1Amp + SSI 0.9% 500mL</a:t>
            </a:r>
            <a:endParaRPr lang="en-US" sz="1250" dirty="0"/>
          </a:p>
        </p:txBody>
      </p:sp>
      <p:sp>
        <p:nvSpPr>
          <p:cNvPr id="28" name="Shape 24"/>
          <p:cNvSpPr/>
          <p:nvPr/>
        </p:nvSpPr>
        <p:spPr>
          <a:xfrm>
            <a:off x="10835640" y="4315968"/>
            <a:ext cx="384048" cy="384048"/>
          </a:xfrm>
          <a:prstGeom prst="ellipse">
            <a:avLst/>
          </a:prstGeom>
          <a:solidFill>
            <a:srgbClr val="B85C38"/>
          </a:solidFill>
          <a:ln/>
        </p:spPr>
      </p:sp>
      <p:sp>
        <p:nvSpPr>
          <p:cNvPr id="29" name="Text 25"/>
          <p:cNvSpPr/>
          <p:nvPr/>
        </p:nvSpPr>
        <p:spPr>
          <a:xfrm>
            <a:off x="10835640" y="43159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30" name="Text 26"/>
          <p:cNvSpPr/>
          <p:nvPr/>
        </p:nvSpPr>
        <p:spPr>
          <a:xfrm>
            <a:off x="4572000" y="4297680"/>
            <a:ext cx="6080760" cy="292608"/>
          </a:xfrm>
          <a:prstGeom prst="rect">
            <a:avLst/>
          </a:prstGeom>
          <a:noFill/>
          <a:ln/>
        </p:spPr>
        <p:txBody>
          <a:bodyPr wrap="square" lIns="0" tIns="0" rIns="0" bIns="0" rtlCol="0" anchor="ctr"/>
          <a:lstStyle/>
          <a:p>
            <a:pPr marL="0" indent="0" algn="r">
              <a:buNone/>
            </a:pPr>
            <a:r>
              <a:rPr lang="en-US" sz="1400" b="1" dirty="0">
                <a:solidFill>
                  <a:srgbClr val="0B3D3A"/>
                </a:solidFill>
                <a:latin typeface="Cambria" pitchFamily="34" charset="0"/>
                <a:ea typeface="Cambria" pitchFamily="34" charset="-122"/>
                <a:cs typeface="Cambria" pitchFamily="34" charset="-120"/>
              </a:rPr>
              <a:t>التكفل (CAT)</a:t>
            </a:r>
            <a:endParaRPr lang="en-US" sz="1400" dirty="0"/>
          </a:p>
        </p:txBody>
      </p:sp>
      <p:sp>
        <p:nvSpPr>
          <p:cNvPr id="31" name="Text 27"/>
          <p:cNvSpPr/>
          <p:nvPr/>
        </p:nvSpPr>
        <p:spPr>
          <a:xfrm>
            <a:off x="4572000" y="4608576"/>
            <a:ext cx="6080760" cy="502920"/>
          </a:xfrm>
          <a:prstGeom prst="rect">
            <a:avLst/>
          </a:prstGeom>
          <a:noFill/>
          <a:ln/>
        </p:spPr>
        <p:txBody>
          <a:bodyPr wrap="square" lIns="0" tIns="0" rIns="0" bIns="0" rtlCol="0" anchor="t"/>
          <a:lstStyle/>
          <a:p>
            <a:pPr marL="0" indent="0" algn="r">
              <a:buNone/>
            </a:pPr>
            <a:r>
              <a:rPr lang="en-US" sz="1250" dirty="0">
                <a:solidFill>
                  <a:srgbClr val="5B6F6C"/>
                </a:solidFill>
                <a:latin typeface="Calibri" pitchFamily="34" charset="0"/>
                <a:ea typeface="Calibri" pitchFamily="34" charset="-122"/>
                <a:cs typeface="Calibri" pitchFamily="34" charset="-120"/>
              </a:rPr>
              <a:t>إحالة المريض إلى المستشفى الجهوي بوالية روصو</a:t>
            </a:r>
            <a:endParaRPr lang="en-US" sz="1250" dirty="0"/>
          </a:p>
        </p:txBody>
      </p:sp>
      <p:sp>
        <p:nvSpPr>
          <p:cNvPr id="32" name="Shape 28"/>
          <p:cNvSpPr/>
          <p:nvPr/>
        </p:nvSpPr>
        <p:spPr>
          <a:xfrm>
            <a:off x="4572000" y="5303520"/>
            <a:ext cx="6080760" cy="777240"/>
          </a:xfrm>
          <a:prstGeom prst="roundRect">
            <a:avLst>
              <a:gd name="adj" fmla="val 9412"/>
            </a:avLst>
          </a:prstGeom>
          <a:solidFill>
            <a:srgbClr val="D9F0EA"/>
          </a:solidFill>
          <a:ln/>
        </p:spPr>
      </p:sp>
      <p:pic>
        <p:nvPicPr>
          <p:cNvPr id="33" name="Image 2" descr="icons/check_teal.png"/>
          <p:cNvPicPr>
            <a:picLocks noChangeAspect="1"/>
          </p:cNvPicPr>
          <p:nvPr/>
        </p:nvPicPr>
        <p:blipFill>
          <a:blip r:embed="rId5"/>
          <a:stretch>
            <a:fillRect/>
          </a:stretch>
        </p:blipFill>
        <p:spPr>
          <a:xfrm>
            <a:off x="10287000" y="5504688"/>
            <a:ext cx="320040" cy="320040"/>
          </a:xfrm>
          <a:prstGeom prst="rect">
            <a:avLst/>
          </a:prstGeom>
        </p:spPr>
      </p:pic>
      <p:sp>
        <p:nvSpPr>
          <p:cNvPr id="34" name="Text 29"/>
          <p:cNvSpPr/>
          <p:nvPr/>
        </p:nvSpPr>
        <p:spPr>
          <a:xfrm>
            <a:off x="4800600" y="5376672"/>
            <a:ext cx="5394960" cy="548640"/>
          </a:xfrm>
          <a:prstGeom prst="rect">
            <a:avLst/>
          </a:prstGeom>
          <a:noFill/>
          <a:ln/>
        </p:spPr>
        <p:txBody>
          <a:bodyPr wrap="square" lIns="0" tIns="0" rIns="0" bIns="0" rtlCol="0" anchor="ctr"/>
          <a:lstStyle/>
          <a:p>
            <a:pPr marL="0" indent="0" algn="r">
              <a:buNone/>
            </a:pPr>
            <a:r>
              <a:rPr lang="en-US" sz="1250" b="1" dirty="0">
                <a:solidFill>
                  <a:srgbClr val="0B3D3A"/>
                </a:solidFill>
                <a:latin typeface="Calibri" pitchFamily="34" charset="0"/>
                <a:ea typeface="Calibri" pitchFamily="34" charset="-122"/>
                <a:cs typeface="Calibri" pitchFamily="34" charset="-120"/>
              </a:rPr>
              <a:t>النتيجة: تم إجراء عملية الزائدة الدودية للمريض بعد إحالته للمستشفى الجهوي بنجاح.</a:t>
            </a:r>
            <a:endParaRPr lang="en-US" sz="1250" dirty="0"/>
          </a:p>
        </p:txBody>
      </p:sp>
      <p:sp>
        <p:nvSpPr>
          <p:cNvPr id="35" name="Text 30"/>
          <p:cNvSpPr/>
          <p:nvPr/>
        </p:nvSpPr>
        <p:spPr>
          <a:xfrm>
            <a:off x="11338560" y="6355080"/>
            <a:ext cx="457200" cy="320040"/>
          </a:xfrm>
          <a:prstGeom prst="rect">
            <a:avLst/>
          </a:prstGeom>
          <a:noFill/>
          <a:ln/>
        </p:spPr>
        <p:txBody>
          <a:bodyPr wrap="square" rtlCol="0" anchor="ctr"/>
          <a:lstStyle/>
          <a:p>
            <a:pPr marL="0" indent="0" algn="ctr">
              <a:buNone/>
            </a:pPr>
            <a:r>
              <a:rPr lang="en-US" sz="1000" dirty="0">
                <a:solidFill>
                  <a:srgbClr val="5B6F6C"/>
                </a:solidFill>
                <a:latin typeface="Calibri" pitchFamily="34" charset="0"/>
                <a:ea typeface="Calibri" pitchFamily="34" charset="-122"/>
                <a:cs typeface="Calibri" pitchFamily="34" charset="-120"/>
              </a:rPr>
              <a:t>9</a:t>
            </a:r>
            <a:endParaRPr lang="en-US" sz="1000" dirty="0"/>
          </a:p>
        </p:txBody>
      </p:sp>
      <p:sp>
        <p:nvSpPr>
          <p:cNvPr id="36" name="Text 31"/>
          <p:cNvSpPr/>
          <p:nvPr/>
        </p:nvSpPr>
        <p:spPr>
          <a:xfrm>
            <a:off x="457200" y="6355080"/>
            <a:ext cx="3657600" cy="320040"/>
          </a:xfrm>
          <a:prstGeom prst="rect">
            <a:avLst/>
          </a:prstGeom>
          <a:noFill/>
          <a:ln/>
        </p:spPr>
        <p:txBody>
          <a:bodyPr wrap="square" rtlCol="0" anchor="ctr"/>
          <a:lstStyle/>
          <a:p>
            <a:pPr marL="0" indent="0" algn="l">
              <a:buNone/>
            </a:pPr>
            <a:r>
              <a:rPr lang="en-US" sz="900" dirty="0">
                <a:solidFill>
                  <a:srgbClr val="9AAFAC"/>
                </a:solidFill>
                <a:latin typeface="Calibri" pitchFamily="34" charset="0"/>
                <a:ea typeface="Calibri" pitchFamily="34" charset="-122"/>
                <a:cs typeface="Calibri" pitchFamily="34" charset="-120"/>
              </a:rPr>
              <a:t>مدرسة الصحة العمومية بسيليبابي</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22960" y="457200"/>
            <a:ext cx="8229600" cy="594360"/>
          </a:xfrm>
          <a:prstGeom prst="rect">
            <a:avLst/>
          </a:prstGeom>
          <a:noFill/>
          <a:ln/>
        </p:spPr>
        <p:txBody>
          <a:bodyPr wrap="square" lIns="0" tIns="0" rIns="0" bIns="0" rtlCol="0" anchor="ctr"/>
          <a:lstStyle/>
          <a:p>
            <a:pPr marL="0" indent="0" algn="r">
              <a:buNone/>
            </a:pPr>
            <a:r>
              <a:rPr lang="en-US" sz="2700" b="1" dirty="0">
                <a:solidFill>
                  <a:srgbClr val="0B3D3A"/>
                </a:solidFill>
                <a:latin typeface="Cambria" pitchFamily="34" charset="0"/>
                <a:ea typeface="Cambria" pitchFamily="34" charset="-122"/>
                <a:cs typeface="Cambria" pitchFamily="34" charset="-120"/>
              </a:rPr>
              <a:t>إنجاز 15 استشارة خارجية</a:t>
            </a:r>
            <a:endParaRPr lang="en-US" sz="2700" dirty="0"/>
          </a:p>
        </p:txBody>
      </p:sp>
      <p:sp>
        <p:nvSpPr>
          <p:cNvPr id="3" name="Text 1"/>
          <p:cNvSpPr/>
          <p:nvPr/>
        </p:nvSpPr>
        <p:spPr>
          <a:xfrm>
            <a:off x="822960" y="987552"/>
            <a:ext cx="8686800" cy="365760"/>
          </a:xfrm>
          <a:prstGeom prst="rect">
            <a:avLst/>
          </a:prstGeom>
          <a:noFill/>
          <a:ln/>
        </p:spPr>
        <p:txBody>
          <a:bodyPr wrap="square" lIns="0" tIns="0" rIns="0" bIns="0" rtlCol="0" anchor="ctr"/>
          <a:lstStyle/>
          <a:p>
            <a:pPr marL="0" indent="0" algn="r">
              <a:buNone/>
            </a:pPr>
            <a:r>
              <a:rPr lang="en-US" sz="1300" dirty="0">
                <a:solidFill>
                  <a:srgbClr val="5B6F6C"/>
                </a:solidFill>
                <a:latin typeface="Calibri" pitchFamily="34" charset="0"/>
                <a:ea typeface="Calibri" pitchFamily="34" charset="-122"/>
                <a:cs typeface="Calibri" pitchFamily="34" charset="-120"/>
              </a:rPr>
              <a:t>توزيع الحالات حسب الفئة العمرية والمسافة عن المركز الصحي</a:t>
            </a:r>
            <a:endParaRPr lang="en-US" sz="1300" dirty="0"/>
          </a:p>
        </p:txBody>
      </p:sp>
      <p:pic>
        <p:nvPicPr>
          <p:cNvPr id="4" name="Image 0" descr="icons/clipboard_teal.png"/>
          <p:cNvPicPr>
            <a:picLocks noChangeAspect="1"/>
          </p:cNvPicPr>
          <p:nvPr/>
        </p:nvPicPr>
        <p:blipFill>
          <a:blip r:embed="rId3"/>
          <a:stretch>
            <a:fillRect/>
          </a:stretch>
        </p:blipFill>
        <p:spPr>
          <a:xfrm>
            <a:off x="10698480" y="457200"/>
            <a:ext cx="502920" cy="502920"/>
          </a:xfrm>
          <a:prstGeom prst="rect">
            <a:avLst/>
          </a:prstGeom>
        </p:spPr>
      </p:pic>
      <p:sp>
        <p:nvSpPr>
          <p:cNvPr id="5" name="Shape 2"/>
          <p:cNvSpPr/>
          <p:nvPr/>
        </p:nvSpPr>
        <p:spPr>
          <a:xfrm>
            <a:off x="822960" y="1600200"/>
            <a:ext cx="3429000" cy="1188720"/>
          </a:xfrm>
          <a:prstGeom prst="roundRect">
            <a:avLst>
              <a:gd name="adj" fmla="val 7692"/>
            </a:avLst>
          </a:prstGeom>
          <a:solidFill>
            <a:srgbClr val="FFFFFF"/>
          </a:solidFill>
          <a:ln/>
          <a:effectLst>
            <a:outerShdw blurRad="76200" dist="25400" dir="5400000" algn="bl" rotWithShape="0">
              <a:srgbClr val="0B3D3A">
                <a:alpha val="7000"/>
              </a:srgbClr>
            </a:outerShdw>
          </a:effectLst>
        </p:spPr>
      </p:sp>
      <p:sp>
        <p:nvSpPr>
          <p:cNvPr id="6" name="Text 3"/>
          <p:cNvSpPr/>
          <p:nvPr/>
        </p:nvSpPr>
        <p:spPr>
          <a:xfrm>
            <a:off x="1005840" y="1719072"/>
            <a:ext cx="3063240" cy="594360"/>
          </a:xfrm>
          <a:prstGeom prst="rect">
            <a:avLst/>
          </a:prstGeom>
          <a:noFill/>
          <a:ln/>
        </p:spPr>
        <p:txBody>
          <a:bodyPr wrap="square" lIns="0" tIns="0" rIns="0" bIns="0" rtlCol="0" anchor="ctr"/>
          <a:lstStyle/>
          <a:p>
            <a:pPr marL="0" indent="0" algn="r">
              <a:buNone/>
            </a:pPr>
            <a:r>
              <a:rPr lang="en-US" sz="3400" b="1" dirty="0">
                <a:solidFill>
                  <a:srgbClr val="117A65"/>
                </a:solidFill>
                <a:latin typeface="Cambria" pitchFamily="34" charset="0"/>
                <a:ea typeface="Cambria" pitchFamily="34" charset="-122"/>
                <a:cs typeface="Cambria" pitchFamily="34" charset="-120"/>
              </a:rPr>
              <a:t>15</a:t>
            </a:r>
            <a:endParaRPr lang="en-US" sz="3400" dirty="0"/>
          </a:p>
        </p:txBody>
      </p:sp>
      <p:sp>
        <p:nvSpPr>
          <p:cNvPr id="7" name="Text 4"/>
          <p:cNvSpPr/>
          <p:nvPr/>
        </p:nvSpPr>
        <p:spPr>
          <a:xfrm>
            <a:off x="1005840" y="2359152"/>
            <a:ext cx="3063240" cy="365760"/>
          </a:xfrm>
          <a:prstGeom prst="rect">
            <a:avLst/>
          </a:prstGeom>
          <a:noFill/>
          <a:ln/>
        </p:spPr>
        <p:txBody>
          <a:bodyPr wrap="square" lIns="0" tIns="0" rIns="0" bIns="0" rtlCol="0" anchor="ctr"/>
          <a:lstStyle/>
          <a:p>
            <a:pPr marL="0" indent="0" algn="r">
              <a:buNone/>
            </a:pPr>
            <a:r>
              <a:rPr lang="en-US" sz="1200" dirty="0">
                <a:solidFill>
                  <a:srgbClr val="5B6F6C"/>
                </a:solidFill>
                <a:latin typeface="Calibri" pitchFamily="34" charset="0"/>
                <a:ea typeface="Calibri" pitchFamily="34" charset="-122"/>
                <a:cs typeface="Calibri" pitchFamily="34" charset="-120"/>
              </a:rPr>
              <a:t>استشارة منجزة</a:t>
            </a:r>
            <a:endParaRPr lang="en-US" sz="1200" dirty="0"/>
          </a:p>
        </p:txBody>
      </p:sp>
      <p:sp>
        <p:nvSpPr>
          <p:cNvPr id="8" name="Shape 5"/>
          <p:cNvSpPr/>
          <p:nvPr/>
        </p:nvSpPr>
        <p:spPr>
          <a:xfrm>
            <a:off x="4480560" y="1600200"/>
            <a:ext cx="3429000" cy="1188720"/>
          </a:xfrm>
          <a:prstGeom prst="roundRect">
            <a:avLst>
              <a:gd name="adj" fmla="val 7692"/>
            </a:avLst>
          </a:prstGeom>
          <a:solidFill>
            <a:srgbClr val="FFFFFF"/>
          </a:solidFill>
          <a:ln/>
          <a:effectLst>
            <a:outerShdw blurRad="76200" dist="25400" dir="5400000" algn="bl" rotWithShape="0">
              <a:srgbClr val="0B3D3A">
                <a:alpha val="7000"/>
              </a:srgbClr>
            </a:outerShdw>
          </a:effectLst>
        </p:spPr>
      </p:sp>
      <p:sp>
        <p:nvSpPr>
          <p:cNvPr id="9" name="Text 6"/>
          <p:cNvSpPr/>
          <p:nvPr/>
        </p:nvSpPr>
        <p:spPr>
          <a:xfrm>
            <a:off x="4663440" y="1719072"/>
            <a:ext cx="3063240" cy="594360"/>
          </a:xfrm>
          <a:prstGeom prst="rect">
            <a:avLst/>
          </a:prstGeom>
          <a:noFill/>
          <a:ln/>
        </p:spPr>
        <p:txBody>
          <a:bodyPr wrap="square" lIns="0" tIns="0" rIns="0" bIns="0" rtlCol="0" anchor="ctr"/>
          <a:lstStyle/>
          <a:p>
            <a:pPr marL="0" indent="0" algn="r">
              <a:buNone/>
            </a:pPr>
            <a:r>
              <a:rPr lang="en-US" sz="3400" b="1" dirty="0">
                <a:solidFill>
                  <a:srgbClr val="117A65"/>
                </a:solidFill>
                <a:latin typeface="Cambria" pitchFamily="34" charset="0"/>
                <a:ea typeface="Cambria" pitchFamily="34" charset="-122"/>
                <a:cs typeface="Cambria" pitchFamily="34" charset="-120"/>
              </a:rPr>
              <a:t>12</a:t>
            </a:r>
            <a:endParaRPr lang="en-US" sz="3400" dirty="0"/>
          </a:p>
        </p:txBody>
      </p:sp>
      <p:sp>
        <p:nvSpPr>
          <p:cNvPr id="10" name="Text 7"/>
          <p:cNvSpPr/>
          <p:nvPr/>
        </p:nvSpPr>
        <p:spPr>
          <a:xfrm>
            <a:off x="4663440" y="2359152"/>
            <a:ext cx="3063240" cy="365760"/>
          </a:xfrm>
          <a:prstGeom prst="rect">
            <a:avLst/>
          </a:prstGeom>
          <a:noFill/>
          <a:ln/>
        </p:spPr>
        <p:txBody>
          <a:bodyPr wrap="square" lIns="0" tIns="0" rIns="0" bIns="0" rtlCol="0" anchor="ctr"/>
          <a:lstStyle/>
          <a:p>
            <a:pPr marL="0" indent="0" algn="r">
              <a:buNone/>
            </a:pPr>
            <a:r>
              <a:rPr lang="en-US" sz="1200" dirty="0">
                <a:solidFill>
                  <a:srgbClr val="5B6F6C"/>
                </a:solidFill>
                <a:latin typeface="Calibri" pitchFamily="34" charset="0"/>
                <a:ea typeface="Calibri" pitchFamily="34" charset="-122"/>
                <a:cs typeface="Calibri" pitchFamily="34" charset="-120"/>
              </a:rPr>
              <a:t>أقل من 5 كلم</a:t>
            </a:r>
            <a:endParaRPr lang="en-US" sz="1200" dirty="0"/>
          </a:p>
        </p:txBody>
      </p:sp>
      <p:sp>
        <p:nvSpPr>
          <p:cNvPr id="11" name="Shape 8"/>
          <p:cNvSpPr/>
          <p:nvPr/>
        </p:nvSpPr>
        <p:spPr>
          <a:xfrm>
            <a:off x="8138160" y="1600200"/>
            <a:ext cx="3429000" cy="1188720"/>
          </a:xfrm>
          <a:prstGeom prst="roundRect">
            <a:avLst>
              <a:gd name="adj" fmla="val 7692"/>
            </a:avLst>
          </a:prstGeom>
          <a:solidFill>
            <a:srgbClr val="FFFFFF"/>
          </a:solidFill>
          <a:ln/>
          <a:effectLst>
            <a:outerShdw blurRad="76200" dist="25400" dir="5400000" algn="bl" rotWithShape="0">
              <a:srgbClr val="0B3D3A">
                <a:alpha val="7000"/>
              </a:srgbClr>
            </a:outerShdw>
          </a:effectLst>
        </p:spPr>
      </p:sp>
      <p:sp>
        <p:nvSpPr>
          <p:cNvPr id="12" name="Text 9"/>
          <p:cNvSpPr/>
          <p:nvPr/>
        </p:nvSpPr>
        <p:spPr>
          <a:xfrm>
            <a:off x="8321040" y="1719072"/>
            <a:ext cx="3063240" cy="594360"/>
          </a:xfrm>
          <a:prstGeom prst="rect">
            <a:avLst/>
          </a:prstGeom>
          <a:noFill/>
          <a:ln/>
        </p:spPr>
        <p:txBody>
          <a:bodyPr wrap="square" lIns="0" tIns="0" rIns="0" bIns="0" rtlCol="0" anchor="ctr"/>
          <a:lstStyle/>
          <a:p>
            <a:pPr marL="0" indent="0" algn="r">
              <a:buNone/>
            </a:pPr>
            <a:r>
              <a:rPr lang="en-US" sz="3400" b="1" dirty="0">
                <a:solidFill>
                  <a:srgbClr val="117A65"/>
                </a:solidFill>
                <a:latin typeface="Cambria" pitchFamily="34" charset="0"/>
                <a:ea typeface="Cambria" pitchFamily="34" charset="-122"/>
                <a:cs typeface="Cambria" pitchFamily="34" charset="-120"/>
              </a:rPr>
              <a:t>3</a:t>
            </a:r>
            <a:endParaRPr lang="en-US" sz="3400" dirty="0"/>
          </a:p>
        </p:txBody>
      </p:sp>
      <p:sp>
        <p:nvSpPr>
          <p:cNvPr id="13" name="Text 10"/>
          <p:cNvSpPr/>
          <p:nvPr/>
        </p:nvSpPr>
        <p:spPr>
          <a:xfrm>
            <a:off x="8321040" y="2359152"/>
            <a:ext cx="3063240" cy="365760"/>
          </a:xfrm>
          <a:prstGeom prst="rect">
            <a:avLst/>
          </a:prstGeom>
          <a:noFill/>
          <a:ln/>
        </p:spPr>
        <p:txBody>
          <a:bodyPr wrap="square" lIns="0" tIns="0" rIns="0" bIns="0" rtlCol="0" anchor="ctr"/>
          <a:lstStyle/>
          <a:p>
            <a:pPr marL="0" indent="0" algn="r">
              <a:buNone/>
            </a:pPr>
            <a:r>
              <a:rPr lang="en-US" sz="1200" dirty="0">
                <a:solidFill>
                  <a:srgbClr val="5B6F6C"/>
                </a:solidFill>
                <a:latin typeface="Calibri" pitchFamily="34" charset="0"/>
                <a:ea typeface="Calibri" pitchFamily="34" charset="-122"/>
                <a:cs typeface="Calibri" pitchFamily="34" charset="-120"/>
              </a:rPr>
              <a:t>أكثر من 5 كلم</a:t>
            </a:r>
            <a:endParaRPr lang="en-US" sz="1200" dirty="0"/>
          </a:p>
        </p:txBody>
      </p:sp>
      <p:sp>
        <p:nvSpPr>
          <p:cNvPr id="14" name="Shape 11"/>
          <p:cNvSpPr/>
          <p:nvPr/>
        </p:nvSpPr>
        <p:spPr>
          <a:xfrm>
            <a:off x="822960" y="2971800"/>
            <a:ext cx="10515600" cy="3108960"/>
          </a:xfrm>
          <a:prstGeom prst="roundRect">
            <a:avLst>
              <a:gd name="adj" fmla="val 2941"/>
            </a:avLst>
          </a:prstGeom>
          <a:solidFill>
            <a:srgbClr val="FFFFFF"/>
          </a:solidFill>
          <a:ln/>
          <a:effectLst>
            <a:outerShdw blurRad="101600" dist="25400" dir="5400000" algn="bl" rotWithShape="0">
              <a:srgbClr val="0B3D3A">
                <a:alpha val="8000"/>
              </a:srgbClr>
            </a:outerShdw>
          </a:effectLst>
        </p:spPr>
      </p:sp>
      <p:sp>
        <p:nvSpPr>
          <p:cNvPr id="15" name="Text 12"/>
          <p:cNvSpPr/>
          <p:nvPr/>
        </p:nvSpPr>
        <p:spPr>
          <a:xfrm>
            <a:off x="1097280" y="3154680"/>
            <a:ext cx="7315200" cy="365760"/>
          </a:xfrm>
          <a:prstGeom prst="rect">
            <a:avLst/>
          </a:prstGeom>
          <a:noFill/>
          <a:ln/>
        </p:spPr>
        <p:txBody>
          <a:bodyPr wrap="square" lIns="0" tIns="0" rIns="0" bIns="0" rtlCol="0" anchor="ctr"/>
          <a:lstStyle/>
          <a:p>
            <a:pPr marL="0" indent="0" algn="r">
              <a:buNone/>
            </a:pPr>
            <a:r>
              <a:rPr lang="en-US" sz="1500" b="1" dirty="0">
                <a:solidFill>
                  <a:srgbClr val="0B3D3A"/>
                </a:solidFill>
                <a:latin typeface="Cambria" pitchFamily="34" charset="0"/>
                <a:ea typeface="Cambria" pitchFamily="34" charset="-122"/>
                <a:cs typeface="Cambria" pitchFamily="34" charset="-120"/>
              </a:rPr>
              <a:t>أبرز الشكاوى المسجّلة وأسلوب العلاج</a:t>
            </a:r>
            <a:endParaRPr lang="en-US" sz="1500" dirty="0"/>
          </a:p>
        </p:txBody>
      </p:sp>
      <p:sp>
        <p:nvSpPr>
          <p:cNvPr id="16" name="Text 13"/>
          <p:cNvSpPr/>
          <p:nvPr/>
        </p:nvSpPr>
        <p:spPr>
          <a:xfrm>
            <a:off x="1097280" y="3703320"/>
            <a:ext cx="4572000" cy="411480"/>
          </a:xfrm>
          <a:prstGeom prst="rect">
            <a:avLst/>
          </a:prstGeom>
          <a:noFill/>
          <a:ln/>
        </p:spPr>
        <p:txBody>
          <a:bodyPr wrap="square" lIns="0" tIns="0" rIns="0" bIns="0" rtlCol="0" anchor="ctr"/>
          <a:lstStyle/>
          <a:p>
            <a:pPr marL="0" indent="0" algn="r">
              <a:buNone/>
            </a:pPr>
            <a:r>
              <a:rPr lang="en-US" sz="1350" b="1" dirty="0">
                <a:solidFill>
                  <a:srgbClr val="1B2B28"/>
                </a:solidFill>
                <a:latin typeface="Calibri" pitchFamily="34" charset="0"/>
                <a:ea typeface="Calibri" pitchFamily="34" charset="-122"/>
                <a:cs typeface="Calibri" pitchFamily="34" charset="-120"/>
              </a:rPr>
              <a:t>حمى + ألم أسفل الظهر</a:t>
            </a:r>
            <a:endParaRPr lang="en-US" sz="1350" dirty="0"/>
          </a:p>
        </p:txBody>
      </p:sp>
      <p:sp>
        <p:nvSpPr>
          <p:cNvPr id="17" name="Text 14"/>
          <p:cNvSpPr/>
          <p:nvPr/>
        </p:nvSpPr>
        <p:spPr>
          <a:xfrm>
            <a:off x="5760720" y="3703320"/>
            <a:ext cx="5303520" cy="411480"/>
          </a:xfrm>
          <a:prstGeom prst="rect">
            <a:avLst/>
          </a:prstGeom>
          <a:noFill/>
          <a:ln/>
        </p:spPr>
        <p:txBody>
          <a:bodyPr wrap="square" lIns="0" tIns="0" rIns="0" bIns="0" rtlCol="0" anchor="ctr"/>
          <a:lstStyle/>
          <a:p>
            <a:pPr marL="0" indent="0" algn="r">
              <a:buNone/>
            </a:pPr>
            <a:r>
              <a:rPr lang="en-US" sz="1250" dirty="0">
                <a:solidFill>
                  <a:srgbClr val="117A65"/>
                </a:solidFill>
                <a:latin typeface="Calibri" pitchFamily="34" charset="0"/>
                <a:ea typeface="Calibri" pitchFamily="34" charset="-122"/>
                <a:cs typeface="Calibri" pitchFamily="34" charset="-120"/>
              </a:rPr>
              <a:t>Dolipran 1g + Diclofenac gel + Lomac 20mg</a:t>
            </a:r>
            <a:endParaRPr lang="en-US" sz="1250" dirty="0"/>
          </a:p>
        </p:txBody>
      </p:sp>
      <p:sp>
        <p:nvSpPr>
          <p:cNvPr id="18" name="Shape 15"/>
          <p:cNvSpPr/>
          <p:nvPr/>
        </p:nvSpPr>
        <p:spPr>
          <a:xfrm>
            <a:off x="1097280" y="4114800"/>
            <a:ext cx="9966960" cy="9144"/>
          </a:xfrm>
          <a:prstGeom prst="rect">
            <a:avLst/>
          </a:prstGeom>
          <a:solidFill>
            <a:srgbClr val="EEF0EC"/>
          </a:solidFill>
          <a:ln/>
        </p:spPr>
      </p:sp>
      <p:sp>
        <p:nvSpPr>
          <p:cNvPr id="19" name="Text 16"/>
          <p:cNvSpPr/>
          <p:nvPr/>
        </p:nvSpPr>
        <p:spPr>
          <a:xfrm>
            <a:off x="1097280" y="4206240"/>
            <a:ext cx="4572000" cy="411480"/>
          </a:xfrm>
          <a:prstGeom prst="rect">
            <a:avLst/>
          </a:prstGeom>
          <a:noFill/>
          <a:ln/>
        </p:spPr>
        <p:txBody>
          <a:bodyPr wrap="square" lIns="0" tIns="0" rIns="0" bIns="0" rtlCol="0" anchor="ctr"/>
          <a:lstStyle/>
          <a:p>
            <a:pPr marL="0" indent="0" algn="r">
              <a:buNone/>
            </a:pPr>
            <a:r>
              <a:rPr lang="en-US" sz="1350" b="1" dirty="0">
                <a:solidFill>
                  <a:srgbClr val="1B2B28"/>
                </a:solidFill>
                <a:latin typeface="Calibri" pitchFamily="34" charset="0"/>
                <a:ea typeface="Calibri" pitchFamily="34" charset="-122"/>
                <a:cs typeface="Calibri" pitchFamily="34" charset="-120"/>
              </a:rPr>
              <a:t>إسهال + حرقة معدية</a:t>
            </a:r>
            <a:endParaRPr lang="en-US" sz="1350" dirty="0"/>
          </a:p>
        </p:txBody>
      </p:sp>
      <p:sp>
        <p:nvSpPr>
          <p:cNvPr id="20" name="Text 17"/>
          <p:cNvSpPr/>
          <p:nvPr/>
        </p:nvSpPr>
        <p:spPr>
          <a:xfrm>
            <a:off x="5760720" y="4206240"/>
            <a:ext cx="5303520" cy="411480"/>
          </a:xfrm>
          <a:prstGeom prst="rect">
            <a:avLst/>
          </a:prstGeom>
          <a:noFill/>
          <a:ln/>
        </p:spPr>
        <p:txBody>
          <a:bodyPr wrap="square" lIns="0" tIns="0" rIns="0" bIns="0" rtlCol="0" anchor="ctr"/>
          <a:lstStyle/>
          <a:p>
            <a:pPr marL="0" indent="0" algn="r">
              <a:buNone/>
            </a:pPr>
            <a:r>
              <a:rPr lang="en-US" sz="1250" dirty="0">
                <a:solidFill>
                  <a:srgbClr val="117A65"/>
                </a:solidFill>
                <a:latin typeface="Calibri" pitchFamily="34" charset="0"/>
                <a:ea typeface="Calibri" pitchFamily="34" charset="-122"/>
                <a:cs typeface="Calibri" pitchFamily="34" charset="-120"/>
              </a:rPr>
              <a:t>Flagyl 500mg + Lomac 20mg</a:t>
            </a:r>
            <a:endParaRPr lang="en-US" sz="1250" dirty="0"/>
          </a:p>
        </p:txBody>
      </p:sp>
      <p:sp>
        <p:nvSpPr>
          <p:cNvPr id="21" name="Shape 18"/>
          <p:cNvSpPr/>
          <p:nvPr/>
        </p:nvSpPr>
        <p:spPr>
          <a:xfrm>
            <a:off x="1097280" y="4617720"/>
            <a:ext cx="9966960" cy="9144"/>
          </a:xfrm>
          <a:prstGeom prst="rect">
            <a:avLst/>
          </a:prstGeom>
          <a:solidFill>
            <a:srgbClr val="EEF0EC"/>
          </a:solidFill>
          <a:ln/>
        </p:spPr>
      </p:sp>
      <p:sp>
        <p:nvSpPr>
          <p:cNvPr id="22" name="Text 19"/>
          <p:cNvSpPr/>
          <p:nvPr/>
        </p:nvSpPr>
        <p:spPr>
          <a:xfrm>
            <a:off x="1097280" y="4709160"/>
            <a:ext cx="4572000" cy="411480"/>
          </a:xfrm>
          <a:prstGeom prst="rect">
            <a:avLst/>
          </a:prstGeom>
          <a:noFill/>
          <a:ln/>
        </p:spPr>
        <p:txBody>
          <a:bodyPr wrap="square" lIns="0" tIns="0" rIns="0" bIns="0" rtlCol="0" anchor="ctr"/>
          <a:lstStyle/>
          <a:p>
            <a:pPr marL="0" indent="0" algn="r">
              <a:buNone/>
            </a:pPr>
            <a:r>
              <a:rPr lang="en-US" sz="1350" b="1" dirty="0">
                <a:solidFill>
                  <a:srgbClr val="1B2B28"/>
                </a:solidFill>
                <a:latin typeface="Calibri" pitchFamily="34" charset="0"/>
                <a:ea typeface="Calibri" pitchFamily="34" charset="-122"/>
                <a:cs typeface="Calibri" pitchFamily="34" charset="-120"/>
              </a:rPr>
              <a:t>سعال (Bronchite)</a:t>
            </a:r>
            <a:endParaRPr lang="en-US" sz="1350" dirty="0"/>
          </a:p>
        </p:txBody>
      </p:sp>
      <p:sp>
        <p:nvSpPr>
          <p:cNvPr id="23" name="Text 20"/>
          <p:cNvSpPr/>
          <p:nvPr/>
        </p:nvSpPr>
        <p:spPr>
          <a:xfrm>
            <a:off x="5760720" y="4709160"/>
            <a:ext cx="5303520" cy="411480"/>
          </a:xfrm>
          <a:prstGeom prst="rect">
            <a:avLst/>
          </a:prstGeom>
          <a:noFill/>
          <a:ln/>
        </p:spPr>
        <p:txBody>
          <a:bodyPr wrap="square" lIns="0" tIns="0" rIns="0" bIns="0" rtlCol="0" anchor="ctr"/>
          <a:lstStyle/>
          <a:p>
            <a:pPr marL="0" indent="0" algn="r">
              <a:buNone/>
            </a:pPr>
            <a:r>
              <a:rPr lang="en-US" sz="1250" dirty="0">
                <a:solidFill>
                  <a:srgbClr val="117A65"/>
                </a:solidFill>
                <a:latin typeface="Calibri" pitchFamily="34" charset="0"/>
                <a:ea typeface="Calibri" pitchFamily="34" charset="-122"/>
                <a:cs typeface="Calibri" pitchFamily="34" charset="-120"/>
              </a:rPr>
              <a:t>Amoxi 500mg + Rhinatol</a:t>
            </a:r>
            <a:endParaRPr lang="en-US" sz="1250" dirty="0"/>
          </a:p>
        </p:txBody>
      </p:sp>
      <p:sp>
        <p:nvSpPr>
          <p:cNvPr id="24" name="Shape 21"/>
          <p:cNvSpPr/>
          <p:nvPr/>
        </p:nvSpPr>
        <p:spPr>
          <a:xfrm>
            <a:off x="1097280" y="5120640"/>
            <a:ext cx="9966960" cy="9144"/>
          </a:xfrm>
          <a:prstGeom prst="rect">
            <a:avLst/>
          </a:prstGeom>
          <a:solidFill>
            <a:srgbClr val="EEF0EC"/>
          </a:solidFill>
          <a:ln/>
        </p:spPr>
      </p:sp>
      <p:sp>
        <p:nvSpPr>
          <p:cNvPr id="25" name="Text 22"/>
          <p:cNvSpPr/>
          <p:nvPr/>
        </p:nvSpPr>
        <p:spPr>
          <a:xfrm>
            <a:off x="1097280" y="5212080"/>
            <a:ext cx="4572000" cy="411480"/>
          </a:xfrm>
          <a:prstGeom prst="rect">
            <a:avLst/>
          </a:prstGeom>
          <a:noFill/>
          <a:ln/>
        </p:spPr>
        <p:txBody>
          <a:bodyPr wrap="square" lIns="0" tIns="0" rIns="0" bIns="0" rtlCol="0" anchor="ctr"/>
          <a:lstStyle/>
          <a:p>
            <a:pPr marL="0" indent="0" algn="r">
              <a:buNone/>
            </a:pPr>
            <a:r>
              <a:rPr lang="en-US" sz="1350" b="1" dirty="0">
                <a:solidFill>
                  <a:srgbClr val="1B2B28"/>
                </a:solidFill>
                <a:latin typeface="Calibri" pitchFamily="34" charset="0"/>
                <a:ea typeface="Calibri" pitchFamily="34" charset="-122"/>
                <a:cs typeface="Calibri" pitchFamily="34" charset="-120"/>
              </a:rPr>
              <a:t>ألم في الأسنان</a:t>
            </a:r>
            <a:endParaRPr lang="en-US" sz="1350" dirty="0"/>
          </a:p>
        </p:txBody>
      </p:sp>
      <p:sp>
        <p:nvSpPr>
          <p:cNvPr id="26" name="Text 23"/>
          <p:cNvSpPr/>
          <p:nvPr/>
        </p:nvSpPr>
        <p:spPr>
          <a:xfrm>
            <a:off x="5760720" y="5212080"/>
            <a:ext cx="5303520" cy="411480"/>
          </a:xfrm>
          <a:prstGeom prst="rect">
            <a:avLst/>
          </a:prstGeom>
          <a:noFill/>
          <a:ln/>
        </p:spPr>
        <p:txBody>
          <a:bodyPr wrap="square" lIns="0" tIns="0" rIns="0" bIns="0" rtlCol="0" anchor="ctr"/>
          <a:lstStyle/>
          <a:p>
            <a:pPr marL="0" indent="0" algn="r">
              <a:buNone/>
            </a:pPr>
            <a:r>
              <a:rPr lang="en-US" sz="1250" dirty="0">
                <a:solidFill>
                  <a:srgbClr val="117A65"/>
                </a:solidFill>
                <a:latin typeface="Calibri" pitchFamily="34" charset="0"/>
                <a:ea typeface="Calibri" pitchFamily="34" charset="-122"/>
                <a:cs typeface="Calibri" pitchFamily="34" charset="-120"/>
              </a:rPr>
              <a:t>Dolipran 1g + Amoxi 500mg</a:t>
            </a:r>
            <a:endParaRPr lang="en-US" sz="1250" dirty="0"/>
          </a:p>
        </p:txBody>
      </p:sp>
      <p:sp>
        <p:nvSpPr>
          <p:cNvPr id="27" name="Shape 24"/>
          <p:cNvSpPr/>
          <p:nvPr/>
        </p:nvSpPr>
        <p:spPr>
          <a:xfrm>
            <a:off x="1097280" y="5623560"/>
            <a:ext cx="9966960" cy="9144"/>
          </a:xfrm>
          <a:prstGeom prst="rect">
            <a:avLst/>
          </a:prstGeom>
          <a:solidFill>
            <a:srgbClr val="EEF0EC"/>
          </a:solidFill>
          <a:ln/>
        </p:spPr>
      </p:sp>
      <p:sp>
        <p:nvSpPr>
          <p:cNvPr id="28" name="Text 25"/>
          <p:cNvSpPr/>
          <p:nvPr/>
        </p:nvSpPr>
        <p:spPr>
          <a:xfrm>
            <a:off x="1097280" y="5715000"/>
            <a:ext cx="4572000" cy="411480"/>
          </a:xfrm>
          <a:prstGeom prst="rect">
            <a:avLst/>
          </a:prstGeom>
          <a:noFill/>
          <a:ln/>
        </p:spPr>
        <p:txBody>
          <a:bodyPr wrap="square" lIns="0" tIns="0" rIns="0" bIns="0" rtlCol="0" anchor="ctr"/>
          <a:lstStyle/>
          <a:p>
            <a:pPr marL="0" indent="0" algn="r">
              <a:buNone/>
            </a:pPr>
            <a:r>
              <a:rPr lang="en-US" sz="1350" b="1" dirty="0">
                <a:solidFill>
                  <a:srgbClr val="1B2B28"/>
                </a:solidFill>
                <a:latin typeface="Calibri" pitchFamily="34" charset="0"/>
                <a:ea typeface="Calibri" pitchFamily="34" charset="-122"/>
                <a:cs typeface="Calibri" pitchFamily="34" charset="-120"/>
              </a:rPr>
              <a:t>ألم في المفاصل / الأذن</a:t>
            </a:r>
            <a:endParaRPr lang="en-US" sz="1350" dirty="0"/>
          </a:p>
        </p:txBody>
      </p:sp>
      <p:sp>
        <p:nvSpPr>
          <p:cNvPr id="29" name="Text 26"/>
          <p:cNvSpPr/>
          <p:nvPr/>
        </p:nvSpPr>
        <p:spPr>
          <a:xfrm>
            <a:off x="5760720" y="5715000"/>
            <a:ext cx="5303520" cy="411480"/>
          </a:xfrm>
          <a:prstGeom prst="rect">
            <a:avLst/>
          </a:prstGeom>
          <a:noFill/>
          <a:ln/>
        </p:spPr>
        <p:txBody>
          <a:bodyPr wrap="square" lIns="0" tIns="0" rIns="0" bIns="0" rtlCol="0" anchor="ctr"/>
          <a:lstStyle/>
          <a:p>
            <a:pPr marL="0" indent="0" algn="r">
              <a:buNone/>
            </a:pPr>
            <a:r>
              <a:rPr lang="en-US" sz="1250" dirty="0">
                <a:solidFill>
                  <a:srgbClr val="117A65"/>
                </a:solidFill>
                <a:latin typeface="Calibri" pitchFamily="34" charset="0"/>
                <a:ea typeface="Calibri" pitchFamily="34" charset="-122"/>
                <a:cs typeface="Calibri" pitchFamily="34" charset="-120"/>
              </a:rPr>
              <a:t>Diclofenac gel / Otipax + Ibuprofen</a:t>
            </a:r>
            <a:endParaRPr lang="en-US" sz="1250" dirty="0"/>
          </a:p>
        </p:txBody>
      </p:sp>
      <p:sp>
        <p:nvSpPr>
          <p:cNvPr id="30" name="Text 27"/>
          <p:cNvSpPr/>
          <p:nvPr/>
        </p:nvSpPr>
        <p:spPr>
          <a:xfrm>
            <a:off x="11338560" y="6355080"/>
            <a:ext cx="457200" cy="320040"/>
          </a:xfrm>
          <a:prstGeom prst="rect">
            <a:avLst/>
          </a:prstGeom>
          <a:noFill/>
          <a:ln/>
        </p:spPr>
        <p:txBody>
          <a:bodyPr wrap="square" rtlCol="0" anchor="ctr"/>
          <a:lstStyle/>
          <a:p>
            <a:pPr marL="0" indent="0" algn="ctr">
              <a:buNone/>
            </a:pPr>
            <a:r>
              <a:rPr lang="en-US" sz="1000" dirty="0">
                <a:solidFill>
                  <a:srgbClr val="5B6F6C"/>
                </a:solidFill>
                <a:latin typeface="Calibri" pitchFamily="34" charset="0"/>
                <a:ea typeface="Calibri" pitchFamily="34" charset="-122"/>
                <a:cs typeface="Calibri" pitchFamily="34" charset="-120"/>
              </a:rPr>
              <a:t>10</a:t>
            </a:r>
            <a:endParaRPr lang="en-US" sz="1000" dirty="0"/>
          </a:p>
        </p:txBody>
      </p:sp>
      <p:sp>
        <p:nvSpPr>
          <p:cNvPr id="31" name="Text 28"/>
          <p:cNvSpPr/>
          <p:nvPr/>
        </p:nvSpPr>
        <p:spPr>
          <a:xfrm>
            <a:off x="457200" y="6355080"/>
            <a:ext cx="3657600" cy="320040"/>
          </a:xfrm>
          <a:prstGeom prst="rect">
            <a:avLst/>
          </a:prstGeom>
          <a:noFill/>
          <a:ln/>
        </p:spPr>
        <p:txBody>
          <a:bodyPr wrap="square" rtlCol="0" anchor="ctr"/>
          <a:lstStyle/>
          <a:p>
            <a:pPr marL="0" indent="0" algn="l">
              <a:buNone/>
            </a:pPr>
            <a:r>
              <a:rPr lang="en-US" sz="900" dirty="0">
                <a:solidFill>
                  <a:srgbClr val="9AAFAC"/>
                </a:solidFill>
                <a:latin typeface="Calibri" pitchFamily="34" charset="0"/>
                <a:ea typeface="Calibri" pitchFamily="34" charset="-122"/>
                <a:cs typeface="Calibri" pitchFamily="34" charset="-120"/>
              </a:rPr>
              <a:t>مدرسة الصحة العمومية بسيليبابي</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22960" y="457200"/>
            <a:ext cx="8686800" cy="594360"/>
          </a:xfrm>
          <a:prstGeom prst="rect">
            <a:avLst/>
          </a:prstGeom>
          <a:noFill/>
          <a:ln/>
        </p:spPr>
        <p:txBody>
          <a:bodyPr wrap="square" lIns="0" tIns="0" rIns="0" bIns="0" rtlCol="0" anchor="ctr"/>
          <a:lstStyle/>
          <a:p>
            <a:pPr marL="0" indent="0" algn="r">
              <a:buNone/>
            </a:pPr>
            <a:r>
              <a:rPr lang="en-US" sz="2600" b="1" dirty="0">
                <a:solidFill>
                  <a:srgbClr val="0B3D3A"/>
                </a:solidFill>
                <a:latin typeface="Cambria" pitchFamily="34" charset="0"/>
                <a:ea typeface="Cambria" pitchFamily="34" charset="-122"/>
                <a:cs typeface="Cambria" pitchFamily="34" charset="-120"/>
              </a:rPr>
              <a:t>إعداد وتنفيذ 5 مخططات علاجية</a:t>
            </a:r>
            <a:endParaRPr lang="en-US" sz="2600" dirty="0"/>
          </a:p>
        </p:txBody>
      </p:sp>
      <p:pic>
        <p:nvPicPr>
          <p:cNvPr id="3" name="Image 0" descr="icons/notesMedical_teal.png"/>
          <p:cNvPicPr>
            <a:picLocks noChangeAspect="1"/>
          </p:cNvPicPr>
          <p:nvPr/>
        </p:nvPicPr>
        <p:blipFill>
          <a:blip r:embed="rId3"/>
          <a:stretch>
            <a:fillRect/>
          </a:stretch>
        </p:blipFill>
        <p:spPr>
          <a:xfrm>
            <a:off x="10698480" y="457200"/>
            <a:ext cx="502920" cy="502920"/>
          </a:xfrm>
          <a:prstGeom prst="rect">
            <a:avLst/>
          </a:prstGeom>
        </p:spPr>
      </p:pic>
      <p:sp>
        <p:nvSpPr>
          <p:cNvPr id="4" name="Shape 1"/>
          <p:cNvSpPr/>
          <p:nvPr/>
        </p:nvSpPr>
        <p:spPr>
          <a:xfrm>
            <a:off x="768096" y="1554480"/>
            <a:ext cx="1993392" cy="4160520"/>
          </a:xfrm>
          <a:prstGeom prst="roundRect">
            <a:avLst>
              <a:gd name="adj" fmla="val 4587"/>
            </a:avLst>
          </a:prstGeom>
          <a:solidFill>
            <a:srgbClr val="FFFFFF"/>
          </a:solidFill>
          <a:ln/>
          <a:effectLst>
            <a:outerShdw blurRad="76200" dist="25400" dir="5400000" algn="bl" rotWithShape="0">
              <a:srgbClr val="0B3D3A">
                <a:alpha val="7000"/>
              </a:srgbClr>
            </a:outerShdw>
          </a:effectLst>
        </p:spPr>
      </p:sp>
      <p:sp>
        <p:nvSpPr>
          <p:cNvPr id="5" name="Shape 2"/>
          <p:cNvSpPr/>
          <p:nvPr/>
        </p:nvSpPr>
        <p:spPr>
          <a:xfrm>
            <a:off x="768096" y="1554480"/>
            <a:ext cx="1993392" cy="502920"/>
          </a:xfrm>
          <a:prstGeom prst="roundRect">
            <a:avLst>
              <a:gd name="adj" fmla="val 18182"/>
            </a:avLst>
          </a:prstGeom>
          <a:solidFill>
            <a:srgbClr val="117A65"/>
          </a:solidFill>
          <a:ln/>
        </p:spPr>
      </p:sp>
      <p:sp>
        <p:nvSpPr>
          <p:cNvPr id="6" name="Shape 3"/>
          <p:cNvSpPr/>
          <p:nvPr/>
        </p:nvSpPr>
        <p:spPr>
          <a:xfrm>
            <a:off x="768096" y="1828800"/>
            <a:ext cx="1993392" cy="228600"/>
          </a:xfrm>
          <a:prstGeom prst="rect">
            <a:avLst/>
          </a:prstGeom>
          <a:solidFill>
            <a:srgbClr val="117A65"/>
          </a:solidFill>
          <a:ln/>
        </p:spPr>
      </p:sp>
      <p:sp>
        <p:nvSpPr>
          <p:cNvPr id="7" name="Text 4"/>
          <p:cNvSpPr/>
          <p:nvPr/>
        </p:nvSpPr>
        <p:spPr>
          <a:xfrm>
            <a:off x="768096" y="1645920"/>
            <a:ext cx="1993392"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مخطط 1</a:t>
            </a:r>
            <a:endParaRPr lang="en-US" sz="1300" dirty="0"/>
          </a:p>
        </p:txBody>
      </p:sp>
      <p:sp>
        <p:nvSpPr>
          <p:cNvPr id="8" name="Text 5"/>
          <p:cNvSpPr/>
          <p:nvPr/>
        </p:nvSpPr>
        <p:spPr>
          <a:xfrm>
            <a:off x="859536" y="2194560"/>
            <a:ext cx="1810512" cy="320040"/>
          </a:xfrm>
          <a:prstGeom prst="rect">
            <a:avLst/>
          </a:prstGeom>
          <a:noFill/>
          <a:ln/>
        </p:spPr>
        <p:txBody>
          <a:bodyPr wrap="square" lIns="0" tIns="0" rIns="0" bIns="0" rtlCol="0" anchor="ctr"/>
          <a:lstStyle/>
          <a:p>
            <a:pPr marL="0" indent="0" algn="ctr">
              <a:buNone/>
            </a:pPr>
            <a:r>
              <a:rPr lang="en-US" sz="1500" b="1" dirty="0">
                <a:solidFill>
                  <a:srgbClr val="0B3D3A"/>
                </a:solidFill>
                <a:latin typeface="Cambria" pitchFamily="34" charset="0"/>
                <a:ea typeface="Cambria" pitchFamily="34" charset="-122"/>
                <a:cs typeface="Cambria" pitchFamily="34" charset="-120"/>
              </a:rPr>
              <a:t>66 سنة</a:t>
            </a:r>
            <a:endParaRPr lang="en-US" sz="1500" dirty="0"/>
          </a:p>
        </p:txBody>
      </p:sp>
      <p:sp>
        <p:nvSpPr>
          <p:cNvPr id="9" name="Text 6"/>
          <p:cNvSpPr/>
          <p:nvPr/>
        </p:nvSpPr>
        <p:spPr>
          <a:xfrm>
            <a:off x="859536" y="2487168"/>
            <a:ext cx="1810512" cy="274320"/>
          </a:xfrm>
          <a:prstGeom prst="rect">
            <a:avLst/>
          </a:prstGeom>
          <a:noFill/>
          <a:ln/>
        </p:spPr>
        <p:txBody>
          <a:bodyPr wrap="square" lIns="0" tIns="0" rIns="0" bIns="0" rtlCol="0" anchor="ctr"/>
          <a:lstStyle/>
          <a:p>
            <a:pPr marL="0" indent="0" algn="ctr">
              <a:buNone/>
            </a:pPr>
            <a:r>
              <a:rPr lang="en-US" sz="1100" dirty="0">
                <a:solidFill>
                  <a:srgbClr val="5B6F6C"/>
                </a:solidFill>
                <a:latin typeface="Calibri" pitchFamily="34" charset="0"/>
                <a:ea typeface="Calibri" pitchFamily="34" charset="-122"/>
                <a:cs typeface="Calibri" pitchFamily="34" charset="-120"/>
              </a:rPr>
              <a:t>ذكر</a:t>
            </a:r>
            <a:endParaRPr lang="en-US" sz="1100" dirty="0"/>
          </a:p>
        </p:txBody>
      </p:sp>
      <p:sp>
        <p:nvSpPr>
          <p:cNvPr id="10" name="Shape 7"/>
          <p:cNvSpPr/>
          <p:nvPr/>
        </p:nvSpPr>
        <p:spPr>
          <a:xfrm>
            <a:off x="950976" y="2852928"/>
            <a:ext cx="1627632" cy="9144"/>
          </a:xfrm>
          <a:prstGeom prst="rect">
            <a:avLst/>
          </a:prstGeom>
          <a:solidFill>
            <a:srgbClr val="EEF0EC"/>
          </a:solidFill>
          <a:ln/>
        </p:spPr>
      </p:sp>
      <p:sp>
        <p:nvSpPr>
          <p:cNvPr id="11" name="Text 8"/>
          <p:cNvSpPr/>
          <p:nvPr/>
        </p:nvSpPr>
        <p:spPr>
          <a:xfrm>
            <a:off x="886968" y="2971800"/>
            <a:ext cx="1755648" cy="228600"/>
          </a:xfrm>
          <a:prstGeom prst="rect">
            <a:avLst/>
          </a:prstGeom>
          <a:noFill/>
          <a:ln/>
        </p:spPr>
        <p:txBody>
          <a:bodyPr wrap="square" lIns="0" tIns="0" rIns="0" bIns="0" rtlCol="0" anchor="ctr"/>
          <a:lstStyle/>
          <a:p>
            <a:pPr marL="0" indent="0" algn="ctr">
              <a:buNone/>
            </a:pPr>
            <a:r>
              <a:rPr lang="en-US" sz="900" dirty="0">
                <a:solidFill>
                  <a:srgbClr val="5B6F6C"/>
                </a:solidFill>
                <a:latin typeface="Calibri" pitchFamily="34" charset="0"/>
                <a:ea typeface="Calibri" pitchFamily="34" charset="-122"/>
                <a:cs typeface="Calibri" pitchFamily="34" charset="-120"/>
              </a:rPr>
              <a:t>الحالة المرضية</a:t>
            </a:r>
            <a:endParaRPr lang="en-US" sz="900" dirty="0"/>
          </a:p>
        </p:txBody>
      </p:sp>
      <p:sp>
        <p:nvSpPr>
          <p:cNvPr id="12" name="Text 9"/>
          <p:cNvSpPr/>
          <p:nvPr/>
        </p:nvSpPr>
        <p:spPr>
          <a:xfrm>
            <a:off x="886968" y="3200400"/>
            <a:ext cx="1755648" cy="777240"/>
          </a:xfrm>
          <a:prstGeom prst="rect">
            <a:avLst/>
          </a:prstGeom>
          <a:noFill/>
          <a:ln/>
        </p:spPr>
        <p:txBody>
          <a:bodyPr wrap="square" lIns="0" tIns="0" rIns="0" bIns="0" rtlCol="0" anchor="t"/>
          <a:lstStyle/>
          <a:p>
            <a:pPr marL="0" indent="0" algn="ctr">
              <a:buNone/>
            </a:pPr>
            <a:r>
              <a:rPr lang="en-US" sz="1100" b="1" dirty="0">
                <a:solidFill>
                  <a:srgbClr val="1B2B28"/>
                </a:solidFill>
                <a:latin typeface="Calibri" pitchFamily="34" charset="0"/>
                <a:ea typeface="Calibri" pitchFamily="34" charset="-122"/>
                <a:cs typeface="Calibri" pitchFamily="34" charset="-120"/>
              </a:rPr>
              <a:t>ألم على مستوى المعدة</a:t>
            </a:r>
            <a:endParaRPr lang="en-US" sz="1100" dirty="0"/>
          </a:p>
        </p:txBody>
      </p:sp>
      <p:sp>
        <p:nvSpPr>
          <p:cNvPr id="13" name="Shape 10"/>
          <p:cNvSpPr/>
          <p:nvPr/>
        </p:nvSpPr>
        <p:spPr>
          <a:xfrm>
            <a:off x="886968" y="5148072"/>
            <a:ext cx="1755648" cy="411480"/>
          </a:xfrm>
          <a:prstGeom prst="roundRect">
            <a:avLst>
              <a:gd name="adj" fmla="val 13333"/>
            </a:avLst>
          </a:prstGeom>
          <a:solidFill>
            <a:srgbClr val="D9F0EA"/>
          </a:solidFill>
          <a:ln/>
        </p:spPr>
      </p:sp>
      <p:sp>
        <p:nvSpPr>
          <p:cNvPr id="14" name="Text 11"/>
          <p:cNvSpPr/>
          <p:nvPr/>
        </p:nvSpPr>
        <p:spPr>
          <a:xfrm>
            <a:off x="886968" y="5148072"/>
            <a:ext cx="1755648" cy="411480"/>
          </a:xfrm>
          <a:prstGeom prst="rect">
            <a:avLst/>
          </a:prstGeom>
          <a:noFill/>
          <a:ln/>
        </p:spPr>
        <p:txBody>
          <a:bodyPr wrap="square" lIns="0" tIns="0" rIns="0" bIns="0" rtlCol="0" anchor="ctr"/>
          <a:lstStyle/>
          <a:p>
            <a:pPr marL="0" indent="0" algn="ctr">
              <a:buNone/>
            </a:pPr>
            <a:r>
              <a:rPr lang="en-US" sz="1000" b="1" dirty="0">
                <a:solidFill>
                  <a:srgbClr val="0B3D3A"/>
                </a:solidFill>
                <a:latin typeface="Calibri" pitchFamily="34" charset="0"/>
                <a:ea typeface="Calibri" pitchFamily="34" charset="-122"/>
                <a:cs typeface="Calibri" pitchFamily="34" charset="-120"/>
              </a:rPr>
              <a:t>6 ساعات حجز</a:t>
            </a:r>
            <a:endParaRPr lang="en-US" sz="1000" dirty="0"/>
          </a:p>
        </p:txBody>
      </p:sp>
      <p:sp>
        <p:nvSpPr>
          <p:cNvPr id="15" name="Shape 12"/>
          <p:cNvSpPr/>
          <p:nvPr/>
        </p:nvSpPr>
        <p:spPr>
          <a:xfrm>
            <a:off x="2926080" y="1554480"/>
            <a:ext cx="1993392" cy="4160520"/>
          </a:xfrm>
          <a:prstGeom prst="roundRect">
            <a:avLst>
              <a:gd name="adj" fmla="val 4587"/>
            </a:avLst>
          </a:prstGeom>
          <a:solidFill>
            <a:srgbClr val="FFFFFF"/>
          </a:solidFill>
          <a:ln/>
          <a:effectLst>
            <a:outerShdw blurRad="76200" dist="25400" dir="5400000" algn="bl" rotWithShape="0">
              <a:srgbClr val="0B3D3A">
                <a:alpha val="7000"/>
              </a:srgbClr>
            </a:outerShdw>
          </a:effectLst>
        </p:spPr>
      </p:sp>
      <p:sp>
        <p:nvSpPr>
          <p:cNvPr id="16" name="Shape 13"/>
          <p:cNvSpPr/>
          <p:nvPr/>
        </p:nvSpPr>
        <p:spPr>
          <a:xfrm>
            <a:off x="2926080" y="1554480"/>
            <a:ext cx="1993392" cy="502920"/>
          </a:xfrm>
          <a:prstGeom prst="roundRect">
            <a:avLst>
              <a:gd name="adj" fmla="val 18182"/>
            </a:avLst>
          </a:prstGeom>
          <a:solidFill>
            <a:srgbClr val="C9A24B"/>
          </a:solidFill>
          <a:ln/>
        </p:spPr>
      </p:sp>
      <p:sp>
        <p:nvSpPr>
          <p:cNvPr id="17" name="Shape 14"/>
          <p:cNvSpPr/>
          <p:nvPr/>
        </p:nvSpPr>
        <p:spPr>
          <a:xfrm>
            <a:off x="2926080" y="1828800"/>
            <a:ext cx="1993392" cy="228600"/>
          </a:xfrm>
          <a:prstGeom prst="rect">
            <a:avLst/>
          </a:prstGeom>
          <a:solidFill>
            <a:srgbClr val="C9A24B"/>
          </a:solidFill>
          <a:ln/>
        </p:spPr>
      </p:sp>
      <p:sp>
        <p:nvSpPr>
          <p:cNvPr id="18" name="Text 15"/>
          <p:cNvSpPr/>
          <p:nvPr/>
        </p:nvSpPr>
        <p:spPr>
          <a:xfrm>
            <a:off x="2926080" y="1645920"/>
            <a:ext cx="1993392"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مخطط 2</a:t>
            </a:r>
            <a:endParaRPr lang="en-US" sz="1300" dirty="0"/>
          </a:p>
        </p:txBody>
      </p:sp>
      <p:sp>
        <p:nvSpPr>
          <p:cNvPr id="19" name="Text 16"/>
          <p:cNvSpPr/>
          <p:nvPr/>
        </p:nvSpPr>
        <p:spPr>
          <a:xfrm>
            <a:off x="3017520" y="2194560"/>
            <a:ext cx="1810512" cy="320040"/>
          </a:xfrm>
          <a:prstGeom prst="rect">
            <a:avLst/>
          </a:prstGeom>
          <a:noFill/>
          <a:ln/>
        </p:spPr>
        <p:txBody>
          <a:bodyPr wrap="square" lIns="0" tIns="0" rIns="0" bIns="0" rtlCol="0" anchor="ctr"/>
          <a:lstStyle/>
          <a:p>
            <a:pPr marL="0" indent="0" algn="ctr">
              <a:buNone/>
            </a:pPr>
            <a:r>
              <a:rPr lang="en-US" sz="1500" b="1" dirty="0">
                <a:solidFill>
                  <a:srgbClr val="0B3D3A"/>
                </a:solidFill>
                <a:latin typeface="Cambria" pitchFamily="34" charset="0"/>
                <a:ea typeface="Cambria" pitchFamily="34" charset="-122"/>
                <a:cs typeface="Cambria" pitchFamily="34" charset="-120"/>
              </a:rPr>
              <a:t>17 سنة</a:t>
            </a:r>
            <a:endParaRPr lang="en-US" sz="1500" dirty="0"/>
          </a:p>
        </p:txBody>
      </p:sp>
      <p:sp>
        <p:nvSpPr>
          <p:cNvPr id="20" name="Text 17"/>
          <p:cNvSpPr/>
          <p:nvPr/>
        </p:nvSpPr>
        <p:spPr>
          <a:xfrm>
            <a:off x="3017520" y="2487168"/>
            <a:ext cx="1810512" cy="274320"/>
          </a:xfrm>
          <a:prstGeom prst="rect">
            <a:avLst/>
          </a:prstGeom>
          <a:noFill/>
          <a:ln/>
        </p:spPr>
        <p:txBody>
          <a:bodyPr wrap="square" lIns="0" tIns="0" rIns="0" bIns="0" rtlCol="0" anchor="ctr"/>
          <a:lstStyle/>
          <a:p>
            <a:pPr marL="0" indent="0" algn="ctr">
              <a:buNone/>
            </a:pPr>
            <a:r>
              <a:rPr lang="en-US" sz="1100" dirty="0">
                <a:solidFill>
                  <a:srgbClr val="5B6F6C"/>
                </a:solidFill>
                <a:latin typeface="Calibri" pitchFamily="34" charset="0"/>
                <a:ea typeface="Calibri" pitchFamily="34" charset="-122"/>
                <a:cs typeface="Calibri" pitchFamily="34" charset="-120"/>
              </a:rPr>
              <a:t>ذكر</a:t>
            </a:r>
            <a:endParaRPr lang="en-US" sz="1100" dirty="0"/>
          </a:p>
        </p:txBody>
      </p:sp>
      <p:sp>
        <p:nvSpPr>
          <p:cNvPr id="21" name="Shape 18"/>
          <p:cNvSpPr/>
          <p:nvPr/>
        </p:nvSpPr>
        <p:spPr>
          <a:xfrm>
            <a:off x="3108960" y="2852928"/>
            <a:ext cx="1627632" cy="9144"/>
          </a:xfrm>
          <a:prstGeom prst="rect">
            <a:avLst/>
          </a:prstGeom>
          <a:solidFill>
            <a:srgbClr val="EEF0EC"/>
          </a:solidFill>
          <a:ln/>
        </p:spPr>
      </p:sp>
      <p:sp>
        <p:nvSpPr>
          <p:cNvPr id="22" name="Text 19"/>
          <p:cNvSpPr/>
          <p:nvPr/>
        </p:nvSpPr>
        <p:spPr>
          <a:xfrm>
            <a:off x="3044952" y="2971800"/>
            <a:ext cx="1755648" cy="228600"/>
          </a:xfrm>
          <a:prstGeom prst="rect">
            <a:avLst/>
          </a:prstGeom>
          <a:noFill/>
          <a:ln/>
        </p:spPr>
        <p:txBody>
          <a:bodyPr wrap="square" lIns="0" tIns="0" rIns="0" bIns="0" rtlCol="0" anchor="ctr"/>
          <a:lstStyle/>
          <a:p>
            <a:pPr marL="0" indent="0" algn="ctr">
              <a:buNone/>
            </a:pPr>
            <a:r>
              <a:rPr lang="en-US" sz="900" dirty="0">
                <a:solidFill>
                  <a:srgbClr val="5B6F6C"/>
                </a:solidFill>
                <a:latin typeface="Calibri" pitchFamily="34" charset="0"/>
                <a:ea typeface="Calibri" pitchFamily="34" charset="-122"/>
                <a:cs typeface="Calibri" pitchFamily="34" charset="-120"/>
              </a:rPr>
              <a:t>الحالة المرضية</a:t>
            </a:r>
            <a:endParaRPr lang="en-US" sz="900" dirty="0"/>
          </a:p>
        </p:txBody>
      </p:sp>
      <p:sp>
        <p:nvSpPr>
          <p:cNvPr id="23" name="Text 20"/>
          <p:cNvSpPr/>
          <p:nvPr/>
        </p:nvSpPr>
        <p:spPr>
          <a:xfrm>
            <a:off x="3044952" y="3200400"/>
            <a:ext cx="1755648" cy="777240"/>
          </a:xfrm>
          <a:prstGeom prst="rect">
            <a:avLst/>
          </a:prstGeom>
          <a:noFill/>
          <a:ln/>
        </p:spPr>
        <p:txBody>
          <a:bodyPr wrap="square" lIns="0" tIns="0" rIns="0" bIns="0" rtlCol="0" anchor="t"/>
          <a:lstStyle/>
          <a:p>
            <a:pPr marL="0" indent="0" algn="ctr">
              <a:buNone/>
            </a:pPr>
            <a:r>
              <a:rPr lang="en-US" sz="1100" b="1" dirty="0">
                <a:solidFill>
                  <a:srgbClr val="1B2B28"/>
                </a:solidFill>
                <a:latin typeface="Calibri" pitchFamily="34" charset="0"/>
                <a:ea typeface="Calibri" pitchFamily="34" charset="-122"/>
                <a:cs typeface="Calibri" pitchFamily="34" charset="-120"/>
              </a:rPr>
              <a:t>حمى</a:t>
            </a:r>
            <a:endParaRPr lang="en-US" sz="1100" dirty="0"/>
          </a:p>
        </p:txBody>
      </p:sp>
      <p:sp>
        <p:nvSpPr>
          <p:cNvPr id="24" name="Shape 21"/>
          <p:cNvSpPr/>
          <p:nvPr/>
        </p:nvSpPr>
        <p:spPr>
          <a:xfrm>
            <a:off x="3044952" y="5148072"/>
            <a:ext cx="1755648" cy="411480"/>
          </a:xfrm>
          <a:prstGeom prst="roundRect">
            <a:avLst>
              <a:gd name="adj" fmla="val 13333"/>
            </a:avLst>
          </a:prstGeom>
          <a:solidFill>
            <a:srgbClr val="D9F0EA"/>
          </a:solidFill>
          <a:ln/>
        </p:spPr>
      </p:sp>
      <p:sp>
        <p:nvSpPr>
          <p:cNvPr id="25" name="Text 22"/>
          <p:cNvSpPr/>
          <p:nvPr/>
        </p:nvSpPr>
        <p:spPr>
          <a:xfrm>
            <a:off x="3044952" y="5148072"/>
            <a:ext cx="1755648" cy="411480"/>
          </a:xfrm>
          <a:prstGeom prst="rect">
            <a:avLst/>
          </a:prstGeom>
          <a:noFill/>
          <a:ln/>
        </p:spPr>
        <p:txBody>
          <a:bodyPr wrap="square" lIns="0" tIns="0" rIns="0" bIns="0" rtlCol="0" anchor="ctr"/>
          <a:lstStyle/>
          <a:p>
            <a:pPr marL="0" indent="0" algn="ctr">
              <a:buNone/>
            </a:pPr>
            <a:r>
              <a:rPr lang="en-US" sz="1000" b="1" dirty="0">
                <a:solidFill>
                  <a:srgbClr val="0B3D3A"/>
                </a:solidFill>
                <a:latin typeface="Calibri" pitchFamily="34" charset="0"/>
                <a:ea typeface="Calibri" pitchFamily="34" charset="-122"/>
                <a:cs typeface="Calibri" pitchFamily="34" charset="-120"/>
              </a:rPr>
              <a:t>9 ساعات حجز</a:t>
            </a:r>
            <a:endParaRPr lang="en-US" sz="1000" dirty="0"/>
          </a:p>
        </p:txBody>
      </p:sp>
      <p:sp>
        <p:nvSpPr>
          <p:cNvPr id="26" name="Shape 23"/>
          <p:cNvSpPr/>
          <p:nvPr/>
        </p:nvSpPr>
        <p:spPr>
          <a:xfrm>
            <a:off x="5084064" y="1554480"/>
            <a:ext cx="1993392" cy="4160520"/>
          </a:xfrm>
          <a:prstGeom prst="roundRect">
            <a:avLst>
              <a:gd name="adj" fmla="val 4587"/>
            </a:avLst>
          </a:prstGeom>
          <a:solidFill>
            <a:srgbClr val="FFFFFF"/>
          </a:solidFill>
          <a:ln/>
          <a:effectLst>
            <a:outerShdw blurRad="76200" dist="25400" dir="5400000" algn="bl" rotWithShape="0">
              <a:srgbClr val="0B3D3A">
                <a:alpha val="7000"/>
              </a:srgbClr>
            </a:outerShdw>
          </a:effectLst>
        </p:spPr>
      </p:sp>
      <p:sp>
        <p:nvSpPr>
          <p:cNvPr id="27" name="Shape 24"/>
          <p:cNvSpPr/>
          <p:nvPr/>
        </p:nvSpPr>
        <p:spPr>
          <a:xfrm>
            <a:off x="5084064" y="1554480"/>
            <a:ext cx="1993392" cy="502920"/>
          </a:xfrm>
          <a:prstGeom prst="roundRect">
            <a:avLst>
              <a:gd name="adj" fmla="val 18182"/>
            </a:avLst>
          </a:prstGeom>
          <a:solidFill>
            <a:srgbClr val="B85C38"/>
          </a:solidFill>
          <a:ln/>
        </p:spPr>
      </p:sp>
      <p:sp>
        <p:nvSpPr>
          <p:cNvPr id="28" name="Shape 25"/>
          <p:cNvSpPr/>
          <p:nvPr/>
        </p:nvSpPr>
        <p:spPr>
          <a:xfrm>
            <a:off x="5084064" y="1828800"/>
            <a:ext cx="1993392" cy="228600"/>
          </a:xfrm>
          <a:prstGeom prst="rect">
            <a:avLst/>
          </a:prstGeom>
          <a:solidFill>
            <a:srgbClr val="B85C38"/>
          </a:solidFill>
          <a:ln/>
        </p:spPr>
      </p:sp>
      <p:sp>
        <p:nvSpPr>
          <p:cNvPr id="29" name="Text 26"/>
          <p:cNvSpPr/>
          <p:nvPr/>
        </p:nvSpPr>
        <p:spPr>
          <a:xfrm>
            <a:off x="5084064" y="1645920"/>
            <a:ext cx="1993392"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مخطط 3</a:t>
            </a:r>
            <a:endParaRPr lang="en-US" sz="1300" dirty="0"/>
          </a:p>
        </p:txBody>
      </p:sp>
      <p:sp>
        <p:nvSpPr>
          <p:cNvPr id="30" name="Text 27"/>
          <p:cNvSpPr/>
          <p:nvPr/>
        </p:nvSpPr>
        <p:spPr>
          <a:xfrm>
            <a:off x="5175504" y="2194560"/>
            <a:ext cx="1810512" cy="320040"/>
          </a:xfrm>
          <a:prstGeom prst="rect">
            <a:avLst/>
          </a:prstGeom>
          <a:noFill/>
          <a:ln/>
        </p:spPr>
        <p:txBody>
          <a:bodyPr wrap="square" lIns="0" tIns="0" rIns="0" bIns="0" rtlCol="0" anchor="ctr"/>
          <a:lstStyle/>
          <a:p>
            <a:pPr marL="0" indent="0" algn="ctr">
              <a:buNone/>
            </a:pPr>
            <a:r>
              <a:rPr lang="en-US" sz="1500" b="1" dirty="0">
                <a:solidFill>
                  <a:srgbClr val="0B3D3A"/>
                </a:solidFill>
                <a:latin typeface="Cambria" pitchFamily="34" charset="0"/>
                <a:ea typeface="Cambria" pitchFamily="34" charset="-122"/>
                <a:cs typeface="Cambria" pitchFamily="34" charset="-120"/>
              </a:rPr>
              <a:t>25 سنة</a:t>
            </a:r>
            <a:endParaRPr lang="en-US" sz="1500" dirty="0"/>
          </a:p>
        </p:txBody>
      </p:sp>
      <p:sp>
        <p:nvSpPr>
          <p:cNvPr id="31" name="Text 28"/>
          <p:cNvSpPr/>
          <p:nvPr/>
        </p:nvSpPr>
        <p:spPr>
          <a:xfrm>
            <a:off x="5175504" y="2487168"/>
            <a:ext cx="1810512" cy="274320"/>
          </a:xfrm>
          <a:prstGeom prst="rect">
            <a:avLst/>
          </a:prstGeom>
          <a:noFill/>
          <a:ln/>
        </p:spPr>
        <p:txBody>
          <a:bodyPr wrap="square" lIns="0" tIns="0" rIns="0" bIns="0" rtlCol="0" anchor="ctr"/>
          <a:lstStyle/>
          <a:p>
            <a:pPr marL="0" indent="0" algn="ctr">
              <a:buNone/>
            </a:pPr>
            <a:r>
              <a:rPr lang="en-US" sz="1100" dirty="0">
                <a:solidFill>
                  <a:srgbClr val="5B6F6C"/>
                </a:solidFill>
                <a:latin typeface="Calibri" pitchFamily="34" charset="0"/>
                <a:ea typeface="Calibri" pitchFamily="34" charset="-122"/>
                <a:cs typeface="Calibri" pitchFamily="34" charset="-120"/>
              </a:rPr>
              <a:t>أنثى</a:t>
            </a:r>
            <a:endParaRPr lang="en-US" sz="1100" dirty="0"/>
          </a:p>
        </p:txBody>
      </p:sp>
      <p:sp>
        <p:nvSpPr>
          <p:cNvPr id="32" name="Shape 29"/>
          <p:cNvSpPr/>
          <p:nvPr/>
        </p:nvSpPr>
        <p:spPr>
          <a:xfrm>
            <a:off x="5266944" y="2852928"/>
            <a:ext cx="1627632" cy="9144"/>
          </a:xfrm>
          <a:prstGeom prst="rect">
            <a:avLst/>
          </a:prstGeom>
          <a:solidFill>
            <a:srgbClr val="EEF0EC"/>
          </a:solidFill>
          <a:ln/>
        </p:spPr>
      </p:sp>
      <p:sp>
        <p:nvSpPr>
          <p:cNvPr id="33" name="Text 30"/>
          <p:cNvSpPr/>
          <p:nvPr/>
        </p:nvSpPr>
        <p:spPr>
          <a:xfrm>
            <a:off x="5202936" y="2971800"/>
            <a:ext cx="1755648" cy="228600"/>
          </a:xfrm>
          <a:prstGeom prst="rect">
            <a:avLst/>
          </a:prstGeom>
          <a:noFill/>
          <a:ln/>
        </p:spPr>
        <p:txBody>
          <a:bodyPr wrap="square" lIns="0" tIns="0" rIns="0" bIns="0" rtlCol="0" anchor="ctr"/>
          <a:lstStyle/>
          <a:p>
            <a:pPr marL="0" indent="0" algn="ctr">
              <a:buNone/>
            </a:pPr>
            <a:r>
              <a:rPr lang="en-US" sz="900" dirty="0">
                <a:solidFill>
                  <a:srgbClr val="5B6F6C"/>
                </a:solidFill>
                <a:latin typeface="Calibri" pitchFamily="34" charset="0"/>
                <a:ea typeface="Calibri" pitchFamily="34" charset="-122"/>
                <a:cs typeface="Calibri" pitchFamily="34" charset="-120"/>
              </a:rPr>
              <a:t>الحالة المرضية</a:t>
            </a:r>
            <a:endParaRPr lang="en-US" sz="900" dirty="0"/>
          </a:p>
        </p:txBody>
      </p:sp>
      <p:sp>
        <p:nvSpPr>
          <p:cNvPr id="34" name="Text 31"/>
          <p:cNvSpPr/>
          <p:nvPr/>
        </p:nvSpPr>
        <p:spPr>
          <a:xfrm>
            <a:off x="5202936" y="3200400"/>
            <a:ext cx="1755648" cy="777240"/>
          </a:xfrm>
          <a:prstGeom prst="rect">
            <a:avLst/>
          </a:prstGeom>
          <a:noFill/>
          <a:ln/>
        </p:spPr>
        <p:txBody>
          <a:bodyPr wrap="square" lIns="0" tIns="0" rIns="0" bIns="0" rtlCol="0" anchor="t"/>
          <a:lstStyle/>
          <a:p>
            <a:pPr marL="0" indent="0" algn="ctr">
              <a:buNone/>
            </a:pPr>
            <a:r>
              <a:rPr lang="en-US" sz="1100" b="1" dirty="0">
                <a:solidFill>
                  <a:srgbClr val="1B2B28"/>
                </a:solidFill>
                <a:latin typeface="Calibri" pitchFamily="34" charset="0"/>
                <a:ea typeface="Calibri" pitchFamily="34" charset="-122"/>
                <a:cs typeface="Calibri" pitchFamily="34" charset="-120"/>
              </a:rPr>
              <a:t>حمى + صداع شديد + دوار</a:t>
            </a:r>
            <a:endParaRPr lang="en-US" sz="1100" dirty="0"/>
          </a:p>
        </p:txBody>
      </p:sp>
      <p:sp>
        <p:nvSpPr>
          <p:cNvPr id="35" name="Shape 32"/>
          <p:cNvSpPr/>
          <p:nvPr/>
        </p:nvSpPr>
        <p:spPr>
          <a:xfrm>
            <a:off x="5202936" y="5148072"/>
            <a:ext cx="1755648" cy="411480"/>
          </a:xfrm>
          <a:prstGeom prst="roundRect">
            <a:avLst>
              <a:gd name="adj" fmla="val 13333"/>
            </a:avLst>
          </a:prstGeom>
          <a:solidFill>
            <a:srgbClr val="D9F0EA"/>
          </a:solidFill>
          <a:ln/>
        </p:spPr>
      </p:sp>
      <p:sp>
        <p:nvSpPr>
          <p:cNvPr id="36" name="Text 33"/>
          <p:cNvSpPr/>
          <p:nvPr/>
        </p:nvSpPr>
        <p:spPr>
          <a:xfrm>
            <a:off x="5202936" y="5148072"/>
            <a:ext cx="1755648" cy="411480"/>
          </a:xfrm>
          <a:prstGeom prst="rect">
            <a:avLst/>
          </a:prstGeom>
          <a:noFill/>
          <a:ln/>
        </p:spPr>
        <p:txBody>
          <a:bodyPr wrap="square" lIns="0" tIns="0" rIns="0" bIns="0" rtlCol="0" anchor="ctr"/>
          <a:lstStyle/>
          <a:p>
            <a:pPr marL="0" indent="0" algn="ctr">
              <a:buNone/>
            </a:pPr>
            <a:r>
              <a:rPr lang="en-US" sz="1000" b="1" dirty="0">
                <a:solidFill>
                  <a:srgbClr val="0B3D3A"/>
                </a:solidFill>
                <a:latin typeface="Calibri" pitchFamily="34" charset="0"/>
                <a:ea typeface="Calibri" pitchFamily="34" charset="-122"/>
                <a:cs typeface="Calibri" pitchFamily="34" charset="-120"/>
              </a:rPr>
              <a:t>5 ساعات حجز</a:t>
            </a:r>
            <a:endParaRPr lang="en-US" sz="1000" dirty="0"/>
          </a:p>
        </p:txBody>
      </p:sp>
      <p:sp>
        <p:nvSpPr>
          <p:cNvPr id="37" name="Shape 34"/>
          <p:cNvSpPr/>
          <p:nvPr/>
        </p:nvSpPr>
        <p:spPr>
          <a:xfrm>
            <a:off x="7242048" y="1554480"/>
            <a:ext cx="1993392" cy="4160520"/>
          </a:xfrm>
          <a:prstGeom prst="roundRect">
            <a:avLst>
              <a:gd name="adj" fmla="val 4587"/>
            </a:avLst>
          </a:prstGeom>
          <a:solidFill>
            <a:srgbClr val="FFFFFF"/>
          </a:solidFill>
          <a:ln/>
          <a:effectLst>
            <a:outerShdw blurRad="76200" dist="25400" dir="5400000" algn="bl" rotWithShape="0">
              <a:srgbClr val="0B3D3A">
                <a:alpha val="7000"/>
              </a:srgbClr>
            </a:outerShdw>
          </a:effectLst>
        </p:spPr>
      </p:sp>
      <p:sp>
        <p:nvSpPr>
          <p:cNvPr id="38" name="Shape 35"/>
          <p:cNvSpPr/>
          <p:nvPr/>
        </p:nvSpPr>
        <p:spPr>
          <a:xfrm>
            <a:off x="7242048" y="1554480"/>
            <a:ext cx="1993392" cy="502920"/>
          </a:xfrm>
          <a:prstGeom prst="roundRect">
            <a:avLst>
              <a:gd name="adj" fmla="val 18182"/>
            </a:avLst>
          </a:prstGeom>
          <a:solidFill>
            <a:srgbClr val="8FAFA8"/>
          </a:solidFill>
          <a:ln/>
        </p:spPr>
      </p:sp>
      <p:sp>
        <p:nvSpPr>
          <p:cNvPr id="39" name="Shape 36"/>
          <p:cNvSpPr/>
          <p:nvPr/>
        </p:nvSpPr>
        <p:spPr>
          <a:xfrm>
            <a:off x="7242048" y="1828800"/>
            <a:ext cx="1993392" cy="228600"/>
          </a:xfrm>
          <a:prstGeom prst="rect">
            <a:avLst/>
          </a:prstGeom>
          <a:solidFill>
            <a:srgbClr val="8FAFA8"/>
          </a:solidFill>
          <a:ln/>
        </p:spPr>
      </p:sp>
      <p:sp>
        <p:nvSpPr>
          <p:cNvPr id="40" name="Text 37"/>
          <p:cNvSpPr/>
          <p:nvPr/>
        </p:nvSpPr>
        <p:spPr>
          <a:xfrm>
            <a:off x="7242048" y="1645920"/>
            <a:ext cx="1993392"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مخطط 4</a:t>
            </a:r>
            <a:endParaRPr lang="en-US" sz="1300" dirty="0"/>
          </a:p>
        </p:txBody>
      </p:sp>
      <p:sp>
        <p:nvSpPr>
          <p:cNvPr id="41" name="Text 38"/>
          <p:cNvSpPr/>
          <p:nvPr/>
        </p:nvSpPr>
        <p:spPr>
          <a:xfrm>
            <a:off x="7333488" y="2194560"/>
            <a:ext cx="1810512" cy="320040"/>
          </a:xfrm>
          <a:prstGeom prst="rect">
            <a:avLst/>
          </a:prstGeom>
          <a:noFill/>
          <a:ln/>
        </p:spPr>
        <p:txBody>
          <a:bodyPr wrap="square" lIns="0" tIns="0" rIns="0" bIns="0" rtlCol="0" anchor="ctr"/>
          <a:lstStyle/>
          <a:p>
            <a:pPr marL="0" indent="0" algn="ctr">
              <a:buNone/>
            </a:pPr>
            <a:r>
              <a:rPr lang="en-US" sz="1500" b="1" dirty="0">
                <a:solidFill>
                  <a:srgbClr val="0B3D3A"/>
                </a:solidFill>
                <a:latin typeface="Cambria" pitchFamily="34" charset="0"/>
                <a:ea typeface="Cambria" pitchFamily="34" charset="-122"/>
                <a:cs typeface="Cambria" pitchFamily="34" charset="-120"/>
              </a:rPr>
              <a:t>33 سنة</a:t>
            </a:r>
            <a:endParaRPr lang="en-US" sz="1500" dirty="0"/>
          </a:p>
        </p:txBody>
      </p:sp>
      <p:sp>
        <p:nvSpPr>
          <p:cNvPr id="42" name="Text 39"/>
          <p:cNvSpPr/>
          <p:nvPr/>
        </p:nvSpPr>
        <p:spPr>
          <a:xfrm>
            <a:off x="7333488" y="2487168"/>
            <a:ext cx="1810512" cy="274320"/>
          </a:xfrm>
          <a:prstGeom prst="rect">
            <a:avLst/>
          </a:prstGeom>
          <a:noFill/>
          <a:ln/>
        </p:spPr>
        <p:txBody>
          <a:bodyPr wrap="square" lIns="0" tIns="0" rIns="0" bIns="0" rtlCol="0" anchor="ctr"/>
          <a:lstStyle/>
          <a:p>
            <a:pPr marL="0" indent="0" algn="ctr">
              <a:buNone/>
            </a:pPr>
            <a:r>
              <a:rPr lang="en-US" sz="1100" dirty="0">
                <a:solidFill>
                  <a:srgbClr val="5B6F6C"/>
                </a:solidFill>
                <a:latin typeface="Calibri" pitchFamily="34" charset="0"/>
                <a:ea typeface="Calibri" pitchFamily="34" charset="-122"/>
                <a:cs typeface="Calibri" pitchFamily="34" charset="-120"/>
              </a:rPr>
              <a:t>ذكر</a:t>
            </a:r>
            <a:endParaRPr lang="en-US" sz="1100" dirty="0"/>
          </a:p>
        </p:txBody>
      </p:sp>
      <p:sp>
        <p:nvSpPr>
          <p:cNvPr id="43" name="Shape 40"/>
          <p:cNvSpPr/>
          <p:nvPr/>
        </p:nvSpPr>
        <p:spPr>
          <a:xfrm>
            <a:off x="7424928" y="2852928"/>
            <a:ext cx="1627632" cy="9144"/>
          </a:xfrm>
          <a:prstGeom prst="rect">
            <a:avLst/>
          </a:prstGeom>
          <a:solidFill>
            <a:srgbClr val="EEF0EC"/>
          </a:solidFill>
          <a:ln/>
        </p:spPr>
      </p:sp>
      <p:sp>
        <p:nvSpPr>
          <p:cNvPr id="44" name="Text 41"/>
          <p:cNvSpPr/>
          <p:nvPr/>
        </p:nvSpPr>
        <p:spPr>
          <a:xfrm>
            <a:off x="7360920" y="2971800"/>
            <a:ext cx="1755648" cy="228600"/>
          </a:xfrm>
          <a:prstGeom prst="rect">
            <a:avLst/>
          </a:prstGeom>
          <a:noFill/>
          <a:ln/>
        </p:spPr>
        <p:txBody>
          <a:bodyPr wrap="square" lIns="0" tIns="0" rIns="0" bIns="0" rtlCol="0" anchor="ctr"/>
          <a:lstStyle/>
          <a:p>
            <a:pPr marL="0" indent="0" algn="ctr">
              <a:buNone/>
            </a:pPr>
            <a:r>
              <a:rPr lang="en-US" sz="900" dirty="0">
                <a:solidFill>
                  <a:srgbClr val="5B6F6C"/>
                </a:solidFill>
                <a:latin typeface="Calibri" pitchFamily="34" charset="0"/>
                <a:ea typeface="Calibri" pitchFamily="34" charset="-122"/>
                <a:cs typeface="Calibri" pitchFamily="34" charset="-120"/>
              </a:rPr>
              <a:t>الحالة المرضية</a:t>
            </a:r>
            <a:endParaRPr lang="en-US" sz="900" dirty="0"/>
          </a:p>
        </p:txBody>
      </p:sp>
      <p:sp>
        <p:nvSpPr>
          <p:cNvPr id="45" name="Text 42"/>
          <p:cNvSpPr/>
          <p:nvPr/>
        </p:nvSpPr>
        <p:spPr>
          <a:xfrm>
            <a:off x="7360920" y="3200400"/>
            <a:ext cx="1755648" cy="777240"/>
          </a:xfrm>
          <a:prstGeom prst="rect">
            <a:avLst/>
          </a:prstGeom>
          <a:noFill/>
          <a:ln/>
        </p:spPr>
        <p:txBody>
          <a:bodyPr wrap="square" lIns="0" tIns="0" rIns="0" bIns="0" rtlCol="0" anchor="t"/>
          <a:lstStyle/>
          <a:p>
            <a:pPr marL="0" indent="0" algn="ctr">
              <a:buNone/>
            </a:pPr>
            <a:r>
              <a:rPr lang="en-US" sz="1100" b="1" dirty="0">
                <a:solidFill>
                  <a:srgbClr val="1B2B28"/>
                </a:solidFill>
                <a:latin typeface="Calibri" pitchFamily="34" charset="0"/>
                <a:ea typeface="Calibri" pitchFamily="34" charset="-122"/>
                <a:cs typeface="Calibri" pitchFamily="34" charset="-120"/>
              </a:rPr>
              <a:t>ألم في المفاصل</a:t>
            </a:r>
            <a:endParaRPr lang="en-US" sz="1100" dirty="0"/>
          </a:p>
        </p:txBody>
      </p:sp>
      <p:sp>
        <p:nvSpPr>
          <p:cNvPr id="46" name="Shape 43"/>
          <p:cNvSpPr/>
          <p:nvPr/>
        </p:nvSpPr>
        <p:spPr>
          <a:xfrm>
            <a:off x="7360920" y="5148072"/>
            <a:ext cx="1755648" cy="411480"/>
          </a:xfrm>
          <a:prstGeom prst="roundRect">
            <a:avLst>
              <a:gd name="adj" fmla="val 13333"/>
            </a:avLst>
          </a:prstGeom>
          <a:solidFill>
            <a:srgbClr val="D9F0EA"/>
          </a:solidFill>
          <a:ln/>
        </p:spPr>
      </p:sp>
      <p:sp>
        <p:nvSpPr>
          <p:cNvPr id="47" name="Text 44"/>
          <p:cNvSpPr/>
          <p:nvPr/>
        </p:nvSpPr>
        <p:spPr>
          <a:xfrm>
            <a:off x="7360920" y="5148072"/>
            <a:ext cx="1755648" cy="411480"/>
          </a:xfrm>
          <a:prstGeom prst="rect">
            <a:avLst/>
          </a:prstGeom>
          <a:noFill/>
          <a:ln/>
        </p:spPr>
        <p:txBody>
          <a:bodyPr wrap="square" lIns="0" tIns="0" rIns="0" bIns="0" rtlCol="0" anchor="ctr"/>
          <a:lstStyle/>
          <a:p>
            <a:pPr marL="0" indent="0" algn="ctr">
              <a:buNone/>
            </a:pPr>
            <a:r>
              <a:rPr lang="en-US" sz="1000" b="1" dirty="0">
                <a:solidFill>
                  <a:srgbClr val="0B3D3A"/>
                </a:solidFill>
                <a:latin typeface="Calibri" pitchFamily="34" charset="0"/>
                <a:ea typeface="Calibri" pitchFamily="34" charset="-122"/>
                <a:cs typeface="Calibri" pitchFamily="34" charset="-120"/>
              </a:rPr>
              <a:t>لم يتم الحجز</a:t>
            </a:r>
            <a:endParaRPr lang="en-US" sz="1000" dirty="0"/>
          </a:p>
        </p:txBody>
      </p:sp>
      <p:sp>
        <p:nvSpPr>
          <p:cNvPr id="48" name="Shape 45"/>
          <p:cNvSpPr/>
          <p:nvPr/>
        </p:nvSpPr>
        <p:spPr>
          <a:xfrm>
            <a:off x="9400032" y="1554480"/>
            <a:ext cx="1993392" cy="4160520"/>
          </a:xfrm>
          <a:prstGeom prst="roundRect">
            <a:avLst>
              <a:gd name="adj" fmla="val 4587"/>
            </a:avLst>
          </a:prstGeom>
          <a:solidFill>
            <a:srgbClr val="FFFFFF"/>
          </a:solidFill>
          <a:ln/>
          <a:effectLst>
            <a:outerShdw blurRad="76200" dist="25400" dir="5400000" algn="bl" rotWithShape="0">
              <a:srgbClr val="0B3D3A">
                <a:alpha val="7000"/>
              </a:srgbClr>
            </a:outerShdw>
          </a:effectLst>
        </p:spPr>
      </p:sp>
      <p:sp>
        <p:nvSpPr>
          <p:cNvPr id="49" name="Shape 46"/>
          <p:cNvSpPr/>
          <p:nvPr/>
        </p:nvSpPr>
        <p:spPr>
          <a:xfrm>
            <a:off x="9400032" y="1554480"/>
            <a:ext cx="1993392" cy="502920"/>
          </a:xfrm>
          <a:prstGeom prst="roundRect">
            <a:avLst>
              <a:gd name="adj" fmla="val 18182"/>
            </a:avLst>
          </a:prstGeom>
          <a:solidFill>
            <a:srgbClr val="5E9C8E"/>
          </a:solidFill>
          <a:ln/>
        </p:spPr>
      </p:sp>
      <p:sp>
        <p:nvSpPr>
          <p:cNvPr id="50" name="Shape 47"/>
          <p:cNvSpPr/>
          <p:nvPr/>
        </p:nvSpPr>
        <p:spPr>
          <a:xfrm>
            <a:off x="9400032" y="1828800"/>
            <a:ext cx="1993392" cy="228600"/>
          </a:xfrm>
          <a:prstGeom prst="rect">
            <a:avLst/>
          </a:prstGeom>
          <a:solidFill>
            <a:srgbClr val="5E9C8E"/>
          </a:solidFill>
          <a:ln/>
        </p:spPr>
      </p:sp>
      <p:sp>
        <p:nvSpPr>
          <p:cNvPr id="51" name="Text 48"/>
          <p:cNvSpPr/>
          <p:nvPr/>
        </p:nvSpPr>
        <p:spPr>
          <a:xfrm>
            <a:off x="9400032" y="1645920"/>
            <a:ext cx="1993392"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مخطط 5</a:t>
            </a:r>
            <a:endParaRPr lang="en-US" sz="1300" dirty="0"/>
          </a:p>
        </p:txBody>
      </p:sp>
      <p:sp>
        <p:nvSpPr>
          <p:cNvPr id="52" name="Text 49"/>
          <p:cNvSpPr/>
          <p:nvPr/>
        </p:nvSpPr>
        <p:spPr>
          <a:xfrm>
            <a:off x="9491472" y="2194560"/>
            <a:ext cx="1810512" cy="320040"/>
          </a:xfrm>
          <a:prstGeom prst="rect">
            <a:avLst/>
          </a:prstGeom>
          <a:noFill/>
          <a:ln/>
        </p:spPr>
        <p:txBody>
          <a:bodyPr wrap="square" lIns="0" tIns="0" rIns="0" bIns="0" rtlCol="0" anchor="ctr"/>
          <a:lstStyle/>
          <a:p>
            <a:pPr marL="0" indent="0" algn="ctr">
              <a:buNone/>
            </a:pPr>
            <a:r>
              <a:rPr lang="en-US" sz="1500" b="1" dirty="0">
                <a:solidFill>
                  <a:srgbClr val="0B3D3A"/>
                </a:solidFill>
                <a:latin typeface="Cambria" pitchFamily="34" charset="0"/>
                <a:ea typeface="Cambria" pitchFamily="34" charset="-122"/>
                <a:cs typeface="Cambria" pitchFamily="34" charset="-120"/>
              </a:rPr>
              <a:t>27 سنة</a:t>
            </a:r>
            <a:endParaRPr lang="en-US" sz="1500" dirty="0"/>
          </a:p>
        </p:txBody>
      </p:sp>
      <p:sp>
        <p:nvSpPr>
          <p:cNvPr id="53" name="Text 50"/>
          <p:cNvSpPr/>
          <p:nvPr/>
        </p:nvSpPr>
        <p:spPr>
          <a:xfrm>
            <a:off x="9491472" y="2487168"/>
            <a:ext cx="1810512" cy="274320"/>
          </a:xfrm>
          <a:prstGeom prst="rect">
            <a:avLst/>
          </a:prstGeom>
          <a:noFill/>
          <a:ln/>
        </p:spPr>
        <p:txBody>
          <a:bodyPr wrap="square" lIns="0" tIns="0" rIns="0" bIns="0" rtlCol="0" anchor="ctr"/>
          <a:lstStyle/>
          <a:p>
            <a:pPr marL="0" indent="0" algn="ctr">
              <a:buNone/>
            </a:pPr>
            <a:r>
              <a:rPr lang="en-US" sz="1100" dirty="0">
                <a:solidFill>
                  <a:srgbClr val="5B6F6C"/>
                </a:solidFill>
                <a:latin typeface="Calibri" pitchFamily="34" charset="0"/>
                <a:ea typeface="Calibri" pitchFamily="34" charset="-122"/>
                <a:cs typeface="Calibri" pitchFamily="34" charset="-120"/>
              </a:rPr>
              <a:t>ذكر</a:t>
            </a:r>
            <a:endParaRPr lang="en-US" sz="1100" dirty="0"/>
          </a:p>
        </p:txBody>
      </p:sp>
      <p:sp>
        <p:nvSpPr>
          <p:cNvPr id="54" name="Shape 51"/>
          <p:cNvSpPr/>
          <p:nvPr/>
        </p:nvSpPr>
        <p:spPr>
          <a:xfrm>
            <a:off x="9582912" y="2852928"/>
            <a:ext cx="1627632" cy="9144"/>
          </a:xfrm>
          <a:prstGeom prst="rect">
            <a:avLst/>
          </a:prstGeom>
          <a:solidFill>
            <a:srgbClr val="EEF0EC"/>
          </a:solidFill>
          <a:ln/>
        </p:spPr>
      </p:sp>
      <p:sp>
        <p:nvSpPr>
          <p:cNvPr id="55" name="Text 52"/>
          <p:cNvSpPr/>
          <p:nvPr/>
        </p:nvSpPr>
        <p:spPr>
          <a:xfrm>
            <a:off x="9518904" y="2971800"/>
            <a:ext cx="1755648" cy="228600"/>
          </a:xfrm>
          <a:prstGeom prst="rect">
            <a:avLst/>
          </a:prstGeom>
          <a:noFill/>
          <a:ln/>
        </p:spPr>
        <p:txBody>
          <a:bodyPr wrap="square" lIns="0" tIns="0" rIns="0" bIns="0" rtlCol="0" anchor="ctr"/>
          <a:lstStyle/>
          <a:p>
            <a:pPr marL="0" indent="0" algn="ctr">
              <a:buNone/>
            </a:pPr>
            <a:r>
              <a:rPr lang="en-US" sz="900" dirty="0">
                <a:solidFill>
                  <a:srgbClr val="5B6F6C"/>
                </a:solidFill>
                <a:latin typeface="Calibri" pitchFamily="34" charset="0"/>
                <a:ea typeface="Calibri" pitchFamily="34" charset="-122"/>
                <a:cs typeface="Calibri" pitchFamily="34" charset="-120"/>
              </a:rPr>
              <a:t>الحالة المرضية</a:t>
            </a:r>
            <a:endParaRPr lang="en-US" sz="900" dirty="0"/>
          </a:p>
        </p:txBody>
      </p:sp>
      <p:sp>
        <p:nvSpPr>
          <p:cNvPr id="56" name="Text 53"/>
          <p:cNvSpPr/>
          <p:nvPr/>
        </p:nvSpPr>
        <p:spPr>
          <a:xfrm>
            <a:off x="9518904" y="3200400"/>
            <a:ext cx="1755648" cy="777240"/>
          </a:xfrm>
          <a:prstGeom prst="rect">
            <a:avLst/>
          </a:prstGeom>
          <a:noFill/>
          <a:ln/>
        </p:spPr>
        <p:txBody>
          <a:bodyPr wrap="square" lIns="0" tIns="0" rIns="0" bIns="0" rtlCol="0" anchor="t"/>
          <a:lstStyle/>
          <a:p>
            <a:pPr marL="0" indent="0" algn="ctr">
              <a:buNone/>
            </a:pPr>
            <a:r>
              <a:rPr lang="en-US" sz="1100" b="1" dirty="0">
                <a:solidFill>
                  <a:srgbClr val="1B2B28"/>
                </a:solidFill>
                <a:latin typeface="Calibri" pitchFamily="34" charset="0"/>
                <a:ea typeface="Calibri" pitchFamily="34" charset="-122"/>
                <a:cs typeface="Calibri" pitchFamily="34" charset="-120"/>
              </a:rPr>
              <a:t>حمى شديدة + إقياء</a:t>
            </a:r>
            <a:endParaRPr lang="en-US" sz="1100" dirty="0"/>
          </a:p>
        </p:txBody>
      </p:sp>
      <p:sp>
        <p:nvSpPr>
          <p:cNvPr id="57" name="Shape 54"/>
          <p:cNvSpPr/>
          <p:nvPr/>
        </p:nvSpPr>
        <p:spPr>
          <a:xfrm>
            <a:off x="9518904" y="5148072"/>
            <a:ext cx="1755648" cy="411480"/>
          </a:xfrm>
          <a:prstGeom prst="roundRect">
            <a:avLst>
              <a:gd name="adj" fmla="val 13333"/>
            </a:avLst>
          </a:prstGeom>
          <a:solidFill>
            <a:srgbClr val="D9F0EA"/>
          </a:solidFill>
          <a:ln/>
        </p:spPr>
      </p:sp>
      <p:sp>
        <p:nvSpPr>
          <p:cNvPr id="58" name="Text 55"/>
          <p:cNvSpPr/>
          <p:nvPr/>
        </p:nvSpPr>
        <p:spPr>
          <a:xfrm>
            <a:off x="9518904" y="5148072"/>
            <a:ext cx="1755648" cy="411480"/>
          </a:xfrm>
          <a:prstGeom prst="rect">
            <a:avLst/>
          </a:prstGeom>
          <a:noFill/>
          <a:ln/>
        </p:spPr>
        <p:txBody>
          <a:bodyPr wrap="square" lIns="0" tIns="0" rIns="0" bIns="0" rtlCol="0" anchor="ctr"/>
          <a:lstStyle/>
          <a:p>
            <a:pPr marL="0" indent="0" algn="ctr">
              <a:buNone/>
            </a:pPr>
            <a:r>
              <a:rPr lang="en-US" sz="1000" b="1" dirty="0">
                <a:solidFill>
                  <a:srgbClr val="0B3D3A"/>
                </a:solidFill>
                <a:latin typeface="Calibri" pitchFamily="34" charset="0"/>
                <a:ea typeface="Calibri" pitchFamily="34" charset="-122"/>
                <a:cs typeface="Calibri" pitchFamily="34" charset="-120"/>
              </a:rPr>
              <a:t>تم الحجز</a:t>
            </a:r>
            <a:endParaRPr lang="en-US" sz="1000" dirty="0"/>
          </a:p>
        </p:txBody>
      </p:sp>
      <p:sp>
        <p:nvSpPr>
          <p:cNvPr id="59" name="Text 56"/>
          <p:cNvSpPr/>
          <p:nvPr/>
        </p:nvSpPr>
        <p:spPr>
          <a:xfrm>
            <a:off x="11338560" y="6355080"/>
            <a:ext cx="457200" cy="320040"/>
          </a:xfrm>
          <a:prstGeom prst="rect">
            <a:avLst/>
          </a:prstGeom>
          <a:noFill/>
          <a:ln/>
        </p:spPr>
        <p:txBody>
          <a:bodyPr wrap="square" rtlCol="0" anchor="ctr"/>
          <a:lstStyle/>
          <a:p>
            <a:pPr marL="0" indent="0" algn="ctr">
              <a:buNone/>
            </a:pPr>
            <a:r>
              <a:rPr lang="en-US" sz="1000" dirty="0">
                <a:solidFill>
                  <a:srgbClr val="5B6F6C"/>
                </a:solidFill>
                <a:latin typeface="Calibri" pitchFamily="34" charset="0"/>
                <a:ea typeface="Calibri" pitchFamily="34" charset="-122"/>
                <a:cs typeface="Calibri" pitchFamily="34" charset="-120"/>
              </a:rPr>
              <a:t>11</a:t>
            </a:r>
            <a:endParaRPr lang="en-US" sz="1000" dirty="0"/>
          </a:p>
        </p:txBody>
      </p:sp>
      <p:sp>
        <p:nvSpPr>
          <p:cNvPr id="60" name="Text 57"/>
          <p:cNvSpPr/>
          <p:nvPr/>
        </p:nvSpPr>
        <p:spPr>
          <a:xfrm>
            <a:off x="457200" y="6355080"/>
            <a:ext cx="3657600" cy="320040"/>
          </a:xfrm>
          <a:prstGeom prst="rect">
            <a:avLst/>
          </a:prstGeom>
          <a:noFill/>
          <a:ln/>
        </p:spPr>
        <p:txBody>
          <a:bodyPr wrap="square" rtlCol="0" anchor="ctr"/>
          <a:lstStyle/>
          <a:p>
            <a:pPr marL="0" indent="0" algn="l">
              <a:buNone/>
            </a:pPr>
            <a:r>
              <a:rPr lang="en-US" sz="900" dirty="0">
                <a:solidFill>
                  <a:srgbClr val="9AAFAC"/>
                </a:solidFill>
                <a:latin typeface="Calibri" pitchFamily="34" charset="0"/>
                <a:ea typeface="Calibri" pitchFamily="34" charset="-122"/>
                <a:cs typeface="Calibri" pitchFamily="34" charset="-120"/>
              </a:rPr>
              <a:t>مدرسة الصحة العمومية بسيليبابي</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3D3A"/>
        </a:solidFill>
        <a:effectLst/>
      </p:bgPr>
    </p:bg>
    <p:spTree>
      <p:nvGrpSpPr>
        <p:cNvPr id="1" name=""/>
        <p:cNvGrpSpPr/>
        <p:nvPr/>
      </p:nvGrpSpPr>
      <p:grpSpPr>
        <a:xfrm>
          <a:off x="0" y="0"/>
          <a:ext cx="0" cy="0"/>
          <a:chOff x="0" y="0"/>
          <a:chExt cx="0" cy="0"/>
        </a:xfrm>
      </p:grpSpPr>
      <p:sp>
        <p:nvSpPr>
          <p:cNvPr id="2" name="Shape 0"/>
          <p:cNvSpPr/>
          <p:nvPr/>
        </p:nvSpPr>
        <p:spPr>
          <a:xfrm>
            <a:off x="9509760" y="-2011680"/>
            <a:ext cx="4572000" cy="4572000"/>
          </a:xfrm>
          <a:prstGeom prst="ellipse">
            <a:avLst/>
          </a:prstGeom>
          <a:solidFill>
            <a:srgbClr val="117A65">
              <a:alpha val="30000"/>
            </a:srgbClr>
          </a:solidFill>
          <a:ln/>
        </p:spPr>
      </p:sp>
      <p:sp>
        <p:nvSpPr>
          <p:cNvPr id="3" name="Text 1"/>
          <p:cNvSpPr/>
          <p:nvPr/>
        </p:nvSpPr>
        <p:spPr>
          <a:xfrm>
            <a:off x="822960" y="502920"/>
            <a:ext cx="6400800" cy="594360"/>
          </a:xfrm>
          <a:prstGeom prst="rect">
            <a:avLst/>
          </a:prstGeom>
          <a:noFill/>
          <a:ln/>
        </p:spPr>
        <p:txBody>
          <a:bodyPr wrap="square" lIns="0" tIns="0" rIns="0" bIns="0" rtlCol="0" anchor="ctr"/>
          <a:lstStyle/>
          <a:p>
            <a:pPr marL="0" indent="0" algn="r">
              <a:buNone/>
            </a:pPr>
            <a:r>
              <a:rPr lang="en-US" sz="2800" b="1" dirty="0">
                <a:solidFill>
                  <a:srgbClr val="FFFFFF"/>
                </a:solidFill>
                <a:latin typeface="Cambria" pitchFamily="34" charset="0"/>
                <a:ea typeface="Cambria" pitchFamily="34" charset="-122"/>
                <a:cs typeface="Cambria" pitchFamily="34" charset="-120"/>
              </a:rPr>
              <a:t>إنجاز 5 ولادات</a:t>
            </a:r>
            <a:endParaRPr lang="en-US" sz="2800" dirty="0"/>
          </a:p>
        </p:txBody>
      </p:sp>
      <p:sp>
        <p:nvSpPr>
          <p:cNvPr id="4" name="Text 2"/>
          <p:cNvSpPr/>
          <p:nvPr/>
        </p:nvSpPr>
        <p:spPr>
          <a:xfrm>
            <a:off x="822960" y="1024128"/>
            <a:ext cx="6400800" cy="365760"/>
          </a:xfrm>
          <a:prstGeom prst="rect">
            <a:avLst/>
          </a:prstGeom>
          <a:noFill/>
          <a:ln/>
        </p:spPr>
        <p:txBody>
          <a:bodyPr wrap="square" lIns="0" tIns="0" rIns="0" bIns="0" rtlCol="0" anchor="ctr"/>
          <a:lstStyle/>
          <a:p>
            <a:pPr marL="0" indent="0" algn="r">
              <a:buNone/>
            </a:pPr>
            <a:r>
              <a:rPr lang="en-US" sz="1400" dirty="0">
                <a:solidFill>
                  <a:srgbClr val="9FC6BC"/>
                </a:solidFill>
                <a:latin typeface="Calibri" pitchFamily="34" charset="0"/>
                <a:ea typeface="Calibri" pitchFamily="34" charset="-122"/>
                <a:cs typeface="Calibri" pitchFamily="34" charset="-120"/>
              </a:rPr>
              <a:t>من بينها والدة بِكْرية واحدة</a:t>
            </a:r>
            <a:endParaRPr lang="en-US" sz="1400" dirty="0"/>
          </a:p>
        </p:txBody>
      </p:sp>
      <p:pic>
        <p:nvPicPr>
          <p:cNvPr id="5" name="Image 0" descr="icons/baby_white.png"/>
          <p:cNvPicPr>
            <a:picLocks noChangeAspect="1"/>
          </p:cNvPicPr>
          <p:nvPr/>
        </p:nvPicPr>
        <p:blipFill>
          <a:blip r:embed="rId3"/>
          <a:stretch>
            <a:fillRect/>
          </a:stretch>
        </p:blipFill>
        <p:spPr>
          <a:xfrm>
            <a:off x="10698480" y="502920"/>
            <a:ext cx="502920" cy="502920"/>
          </a:xfrm>
          <a:prstGeom prst="rect">
            <a:avLst/>
          </a:prstGeom>
        </p:spPr>
      </p:pic>
      <p:sp>
        <p:nvSpPr>
          <p:cNvPr id="6" name="Shape 3"/>
          <p:cNvSpPr/>
          <p:nvPr/>
        </p:nvSpPr>
        <p:spPr>
          <a:xfrm>
            <a:off x="822960" y="1691640"/>
            <a:ext cx="5120640" cy="4343400"/>
          </a:xfrm>
          <a:prstGeom prst="roundRect">
            <a:avLst>
              <a:gd name="adj" fmla="val 2526"/>
            </a:avLst>
          </a:prstGeom>
          <a:solidFill>
            <a:srgbClr val="FFFFFF">
              <a:alpha val="5000"/>
            </a:srgbClr>
          </a:solidFill>
          <a:ln w="12700">
            <a:solidFill>
              <a:srgbClr val="FFFFFF">
                <a:alpha val="25000"/>
              </a:srgbClr>
            </a:solidFill>
            <a:prstDash val="solid"/>
          </a:ln>
        </p:spPr>
      </p:sp>
      <p:sp>
        <p:nvSpPr>
          <p:cNvPr id="7" name="Text 4"/>
          <p:cNvSpPr/>
          <p:nvPr/>
        </p:nvSpPr>
        <p:spPr>
          <a:xfrm>
            <a:off x="1097280" y="1874520"/>
            <a:ext cx="4572000" cy="365760"/>
          </a:xfrm>
          <a:prstGeom prst="rect">
            <a:avLst/>
          </a:prstGeom>
          <a:noFill/>
          <a:ln/>
        </p:spPr>
        <p:txBody>
          <a:bodyPr wrap="square" lIns="0" tIns="0" rIns="0" bIns="0" rtlCol="0" anchor="ctr"/>
          <a:lstStyle/>
          <a:p>
            <a:pPr marL="0" indent="0" algn="r">
              <a:buNone/>
            </a:pPr>
            <a:r>
              <a:rPr lang="en-US" sz="1600" b="1" dirty="0">
                <a:solidFill>
                  <a:srgbClr val="FFFFFF"/>
                </a:solidFill>
                <a:latin typeface="Cambria" pitchFamily="34" charset="0"/>
                <a:ea typeface="Cambria" pitchFamily="34" charset="-122"/>
                <a:cs typeface="Cambria" pitchFamily="34" charset="-120"/>
              </a:rPr>
              <a:t>تفاصيل الحالة المسجّلة</a:t>
            </a:r>
            <a:endParaRPr lang="en-US" sz="1600" dirty="0"/>
          </a:p>
        </p:txBody>
      </p:sp>
      <p:sp>
        <p:nvSpPr>
          <p:cNvPr id="8" name="Text 5"/>
          <p:cNvSpPr/>
          <p:nvPr/>
        </p:nvSpPr>
        <p:spPr>
          <a:xfrm>
            <a:off x="1097280" y="2450592"/>
            <a:ext cx="2011680" cy="320040"/>
          </a:xfrm>
          <a:prstGeom prst="rect">
            <a:avLst/>
          </a:prstGeom>
          <a:noFill/>
          <a:ln/>
        </p:spPr>
        <p:txBody>
          <a:bodyPr wrap="square" lIns="0" tIns="0" rIns="0" bIns="0" rtlCol="0" anchor="ctr"/>
          <a:lstStyle/>
          <a:p>
            <a:pPr marL="0" indent="0" algn="r">
              <a:buNone/>
            </a:pPr>
            <a:r>
              <a:rPr lang="en-US" sz="1250" dirty="0">
                <a:solidFill>
                  <a:srgbClr val="9FC6BC"/>
                </a:solidFill>
                <a:latin typeface="Calibri" pitchFamily="34" charset="0"/>
                <a:ea typeface="Calibri" pitchFamily="34" charset="-122"/>
                <a:cs typeface="Calibri" pitchFamily="34" charset="-120"/>
              </a:rPr>
              <a:t>العمر</a:t>
            </a:r>
            <a:endParaRPr lang="en-US" sz="1250" dirty="0"/>
          </a:p>
        </p:txBody>
      </p:sp>
      <p:sp>
        <p:nvSpPr>
          <p:cNvPr id="9" name="Text 6"/>
          <p:cNvSpPr/>
          <p:nvPr/>
        </p:nvSpPr>
        <p:spPr>
          <a:xfrm>
            <a:off x="3200400" y="2450592"/>
            <a:ext cx="2468880" cy="320040"/>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38 سنة</a:t>
            </a:r>
            <a:endParaRPr lang="en-US" sz="1300" dirty="0"/>
          </a:p>
        </p:txBody>
      </p:sp>
      <p:sp>
        <p:nvSpPr>
          <p:cNvPr id="10" name="Shape 7"/>
          <p:cNvSpPr/>
          <p:nvPr/>
        </p:nvSpPr>
        <p:spPr>
          <a:xfrm>
            <a:off x="1097280" y="2743200"/>
            <a:ext cx="4572000" cy="7315"/>
          </a:xfrm>
          <a:prstGeom prst="rect">
            <a:avLst/>
          </a:prstGeom>
          <a:solidFill>
            <a:srgbClr val="2A5C57"/>
          </a:solidFill>
          <a:ln/>
        </p:spPr>
      </p:sp>
      <p:sp>
        <p:nvSpPr>
          <p:cNvPr id="11" name="Text 8"/>
          <p:cNvSpPr/>
          <p:nvPr/>
        </p:nvSpPr>
        <p:spPr>
          <a:xfrm>
            <a:off x="1097280" y="2816352"/>
            <a:ext cx="2011680" cy="320040"/>
          </a:xfrm>
          <a:prstGeom prst="rect">
            <a:avLst/>
          </a:prstGeom>
          <a:noFill/>
          <a:ln/>
        </p:spPr>
        <p:txBody>
          <a:bodyPr wrap="square" lIns="0" tIns="0" rIns="0" bIns="0" rtlCol="0" anchor="ctr"/>
          <a:lstStyle/>
          <a:p>
            <a:pPr marL="0" indent="0" algn="r">
              <a:buNone/>
            </a:pPr>
            <a:r>
              <a:rPr lang="en-US" sz="1250" dirty="0">
                <a:solidFill>
                  <a:srgbClr val="9FC6BC"/>
                </a:solidFill>
                <a:latin typeface="Calibri" pitchFamily="34" charset="0"/>
                <a:ea typeface="Calibri" pitchFamily="34" charset="-122"/>
                <a:cs typeface="Calibri" pitchFamily="34" charset="-120"/>
              </a:rPr>
              <a:t>وقت الدخول</a:t>
            </a:r>
            <a:endParaRPr lang="en-US" sz="1250" dirty="0"/>
          </a:p>
        </p:txBody>
      </p:sp>
      <p:sp>
        <p:nvSpPr>
          <p:cNvPr id="12" name="Text 9"/>
          <p:cNvSpPr/>
          <p:nvPr/>
        </p:nvSpPr>
        <p:spPr>
          <a:xfrm>
            <a:off x="3200400" y="2816352"/>
            <a:ext cx="2468880" cy="320040"/>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4:00 صباحًا</a:t>
            </a:r>
            <a:endParaRPr lang="en-US" sz="1300" dirty="0"/>
          </a:p>
        </p:txBody>
      </p:sp>
      <p:sp>
        <p:nvSpPr>
          <p:cNvPr id="13" name="Shape 10"/>
          <p:cNvSpPr/>
          <p:nvPr/>
        </p:nvSpPr>
        <p:spPr>
          <a:xfrm>
            <a:off x="1097280" y="3108960"/>
            <a:ext cx="4572000" cy="7315"/>
          </a:xfrm>
          <a:prstGeom prst="rect">
            <a:avLst/>
          </a:prstGeom>
          <a:solidFill>
            <a:srgbClr val="2A5C57"/>
          </a:solidFill>
          <a:ln/>
        </p:spPr>
      </p:sp>
      <p:sp>
        <p:nvSpPr>
          <p:cNvPr id="14" name="Text 11"/>
          <p:cNvSpPr/>
          <p:nvPr/>
        </p:nvSpPr>
        <p:spPr>
          <a:xfrm>
            <a:off x="1097280" y="3182112"/>
            <a:ext cx="2011680" cy="320040"/>
          </a:xfrm>
          <a:prstGeom prst="rect">
            <a:avLst/>
          </a:prstGeom>
          <a:noFill/>
          <a:ln/>
        </p:spPr>
        <p:txBody>
          <a:bodyPr wrap="square" lIns="0" tIns="0" rIns="0" bIns="0" rtlCol="0" anchor="ctr"/>
          <a:lstStyle/>
          <a:p>
            <a:pPr marL="0" indent="0" algn="r">
              <a:buNone/>
            </a:pPr>
            <a:r>
              <a:rPr lang="en-US" sz="1250" dirty="0">
                <a:solidFill>
                  <a:srgbClr val="9FC6BC"/>
                </a:solidFill>
                <a:latin typeface="Calibri" pitchFamily="34" charset="0"/>
                <a:ea typeface="Calibri" pitchFamily="34" charset="-122"/>
                <a:cs typeface="Calibri" pitchFamily="34" charset="-120"/>
              </a:rPr>
              <a:t>ولادات سابقة</a:t>
            </a:r>
            <a:endParaRPr lang="en-US" sz="1250" dirty="0"/>
          </a:p>
        </p:txBody>
      </p:sp>
      <p:sp>
        <p:nvSpPr>
          <p:cNvPr id="15" name="Text 12"/>
          <p:cNvSpPr/>
          <p:nvPr/>
        </p:nvSpPr>
        <p:spPr>
          <a:xfrm>
            <a:off x="3200400" y="3182112"/>
            <a:ext cx="2468880" cy="320040"/>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G5 P4 A0</a:t>
            </a:r>
            <a:endParaRPr lang="en-US" sz="1300" dirty="0"/>
          </a:p>
        </p:txBody>
      </p:sp>
      <p:sp>
        <p:nvSpPr>
          <p:cNvPr id="16" name="Shape 13"/>
          <p:cNvSpPr/>
          <p:nvPr/>
        </p:nvSpPr>
        <p:spPr>
          <a:xfrm>
            <a:off x="1097280" y="3474720"/>
            <a:ext cx="4572000" cy="7315"/>
          </a:xfrm>
          <a:prstGeom prst="rect">
            <a:avLst/>
          </a:prstGeom>
          <a:solidFill>
            <a:srgbClr val="2A5C57"/>
          </a:solidFill>
          <a:ln/>
        </p:spPr>
      </p:sp>
      <p:sp>
        <p:nvSpPr>
          <p:cNvPr id="17" name="Text 14"/>
          <p:cNvSpPr/>
          <p:nvPr/>
        </p:nvSpPr>
        <p:spPr>
          <a:xfrm>
            <a:off x="1097280" y="3547872"/>
            <a:ext cx="2011680" cy="320040"/>
          </a:xfrm>
          <a:prstGeom prst="rect">
            <a:avLst/>
          </a:prstGeom>
          <a:noFill/>
          <a:ln/>
        </p:spPr>
        <p:txBody>
          <a:bodyPr wrap="square" lIns="0" tIns="0" rIns="0" bIns="0" rtlCol="0" anchor="ctr"/>
          <a:lstStyle/>
          <a:p>
            <a:pPr marL="0" indent="0" algn="r">
              <a:buNone/>
            </a:pPr>
            <a:r>
              <a:rPr lang="en-US" sz="1250" dirty="0">
                <a:solidFill>
                  <a:srgbClr val="9FC6BC"/>
                </a:solidFill>
                <a:latin typeface="Calibri" pitchFamily="34" charset="0"/>
                <a:ea typeface="Calibri" pitchFamily="34" charset="-122"/>
                <a:cs typeface="Calibri" pitchFamily="34" charset="-120"/>
              </a:rPr>
              <a:t>التاريخ والتوقيت</a:t>
            </a:r>
            <a:endParaRPr lang="en-US" sz="1250" dirty="0"/>
          </a:p>
        </p:txBody>
      </p:sp>
      <p:sp>
        <p:nvSpPr>
          <p:cNvPr id="18" name="Text 15"/>
          <p:cNvSpPr/>
          <p:nvPr/>
        </p:nvSpPr>
        <p:spPr>
          <a:xfrm>
            <a:off x="3200400" y="3547872"/>
            <a:ext cx="2468880" cy="320040"/>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21/04/2026 — 4:26 صباحًا</a:t>
            </a:r>
            <a:endParaRPr lang="en-US" sz="1300" dirty="0"/>
          </a:p>
        </p:txBody>
      </p:sp>
      <p:sp>
        <p:nvSpPr>
          <p:cNvPr id="19" name="Shape 16"/>
          <p:cNvSpPr/>
          <p:nvPr/>
        </p:nvSpPr>
        <p:spPr>
          <a:xfrm>
            <a:off x="1097280" y="3840480"/>
            <a:ext cx="4572000" cy="7315"/>
          </a:xfrm>
          <a:prstGeom prst="rect">
            <a:avLst/>
          </a:prstGeom>
          <a:solidFill>
            <a:srgbClr val="2A5C57"/>
          </a:solidFill>
          <a:ln/>
        </p:spPr>
      </p:sp>
      <p:sp>
        <p:nvSpPr>
          <p:cNvPr id="20" name="Text 17"/>
          <p:cNvSpPr/>
          <p:nvPr/>
        </p:nvSpPr>
        <p:spPr>
          <a:xfrm>
            <a:off x="1097280" y="3913632"/>
            <a:ext cx="2011680" cy="320040"/>
          </a:xfrm>
          <a:prstGeom prst="rect">
            <a:avLst/>
          </a:prstGeom>
          <a:noFill/>
          <a:ln/>
        </p:spPr>
        <p:txBody>
          <a:bodyPr wrap="square" lIns="0" tIns="0" rIns="0" bIns="0" rtlCol="0" anchor="ctr"/>
          <a:lstStyle/>
          <a:p>
            <a:pPr marL="0" indent="0" algn="r">
              <a:buNone/>
            </a:pPr>
            <a:r>
              <a:rPr lang="en-US" sz="1250" dirty="0">
                <a:solidFill>
                  <a:srgbClr val="9FC6BC"/>
                </a:solidFill>
                <a:latin typeface="Calibri" pitchFamily="34" charset="0"/>
                <a:ea typeface="Calibri" pitchFamily="34" charset="-122"/>
                <a:cs typeface="Calibri" pitchFamily="34" charset="-120"/>
              </a:rPr>
              <a:t>نوع المجيء</a:t>
            </a:r>
            <a:endParaRPr lang="en-US" sz="1250" dirty="0"/>
          </a:p>
        </p:txBody>
      </p:sp>
      <p:sp>
        <p:nvSpPr>
          <p:cNvPr id="21" name="Text 18"/>
          <p:cNvSpPr/>
          <p:nvPr/>
        </p:nvSpPr>
        <p:spPr>
          <a:xfrm>
            <a:off x="3200400" y="3913632"/>
            <a:ext cx="2468880" cy="320040"/>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قِمّي (طبيعي)</a:t>
            </a:r>
            <a:endParaRPr lang="en-US" sz="1300" dirty="0"/>
          </a:p>
        </p:txBody>
      </p:sp>
      <p:sp>
        <p:nvSpPr>
          <p:cNvPr id="22" name="Shape 19"/>
          <p:cNvSpPr/>
          <p:nvPr/>
        </p:nvSpPr>
        <p:spPr>
          <a:xfrm>
            <a:off x="1097280" y="4206240"/>
            <a:ext cx="4572000" cy="7315"/>
          </a:xfrm>
          <a:prstGeom prst="rect">
            <a:avLst/>
          </a:prstGeom>
          <a:solidFill>
            <a:srgbClr val="2A5C57"/>
          </a:solidFill>
          <a:ln/>
        </p:spPr>
      </p:sp>
      <p:sp>
        <p:nvSpPr>
          <p:cNvPr id="23" name="Text 20"/>
          <p:cNvSpPr/>
          <p:nvPr/>
        </p:nvSpPr>
        <p:spPr>
          <a:xfrm>
            <a:off x="1097280" y="4279392"/>
            <a:ext cx="2011680" cy="320040"/>
          </a:xfrm>
          <a:prstGeom prst="rect">
            <a:avLst/>
          </a:prstGeom>
          <a:noFill/>
          <a:ln/>
        </p:spPr>
        <p:txBody>
          <a:bodyPr wrap="square" lIns="0" tIns="0" rIns="0" bIns="0" rtlCol="0" anchor="ctr"/>
          <a:lstStyle/>
          <a:p>
            <a:pPr marL="0" indent="0" algn="r">
              <a:buNone/>
            </a:pPr>
            <a:r>
              <a:rPr lang="en-US" sz="1250" dirty="0">
                <a:solidFill>
                  <a:srgbClr val="9FC6BC"/>
                </a:solidFill>
                <a:latin typeface="Calibri" pitchFamily="34" charset="0"/>
                <a:ea typeface="Calibri" pitchFamily="34" charset="-122"/>
                <a:cs typeface="Calibri" pitchFamily="34" charset="-120"/>
              </a:rPr>
              <a:t>جنس الوليد</a:t>
            </a:r>
            <a:endParaRPr lang="en-US" sz="1250" dirty="0"/>
          </a:p>
        </p:txBody>
      </p:sp>
      <p:sp>
        <p:nvSpPr>
          <p:cNvPr id="24" name="Text 21"/>
          <p:cNvSpPr/>
          <p:nvPr/>
        </p:nvSpPr>
        <p:spPr>
          <a:xfrm>
            <a:off x="3200400" y="4279392"/>
            <a:ext cx="2468880" cy="320040"/>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ذكر</a:t>
            </a:r>
            <a:endParaRPr lang="en-US" sz="1300" dirty="0"/>
          </a:p>
        </p:txBody>
      </p:sp>
      <p:sp>
        <p:nvSpPr>
          <p:cNvPr id="25" name="Shape 22"/>
          <p:cNvSpPr/>
          <p:nvPr/>
        </p:nvSpPr>
        <p:spPr>
          <a:xfrm>
            <a:off x="1097280" y="4572000"/>
            <a:ext cx="4572000" cy="7315"/>
          </a:xfrm>
          <a:prstGeom prst="rect">
            <a:avLst/>
          </a:prstGeom>
          <a:solidFill>
            <a:srgbClr val="2A5C57"/>
          </a:solidFill>
          <a:ln/>
        </p:spPr>
      </p:sp>
      <p:sp>
        <p:nvSpPr>
          <p:cNvPr id="26" name="Text 23"/>
          <p:cNvSpPr/>
          <p:nvPr/>
        </p:nvSpPr>
        <p:spPr>
          <a:xfrm>
            <a:off x="1097280" y="4645152"/>
            <a:ext cx="2011680" cy="320040"/>
          </a:xfrm>
          <a:prstGeom prst="rect">
            <a:avLst/>
          </a:prstGeom>
          <a:noFill/>
          <a:ln/>
        </p:spPr>
        <p:txBody>
          <a:bodyPr wrap="square" lIns="0" tIns="0" rIns="0" bIns="0" rtlCol="0" anchor="ctr"/>
          <a:lstStyle/>
          <a:p>
            <a:pPr marL="0" indent="0" algn="r">
              <a:buNone/>
            </a:pPr>
            <a:r>
              <a:rPr lang="en-US" sz="1250" dirty="0">
                <a:solidFill>
                  <a:srgbClr val="9FC6BC"/>
                </a:solidFill>
                <a:latin typeface="Calibri" pitchFamily="34" charset="0"/>
                <a:ea typeface="Calibri" pitchFamily="34" charset="-122"/>
                <a:cs typeface="Calibri" pitchFamily="34" charset="-120"/>
              </a:rPr>
              <a:t>مؤشر أبكار (Apgar)</a:t>
            </a:r>
            <a:endParaRPr lang="en-US" sz="1250" dirty="0"/>
          </a:p>
        </p:txBody>
      </p:sp>
      <p:sp>
        <p:nvSpPr>
          <p:cNvPr id="27" name="Text 24"/>
          <p:cNvSpPr/>
          <p:nvPr/>
        </p:nvSpPr>
        <p:spPr>
          <a:xfrm>
            <a:off x="3200400" y="4645152"/>
            <a:ext cx="2468880" cy="320040"/>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10 / 10</a:t>
            </a:r>
            <a:endParaRPr lang="en-US" sz="1300" dirty="0"/>
          </a:p>
        </p:txBody>
      </p:sp>
      <p:sp>
        <p:nvSpPr>
          <p:cNvPr id="28" name="Shape 25"/>
          <p:cNvSpPr/>
          <p:nvPr/>
        </p:nvSpPr>
        <p:spPr>
          <a:xfrm>
            <a:off x="6217920" y="1691640"/>
            <a:ext cx="5120640" cy="1965960"/>
          </a:xfrm>
          <a:prstGeom prst="roundRect">
            <a:avLst>
              <a:gd name="adj" fmla="val 5581"/>
            </a:avLst>
          </a:prstGeom>
          <a:solidFill>
            <a:srgbClr val="C9A24B"/>
          </a:solidFill>
          <a:ln/>
        </p:spPr>
      </p:sp>
      <p:sp>
        <p:nvSpPr>
          <p:cNvPr id="29" name="Text 26"/>
          <p:cNvSpPr/>
          <p:nvPr/>
        </p:nvSpPr>
        <p:spPr>
          <a:xfrm>
            <a:off x="6492240" y="1847088"/>
            <a:ext cx="4572000" cy="365760"/>
          </a:xfrm>
          <a:prstGeom prst="rect">
            <a:avLst/>
          </a:prstGeom>
          <a:noFill/>
          <a:ln/>
        </p:spPr>
        <p:txBody>
          <a:bodyPr wrap="square" lIns="0" tIns="0" rIns="0" bIns="0" rtlCol="0" anchor="ctr"/>
          <a:lstStyle/>
          <a:p>
            <a:pPr marL="0" indent="0" algn="r">
              <a:buNone/>
            </a:pPr>
            <a:r>
              <a:rPr lang="en-US" sz="1500" b="1" dirty="0">
                <a:solidFill>
                  <a:srgbClr val="0B3D3A"/>
                </a:solidFill>
                <a:latin typeface="Cambria" pitchFamily="34" charset="0"/>
                <a:ea typeface="Cambria" pitchFamily="34" charset="-122"/>
                <a:cs typeface="Cambria" pitchFamily="34" charset="-120"/>
              </a:rPr>
              <a:t>العلاجات المقدمة</a:t>
            </a:r>
            <a:endParaRPr lang="en-US" sz="1500" dirty="0"/>
          </a:p>
        </p:txBody>
      </p:sp>
      <p:sp>
        <p:nvSpPr>
          <p:cNvPr id="30" name="Text 27"/>
          <p:cNvSpPr/>
          <p:nvPr/>
        </p:nvSpPr>
        <p:spPr>
          <a:xfrm>
            <a:off x="6492240" y="2286000"/>
            <a:ext cx="4572000" cy="1188720"/>
          </a:xfrm>
          <a:prstGeom prst="rect">
            <a:avLst/>
          </a:prstGeom>
          <a:noFill/>
          <a:ln/>
        </p:spPr>
        <p:txBody>
          <a:bodyPr wrap="square" lIns="0" tIns="0" rIns="0" bIns="0" rtlCol="0" anchor="t"/>
          <a:lstStyle/>
          <a:p>
            <a:pPr marL="0" indent="0" algn="r">
              <a:lnSpc>
                <a:spcPct val="140000"/>
              </a:lnSpc>
              <a:buNone/>
            </a:pPr>
            <a:r>
              <a:rPr lang="en-US" sz="1300" dirty="0">
                <a:solidFill>
                  <a:srgbClr val="3A2E0E"/>
                </a:solidFill>
                <a:latin typeface="Calibri" pitchFamily="34" charset="0"/>
                <a:ea typeface="Calibri" pitchFamily="34" charset="-122"/>
                <a:cs typeface="Calibri" pitchFamily="34" charset="-120"/>
              </a:rPr>
              <a:t>G5 + مضاد حيوي + مطهر +  Kفيتامين + حديد + اللقاحات</a:t>
            </a:r>
            <a:endParaRPr lang="en-US" sz="1300" dirty="0"/>
          </a:p>
          <a:p>
            <a:pPr marL="0" indent="0" algn="r">
              <a:lnSpc>
                <a:spcPct val="140000"/>
              </a:lnSpc>
              <a:buNone/>
            </a:pPr>
            <a:r>
              <a:rPr lang="en-US" sz="1300" dirty="0">
                <a:solidFill>
                  <a:srgbClr val="3A2E0E"/>
                </a:solidFill>
                <a:latin typeface="Calibri" pitchFamily="34" charset="0"/>
                <a:ea typeface="Calibri" pitchFamily="34" charset="-122"/>
                <a:cs typeface="Calibri" pitchFamily="34" charset="-120"/>
              </a:rPr>
              <a:t>Genta collyre + Syntocinon</a:t>
            </a:r>
            <a:endParaRPr lang="en-US" sz="1300" dirty="0"/>
          </a:p>
        </p:txBody>
      </p:sp>
      <p:sp>
        <p:nvSpPr>
          <p:cNvPr id="31" name="Shape 28"/>
          <p:cNvSpPr/>
          <p:nvPr/>
        </p:nvSpPr>
        <p:spPr>
          <a:xfrm>
            <a:off x="6217920" y="3840480"/>
            <a:ext cx="5120640" cy="2194560"/>
          </a:xfrm>
          <a:prstGeom prst="roundRect">
            <a:avLst>
              <a:gd name="adj" fmla="val 5000"/>
            </a:avLst>
          </a:prstGeom>
          <a:solidFill>
            <a:srgbClr val="B85C38">
              <a:alpha val="90000"/>
            </a:srgbClr>
          </a:solidFill>
          <a:ln/>
        </p:spPr>
      </p:sp>
      <p:sp>
        <p:nvSpPr>
          <p:cNvPr id="32" name="Text 29"/>
          <p:cNvSpPr/>
          <p:nvPr/>
        </p:nvSpPr>
        <p:spPr>
          <a:xfrm>
            <a:off x="6492240" y="4023360"/>
            <a:ext cx="4572000" cy="320040"/>
          </a:xfrm>
          <a:prstGeom prst="rect">
            <a:avLst/>
          </a:prstGeom>
          <a:noFill/>
          <a:ln/>
        </p:spPr>
        <p:txBody>
          <a:bodyPr wrap="square" lIns="0" tIns="0" rIns="0" bIns="0" rtlCol="0" anchor="ctr"/>
          <a:lstStyle/>
          <a:p>
            <a:pPr marL="0" indent="0" algn="r">
              <a:buNone/>
            </a:pPr>
            <a:r>
              <a:rPr lang="en-US" sz="1400" b="1" dirty="0">
                <a:solidFill>
                  <a:srgbClr val="FFFFFF"/>
                </a:solidFill>
                <a:latin typeface="Cambria" pitchFamily="34" charset="0"/>
                <a:ea typeface="Cambria" pitchFamily="34" charset="-122"/>
                <a:cs typeface="Cambria" pitchFamily="34" charset="-120"/>
              </a:rPr>
              <a:t>ملاحظة</a:t>
            </a:r>
            <a:endParaRPr lang="en-US" sz="1400" dirty="0"/>
          </a:p>
        </p:txBody>
      </p:sp>
      <p:sp>
        <p:nvSpPr>
          <p:cNvPr id="33" name="Text 30"/>
          <p:cNvSpPr/>
          <p:nvPr/>
        </p:nvSpPr>
        <p:spPr>
          <a:xfrm>
            <a:off x="6492240" y="4370832"/>
            <a:ext cx="4572000" cy="1554480"/>
          </a:xfrm>
          <a:prstGeom prst="rect">
            <a:avLst/>
          </a:prstGeom>
          <a:noFill/>
          <a:ln/>
        </p:spPr>
        <p:txBody>
          <a:bodyPr wrap="square" lIns="0" tIns="0" rIns="0" bIns="0" rtlCol="0" anchor="t"/>
          <a:lstStyle/>
          <a:p>
            <a:pPr marL="0" indent="0" algn="r">
              <a:lnSpc>
                <a:spcPct val="135000"/>
              </a:lnSpc>
              <a:buNone/>
            </a:pPr>
            <a:r>
              <a:rPr lang="en-US" sz="1250" dirty="0">
                <a:solidFill>
                  <a:srgbClr val="FFFFFF"/>
                </a:solidFill>
                <a:latin typeface="Calibri" pitchFamily="34" charset="0"/>
                <a:ea typeface="Calibri" pitchFamily="34" charset="-122"/>
                <a:cs typeface="Calibri" pitchFamily="34" charset="-120"/>
              </a:rPr>
              <a:t>نظرًا لمتطلبات التكوين العملي، كان على المتدربة إنجاز خمس ولادات من بينها والدة بكرية خلال فترة التدريب. إلا أن قلة الحالات الوافدة إلى المركز الصحي حالت دون تحقيق هذا الهدف بشكل كامل.</a:t>
            </a:r>
            <a:endParaRPr lang="en-US" sz="1250" dirty="0"/>
          </a:p>
        </p:txBody>
      </p:sp>
      <p:sp>
        <p:nvSpPr>
          <p:cNvPr id="34" name="Text 31"/>
          <p:cNvSpPr/>
          <p:nvPr/>
        </p:nvSpPr>
        <p:spPr>
          <a:xfrm>
            <a:off x="11338560" y="6355080"/>
            <a:ext cx="457200" cy="320040"/>
          </a:xfrm>
          <a:prstGeom prst="rect">
            <a:avLst/>
          </a:prstGeom>
          <a:noFill/>
          <a:ln/>
        </p:spPr>
        <p:txBody>
          <a:bodyPr wrap="square" rtlCol="0" anchor="ctr"/>
          <a:lstStyle/>
          <a:p>
            <a:pPr marL="0" indent="0" algn="ctr">
              <a:buNone/>
            </a:pPr>
            <a:r>
              <a:rPr lang="en-US" sz="1000" dirty="0">
                <a:solidFill>
                  <a:srgbClr val="B9CFC9"/>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22960" y="457200"/>
            <a:ext cx="7315200" cy="594360"/>
          </a:xfrm>
          <a:prstGeom prst="rect">
            <a:avLst/>
          </a:prstGeom>
          <a:noFill/>
          <a:ln/>
        </p:spPr>
        <p:txBody>
          <a:bodyPr wrap="square" lIns="0" tIns="0" rIns="0" bIns="0" rtlCol="0" anchor="ctr"/>
          <a:lstStyle/>
          <a:p>
            <a:pPr marL="0" indent="0" algn="r">
              <a:buNone/>
            </a:pPr>
            <a:r>
              <a:rPr lang="en-US" sz="2800" b="1" dirty="0">
                <a:solidFill>
                  <a:srgbClr val="0B3D3A"/>
                </a:solidFill>
                <a:latin typeface="Cambria" pitchFamily="34" charset="0"/>
                <a:ea typeface="Cambria" pitchFamily="34" charset="-122"/>
                <a:cs typeface="Cambria" pitchFamily="34" charset="-120"/>
              </a:rPr>
              <a:t>تلقيح 20 رضيعًا</a:t>
            </a:r>
            <a:endParaRPr lang="en-US" sz="2800" dirty="0"/>
          </a:p>
        </p:txBody>
      </p:sp>
      <p:sp>
        <p:nvSpPr>
          <p:cNvPr id="3" name="Text 1"/>
          <p:cNvSpPr/>
          <p:nvPr/>
        </p:nvSpPr>
        <p:spPr>
          <a:xfrm>
            <a:off x="822960" y="987552"/>
            <a:ext cx="7315200" cy="365760"/>
          </a:xfrm>
          <a:prstGeom prst="rect">
            <a:avLst/>
          </a:prstGeom>
          <a:noFill/>
          <a:ln/>
        </p:spPr>
        <p:txBody>
          <a:bodyPr wrap="square" lIns="0" tIns="0" rIns="0" bIns="0" rtlCol="0" anchor="ctr"/>
          <a:lstStyle/>
          <a:p>
            <a:pPr marL="0" indent="0" algn="r">
              <a:buNone/>
            </a:pPr>
            <a:r>
              <a:rPr lang="en-US" sz="1300" dirty="0">
                <a:solidFill>
                  <a:srgbClr val="5B6F6C"/>
                </a:solidFill>
                <a:latin typeface="Calibri" pitchFamily="34" charset="0"/>
                <a:ea typeface="Calibri" pitchFamily="34" charset="-122"/>
                <a:cs typeface="Calibri" pitchFamily="34" charset="-120"/>
              </a:rPr>
              <a:t>من بينهم 10 رضّع تلقوا لقاح BCG</a:t>
            </a:r>
            <a:endParaRPr lang="en-US" sz="1300" dirty="0"/>
          </a:p>
        </p:txBody>
      </p:sp>
      <p:pic>
        <p:nvPicPr>
          <p:cNvPr id="4" name="Image 0" descr="icons/syringe_teal.png"/>
          <p:cNvPicPr>
            <a:picLocks noChangeAspect="1"/>
          </p:cNvPicPr>
          <p:nvPr/>
        </p:nvPicPr>
        <p:blipFill>
          <a:blip r:embed="rId3"/>
          <a:stretch>
            <a:fillRect/>
          </a:stretch>
        </p:blipFill>
        <p:spPr>
          <a:xfrm>
            <a:off x="10698480" y="457200"/>
            <a:ext cx="502920" cy="502920"/>
          </a:xfrm>
          <a:prstGeom prst="rect">
            <a:avLst/>
          </a:prstGeom>
        </p:spPr>
      </p:pic>
      <p:sp>
        <p:nvSpPr>
          <p:cNvPr id="5" name="Shape 2"/>
          <p:cNvSpPr/>
          <p:nvPr/>
        </p:nvSpPr>
        <p:spPr>
          <a:xfrm>
            <a:off x="667512" y="3954780"/>
            <a:ext cx="1444752" cy="1028700"/>
          </a:xfrm>
          <a:prstGeom prst="roundRect">
            <a:avLst>
              <a:gd name="adj" fmla="val 7111"/>
            </a:avLst>
          </a:prstGeom>
          <a:solidFill>
            <a:srgbClr val="117A65"/>
          </a:solidFill>
          <a:ln/>
        </p:spPr>
      </p:sp>
      <p:sp>
        <p:nvSpPr>
          <p:cNvPr id="6" name="Text 3"/>
          <p:cNvSpPr/>
          <p:nvPr/>
        </p:nvSpPr>
        <p:spPr>
          <a:xfrm>
            <a:off x="667512" y="3589020"/>
            <a:ext cx="1444752" cy="320040"/>
          </a:xfrm>
          <a:prstGeom prst="rect">
            <a:avLst/>
          </a:prstGeom>
          <a:noFill/>
          <a:ln/>
        </p:spPr>
        <p:txBody>
          <a:bodyPr wrap="square" lIns="0" tIns="0" rIns="0" bIns="0" rtlCol="0" anchor="ctr"/>
          <a:lstStyle/>
          <a:p>
            <a:pPr marL="0" indent="0" algn="ctr">
              <a:buNone/>
            </a:pPr>
            <a:r>
              <a:rPr lang="en-US" sz="1700" b="1" dirty="0">
                <a:solidFill>
                  <a:srgbClr val="0B3D3A"/>
                </a:solidFill>
                <a:latin typeface="Cambria" pitchFamily="34" charset="0"/>
                <a:ea typeface="Cambria" pitchFamily="34" charset="-122"/>
                <a:cs typeface="Cambria" pitchFamily="34" charset="-120"/>
              </a:rPr>
              <a:t>5</a:t>
            </a:r>
            <a:endParaRPr lang="en-US" sz="1700" dirty="0"/>
          </a:p>
        </p:txBody>
      </p:sp>
      <p:sp>
        <p:nvSpPr>
          <p:cNvPr id="7" name="Text 4"/>
          <p:cNvSpPr/>
          <p:nvPr/>
        </p:nvSpPr>
        <p:spPr>
          <a:xfrm>
            <a:off x="667512" y="5074920"/>
            <a:ext cx="1444752" cy="365760"/>
          </a:xfrm>
          <a:prstGeom prst="rect">
            <a:avLst/>
          </a:prstGeom>
          <a:noFill/>
          <a:ln/>
        </p:spPr>
        <p:txBody>
          <a:bodyPr wrap="square" lIns="0" tIns="0" rIns="0" bIns="0" rtlCol="0" anchor="ctr"/>
          <a:lstStyle/>
          <a:p>
            <a:pPr marL="0" indent="0" algn="ctr">
              <a:buNone/>
            </a:pPr>
            <a:r>
              <a:rPr lang="en-US" sz="1200" b="1" dirty="0">
                <a:solidFill>
                  <a:srgbClr val="1B2B28"/>
                </a:solidFill>
                <a:latin typeface="Calibri" pitchFamily="34" charset="0"/>
                <a:ea typeface="Calibri" pitchFamily="34" charset="-122"/>
                <a:cs typeface="Calibri" pitchFamily="34" charset="-120"/>
              </a:rPr>
              <a:t>BCG</a:t>
            </a:r>
            <a:endParaRPr lang="en-US" sz="1200" dirty="0"/>
          </a:p>
        </p:txBody>
      </p:sp>
      <p:sp>
        <p:nvSpPr>
          <p:cNvPr id="8" name="Shape 5"/>
          <p:cNvSpPr/>
          <p:nvPr/>
        </p:nvSpPr>
        <p:spPr>
          <a:xfrm>
            <a:off x="2231136" y="4366260"/>
            <a:ext cx="1444752" cy="617220"/>
          </a:xfrm>
          <a:prstGeom prst="roundRect">
            <a:avLst>
              <a:gd name="adj" fmla="val 11852"/>
            </a:avLst>
          </a:prstGeom>
          <a:solidFill>
            <a:srgbClr val="117A65"/>
          </a:solidFill>
          <a:ln/>
        </p:spPr>
      </p:sp>
      <p:sp>
        <p:nvSpPr>
          <p:cNvPr id="9" name="Text 6"/>
          <p:cNvSpPr/>
          <p:nvPr/>
        </p:nvSpPr>
        <p:spPr>
          <a:xfrm>
            <a:off x="2231136" y="4000500"/>
            <a:ext cx="1444752" cy="320040"/>
          </a:xfrm>
          <a:prstGeom prst="rect">
            <a:avLst/>
          </a:prstGeom>
          <a:noFill/>
          <a:ln/>
        </p:spPr>
        <p:txBody>
          <a:bodyPr wrap="square" lIns="0" tIns="0" rIns="0" bIns="0" rtlCol="0" anchor="ctr"/>
          <a:lstStyle/>
          <a:p>
            <a:pPr marL="0" indent="0" algn="ctr">
              <a:buNone/>
            </a:pPr>
            <a:r>
              <a:rPr lang="en-US" sz="1700" b="1" dirty="0">
                <a:solidFill>
                  <a:srgbClr val="0B3D3A"/>
                </a:solidFill>
                <a:latin typeface="Cambria" pitchFamily="34" charset="0"/>
                <a:ea typeface="Cambria" pitchFamily="34" charset="-122"/>
                <a:cs typeface="Cambria" pitchFamily="34" charset="-120"/>
              </a:rPr>
              <a:t>3</a:t>
            </a:r>
            <a:endParaRPr lang="en-US" sz="1700" dirty="0"/>
          </a:p>
        </p:txBody>
      </p:sp>
      <p:sp>
        <p:nvSpPr>
          <p:cNvPr id="10" name="Text 7"/>
          <p:cNvSpPr/>
          <p:nvPr/>
        </p:nvSpPr>
        <p:spPr>
          <a:xfrm>
            <a:off x="2231136" y="5074920"/>
            <a:ext cx="1444752" cy="365760"/>
          </a:xfrm>
          <a:prstGeom prst="rect">
            <a:avLst/>
          </a:prstGeom>
          <a:noFill/>
          <a:ln/>
        </p:spPr>
        <p:txBody>
          <a:bodyPr wrap="square" lIns="0" tIns="0" rIns="0" bIns="0" rtlCol="0" anchor="ctr"/>
          <a:lstStyle/>
          <a:p>
            <a:pPr marL="0" indent="0" algn="ctr">
              <a:buNone/>
            </a:pPr>
            <a:r>
              <a:rPr lang="en-US" sz="1200" b="1" dirty="0">
                <a:solidFill>
                  <a:srgbClr val="1B2B28"/>
                </a:solidFill>
                <a:latin typeface="Calibri" pitchFamily="34" charset="0"/>
                <a:ea typeface="Calibri" pitchFamily="34" charset="-122"/>
                <a:cs typeface="Calibri" pitchFamily="34" charset="-120"/>
              </a:rPr>
              <a:t>Hep.B</a:t>
            </a:r>
            <a:endParaRPr lang="en-US" sz="1200" dirty="0"/>
          </a:p>
        </p:txBody>
      </p:sp>
      <p:sp>
        <p:nvSpPr>
          <p:cNvPr id="11" name="Shape 8"/>
          <p:cNvSpPr/>
          <p:nvPr/>
        </p:nvSpPr>
        <p:spPr>
          <a:xfrm>
            <a:off x="3794760" y="1691640"/>
            <a:ext cx="1444752" cy="3291840"/>
          </a:xfrm>
          <a:prstGeom prst="roundRect">
            <a:avLst>
              <a:gd name="adj" fmla="val 5063"/>
            </a:avLst>
          </a:prstGeom>
          <a:solidFill>
            <a:srgbClr val="117A65"/>
          </a:solidFill>
          <a:ln/>
        </p:spPr>
      </p:sp>
      <p:sp>
        <p:nvSpPr>
          <p:cNvPr id="12" name="Text 9"/>
          <p:cNvSpPr/>
          <p:nvPr/>
        </p:nvSpPr>
        <p:spPr>
          <a:xfrm>
            <a:off x="3794760" y="1325880"/>
            <a:ext cx="1444752" cy="320040"/>
          </a:xfrm>
          <a:prstGeom prst="rect">
            <a:avLst/>
          </a:prstGeom>
          <a:noFill/>
          <a:ln/>
        </p:spPr>
        <p:txBody>
          <a:bodyPr wrap="square" lIns="0" tIns="0" rIns="0" bIns="0" rtlCol="0" anchor="ctr"/>
          <a:lstStyle/>
          <a:p>
            <a:pPr marL="0" indent="0" algn="ctr">
              <a:buNone/>
            </a:pPr>
            <a:r>
              <a:rPr lang="en-US" sz="1700" b="1" dirty="0">
                <a:solidFill>
                  <a:srgbClr val="0B3D3A"/>
                </a:solidFill>
                <a:latin typeface="Cambria" pitchFamily="34" charset="0"/>
                <a:ea typeface="Cambria" pitchFamily="34" charset="-122"/>
                <a:cs typeface="Cambria" pitchFamily="34" charset="-120"/>
              </a:rPr>
              <a:t>16</a:t>
            </a:r>
            <a:endParaRPr lang="en-US" sz="1700" dirty="0"/>
          </a:p>
        </p:txBody>
      </p:sp>
      <p:sp>
        <p:nvSpPr>
          <p:cNvPr id="13" name="Text 10"/>
          <p:cNvSpPr/>
          <p:nvPr/>
        </p:nvSpPr>
        <p:spPr>
          <a:xfrm>
            <a:off x="3794760" y="5074920"/>
            <a:ext cx="1444752" cy="365760"/>
          </a:xfrm>
          <a:prstGeom prst="rect">
            <a:avLst/>
          </a:prstGeom>
          <a:noFill/>
          <a:ln/>
        </p:spPr>
        <p:txBody>
          <a:bodyPr wrap="square" lIns="0" tIns="0" rIns="0" bIns="0" rtlCol="0" anchor="ctr"/>
          <a:lstStyle/>
          <a:p>
            <a:pPr marL="0" indent="0" algn="ctr">
              <a:buNone/>
            </a:pPr>
            <a:r>
              <a:rPr lang="en-US" sz="1200" b="1" dirty="0">
                <a:solidFill>
                  <a:srgbClr val="1B2B28"/>
                </a:solidFill>
                <a:latin typeface="Calibri" pitchFamily="34" charset="0"/>
                <a:ea typeface="Calibri" pitchFamily="34" charset="-122"/>
                <a:cs typeface="Calibri" pitchFamily="34" charset="-120"/>
              </a:rPr>
              <a:t>Polio</a:t>
            </a:r>
            <a:endParaRPr lang="en-US" sz="1200" dirty="0"/>
          </a:p>
        </p:txBody>
      </p:sp>
      <p:sp>
        <p:nvSpPr>
          <p:cNvPr id="14" name="Shape 11"/>
          <p:cNvSpPr/>
          <p:nvPr/>
        </p:nvSpPr>
        <p:spPr>
          <a:xfrm>
            <a:off x="5358384" y="1691640"/>
            <a:ext cx="1444752" cy="3291840"/>
          </a:xfrm>
          <a:prstGeom prst="roundRect">
            <a:avLst>
              <a:gd name="adj" fmla="val 5063"/>
            </a:avLst>
          </a:prstGeom>
          <a:solidFill>
            <a:srgbClr val="117A65"/>
          </a:solidFill>
          <a:ln/>
        </p:spPr>
      </p:sp>
      <p:sp>
        <p:nvSpPr>
          <p:cNvPr id="15" name="Text 12"/>
          <p:cNvSpPr/>
          <p:nvPr/>
        </p:nvSpPr>
        <p:spPr>
          <a:xfrm>
            <a:off x="5358384" y="1325880"/>
            <a:ext cx="1444752" cy="320040"/>
          </a:xfrm>
          <a:prstGeom prst="rect">
            <a:avLst/>
          </a:prstGeom>
          <a:noFill/>
          <a:ln/>
        </p:spPr>
        <p:txBody>
          <a:bodyPr wrap="square" lIns="0" tIns="0" rIns="0" bIns="0" rtlCol="0" anchor="ctr"/>
          <a:lstStyle/>
          <a:p>
            <a:pPr marL="0" indent="0" algn="ctr">
              <a:buNone/>
            </a:pPr>
            <a:r>
              <a:rPr lang="en-US" sz="1700" b="1" dirty="0">
                <a:solidFill>
                  <a:srgbClr val="0B3D3A"/>
                </a:solidFill>
                <a:latin typeface="Cambria" pitchFamily="34" charset="0"/>
                <a:ea typeface="Cambria" pitchFamily="34" charset="-122"/>
                <a:cs typeface="Cambria" pitchFamily="34" charset="-120"/>
              </a:rPr>
              <a:t>16</a:t>
            </a:r>
            <a:endParaRPr lang="en-US" sz="1700" dirty="0"/>
          </a:p>
        </p:txBody>
      </p:sp>
      <p:sp>
        <p:nvSpPr>
          <p:cNvPr id="16" name="Text 13"/>
          <p:cNvSpPr/>
          <p:nvPr/>
        </p:nvSpPr>
        <p:spPr>
          <a:xfrm>
            <a:off x="5358384" y="5074920"/>
            <a:ext cx="1444752" cy="365760"/>
          </a:xfrm>
          <a:prstGeom prst="rect">
            <a:avLst/>
          </a:prstGeom>
          <a:noFill/>
          <a:ln/>
        </p:spPr>
        <p:txBody>
          <a:bodyPr wrap="square" lIns="0" tIns="0" rIns="0" bIns="0" rtlCol="0" anchor="ctr"/>
          <a:lstStyle/>
          <a:p>
            <a:pPr marL="0" indent="0" algn="ctr">
              <a:buNone/>
            </a:pPr>
            <a:r>
              <a:rPr lang="en-US" sz="1200" b="1" dirty="0">
                <a:solidFill>
                  <a:srgbClr val="1B2B28"/>
                </a:solidFill>
                <a:latin typeface="Calibri" pitchFamily="34" charset="0"/>
                <a:ea typeface="Calibri" pitchFamily="34" charset="-122"/>
                <a:cs typeface="Calibri" pitchFamily="34" charset="-120"/>
              </a:rPr>
              <a:t>Penta</a:t>
            </a:r>
            <a:endParaRPr lang="en-US" sz="1200" dirty="0"/>
          </a:p>
        </p:txBody>
      </p:sp>
      <p:sp>
        <p:nvSpPr>
          <p:cNvPr id="17" name="Shape 14"/>
          <p:cNvSpPr/>
          <p:nvPr/>
        </p:nvSpPr>
        <p:spPr>
          <a:xfrm>
            <a:off x="6922008" y="1691640"/>
            <a:ext cx="1444752" cy="3291840"/>
          </a:xfrm>
          <a:prstGeom prst="roundRect">
            <a:avLst>
              <a:gd name="adj" fmla="val 5063"/>
            </a:avLst>
          </a:prstGeom>
          <a:solidFill>
            <a:srgbClr val="117A65"/>
          </a:solidFill>
          <a:ln/>
        </p:spPr>
      </p:sp>
      <p:sp>
        <p:nvSpPr>
          <p:cNvPr id="18" name="Text 15"/>
          <p:cNvSpPr/>
          <p:nvPr/>
        </p:nvSpPr>
        <p:spPr>
          <a:xfrm>
            <a:off x="6922008" y="1325880"/>
            <a:ext cx="1444752" cy="320040"/>
          </a:xfrm>
          <a:prstGeom prst="rect">
            <a:avLst/>
          </a:prstGeom>
          <a:noFill/>
          <a:ln/>
        </p:spPr>
        <p:txBody>
          <a:bodyPr wrap="square" lIns="0" tIns="0" rIns="0" bIns="0" rtlCol="0" anchor="ctr"/>
          <a:lstStyle/>
          <a:p>
            <a:pPr marL="0" indent="0" algn="ctr">
              <a:buNone/>
            </a:pPr>
            <a:r>
              <a:rPr lang="en-US" sz="1700" b="1" dirty="0">
                <a:solidFill>
                  <a:srgbClr val="0B3D3A"/>
                </a:solidFill>
                <a:latin typeface="Cambria" pitchFamily="34" charset="0"/>
                <a:ea typeface="Cambria" pitchFamily="34" charset="-122"/>
                <a:cs typeface="Cambria" pitchFamily="34" charset="-120"/>
              </a:rPr>
              <a:t>16</a:t>
            </a:r>
            <a:endParaRPr lang="en-US" sz="1700" dirty="0"/>
          </a:p>
        </p:txBody>
      </p:sp>
      <p:sp>
        <p:nvSpPr>
          <p:cNvPr id="19" name="Text 16"/>
          <p:cNvSpPr/>
          <p:nvPr/>
        </p:nvSpPr>
        <p:spPr>
          <a:xfrm>
            <a:off x="6922008" y="5074920"/>
            <a:ext cx="1444752" cy="365760"/>
          </a:xfrm>
          <a:prstGeom prst="rect">
            <a:avLst/>
          </a:prstGeom>
          <a:noFill/>
          <a:ln/>
        </p:spPr>
        <p:txBody>
          <a:bodyPr wrap="square" lIns="0" tIns="0" rIns="0" bIns="0" rtlCol="0" anchor="ctr"/>
          <a:lstStyle/>
          <a:p>
            <a:pPr marL="0" indent="0" algn="ctr">
              <a:buNone/>
            </a:pPr>
            <a:r>
              <a:rPr lang="en-US" sz="1200" b="1" dirty="0">
                <a:solidFill>
                  <a:srgbClr val="1B2B28"/>
                </a:solidFill>
                <a:latin typeface="Calibri" pitchFamily="34" charset="0"/>
                <a:ea typeface="Calibri" pitchFamily="34" charset="-122"/>
                <a:cs typeface="Calibri" pitchFamily="34" charset="-120"/>
              </a:rPr>
              <a:t>Pneumo</a:t>
            </a:r>
            <a:endParaRPr lang="en-US" sz="1200" dirty="0"/>
          </a:p>
        </p:txBody>
      </p:sp>
      <p:sp>
        <p:nvSpPr>
          <p:cNvPr id="20" name="Shape 17"/>
          <p:cNvSpPr/>
          <p:nvPr/>
        </p:nvSpPr>
        <p:spPr>
          <a:xfrm>
            <a:off x="8485632" y="2926080"/>
            <a:ext cx="1444752" cy="2057400"/>
          </a:xfrm>
          <a:prstGeom prst="roundRect">
            <a:avLst>
              <a:gd name="adj" fmla="val 5063"/>
            </a:avLst>
          </a:prstGeom>
          <a:solidFill>
            <a:srgbClr val="117A65"/>
          </a:solidFill>
          <a:ln/>
        </p:spPr>
      </p:sp>
      <p:sp>
        <p:nvSpPr>
          <p:cNvPr id="21" name="Text 18"/>
          <p:cNvSpPr/>
          <p:nvPr/>
        </p:nvSpPr>
        <p:spPr>
          <a:xfrm>
            <a:off x="8485632" y="2560320"/>
            <a:ext cx="1444752" cy="320040"/>
          </a:xfrm>
          <a:prstGeom prst="rect">
            <a:avLst/>
          </a:prstGeom>
          <a:noFill/>
          <a:ln/>
        </p:spPr>
        <p:txBody>
          <a:bodyPr wrap="square" lIns="0" tIns="0" rIns="0" bIns="0" rtlCol="0" anchor="ctr"/>
          <a:lstStyle/>
          <a:p>
            <a:pPr marL="0" indent="0" algn="ctr">
              <a:buNone/>
            </a:pPr>
            <a:r>
              <a:rPr lang="en-US" sz="1700" b="1" dirty="0">
                <a:solidFill>
                  <a:srgbClr val="0B3D3A"/>
                </a:solidFill>
                <a:latin typeface="Cambria" pitchFamily="34" charset="0"/>
                <a:ea typeface="Cambria" pitchFamily="34" charset="-122"/>
                <a:cs typeface="Cambria" pitchFamily="34" charset="-120"/>
              </a:rPr>
              <a:t>10</a:t>
            </a:r>
            <a:endParaRPr lang="en-US" sz="1700" dirty="0"/>
          </a:p>
        </p:txBody>
      </p:sp>
      <p:sp>
        <p:nvSpPr>
          <p:cNvPr id="22" name="Text 19"/>
          <p:cNvSpPr/>
          <p:nvPr/>
        </p:nvSpPr>
        <p:spPr>
          <a:xfrm>
            <a:off x="8485632" y="5074920"/>
            <a:ext cx="1444752" cy="365760"/>
          </a:xfrm>
          <a:prstGeom prst="rect">
            <a:avLst/>
          </a:prstGeom>
          <a:noFill/>
          <a:ln/>
        </p:spPr>
        <p:txBody>
          <a:bodyPr wrap="square" lIns="0" tIns="0" rIns="0" bIns="0" rtlCol="0" anchor="ctr"/>
          <a:lstStyle/>
          <a:p>
            <a:pPr marL="0" indent="0" algn="ctr">
              <a:buNone/>
            </a:pPr>
            <a:r>
              <a:rPr lang="en-US" sz="1200" b="1" dirty="0">
                <a:solidFill>
                  <a:srgbClr val="1B2B28"/>
                </a:solidFill>
                <a:latin typeface="Calibri" pitchFamily="34" charset="0"/>
                <a:ea typeface="Calibri" pitchFamily="34" charset="-122"/>
                <a:cs typeface="Calibri" pitchFamily="34" charset="-120"/>
              </a:rPr>
              <a:t>Rota</a:t>
            </a:r>
            <a:endParaRPr lang="en-US" sz="1200" dirty="0"/>
          </a:p>
        </p:txBody>
      </p:sp>
      <p:sp>
        <p:nvSpPr>
          <p:cNvPr id="23" name="Shape 20"/>
          <p:cNvSpPr/>
          <p:nvPr/>
        </p:nvSpPr>
        <p:spPr>
          <a:xfrm>
            <a:off x="10049256" y="2926080"/>
            <a:ext cx="1444752" cy="2057400"/>
          </a:xfrm>
          <a:prstGeom prst="roundRect">
            <a:avLst>
              <a:gd name="adj" fmla="val 5063"/>
            </a:avLst>
          </a:prstGeom>
          <a:solidFill>
            <a:srgbClr val="117A65"/>
          </a:solidFill>
          <a:ln/>
        </p:spPr>
      </p:sp>
      <p:sp>
        <p:nvSpPr>
          <p:cNvPr id="24" name="Text 21"/>
          <p:cNvSpPr/>
          <p:nvPr/>
        </p:nvSpPr>
        <p:spPr>
          <a:xfrm>
            <a:off x="10049256" y="2560320"/>
            <a:ext cx="1444752" cy="320040"/>
          </a:xfrm>
          <a:prstGeom prst="rect">
            <a:avLst/>
          </a:prstGeom>
          <a:noFill/>
          <a:ln/>
        </p:spPr>
        <p:txBody>
          <a:bodyPr wrap="square" lIns="0" tIns="0" rIns="0" bIns="0" rtlCol="0" anchor="ctr"/>
          <a:lstStyle/>
          <a:p>
            <a:pPr marL="0" indent="0" algn="ctr">
              <a:buNone/>
            </a:pPr>
            <a:r>
              <a:rPr lang="en-US" sz="1700" b="1" dirty="0">
                <a:solidFill>
                  <a:srgbClr val="0B3D3A"/>
                </a:solidFill>
                <a:latin typeface="Cambria" pitchFamily="34" charset="0"/>
                <a:ea typeface="Cambria" pitchFamily="34" charset="-122"/>
                <a:cs typeface="Cambria" pitchFamily="34" charset="-120"/>
              </a:rPr>
              <a:t>10</a:t>
            </a:r>
            <a:endParaRPr lang="en-US" sz="1700" dirty="0"/>
          </a:p>
        </p:txBody>
      </p:sp>
      <p:sp>
        <p:nvSpPr>
          <p:cNvPr id="25" name="Text 22"/>
          <p:cNvSpPr/>
          <p:nvPr/>
        </p:nvSpPr>
        <p:spPr>
          <a:xfrm>
            <a:off x="10049256" y="5074920"/>
            <a:ext cx="1444752" cy="365760"/>
          </a:xfrm>
          <a:prstGeom prst="rect">
            <a:avLst/>
          </a:prstGeom>
          <a:noFill/>
          <a:ln/>
        </p:spPr>
        <p:txBody>
          <a:bodyPr wrap="square" lIns="0" tIns="0" rIns="0" bIns="0" rtlCol="0" anchor="ctr"/>
          <a:lstStyle/>
          <a:p>
            <a:pPr marL="0" indent="0" algn="ctr">
              <a:buNone/>
            </a:pPr>
            <a:r>
              <a:rPr lang="en-US" sz="1200" b="1" dirty="0">
                <a:solidFill>
                  <a:srgbClr val="1B2B28"/>
                </a:solidFill>
                <a:latin typeface="Calibri" pitchFamily="34" charset="0"/>
                <a:ea typeface="Calibri" pitchFamily="34" charset="-122"/>
                <a:cs typeface="Calibri" pitchFamily="34" charset="-120"/>
              </a:rPr>
              <a:t>RR</a:t>
            </a:r>
            <a:endParaRPr lang="en-US" sz="1200" dirty="0"/>
          </a:p>
        </p:txBody>
      </p:sp>
      <p:sp>
        <p:nvSpPr>
          <p:cNvPr id="26" name="Shape 23"/>
          <p:cNvSpPr/>
          <p:nvPr/>
        </p:nvSpPr>
        <p:spPr>
          <a:xfrm>
            <a:off x="822960" y="4983480"/>
            <a:ext cx="10515600" cy="18288"/>
          </a:xfrm>
          <a:prstGeom prst="rect">
            <a:avLst/>
          </a:prstGeom>
          <a:solidFill>
            <a:srgbClr val="D8DED9"/>
          </a:solidFill>
          <a:ln/>
        </p:spPr>
      </p:sp>
      <p:sp>
        <p:nvSpPr>
          <p:cNvPr id="27" name="Shape 24"/>
          <p:cNvSpPr/>
          <p:nvPr/>
        </p:nvSpPr>
        <p:spPr>
          <a:xfrm>
            <a:off x="822960" y="5486400"/>
            <a:ext cx="10515600" cy="914400"/>
          </a:xfrm>
          <a:prstGeom prst="roundRect">
            <a:avLst>
              <a:gd name="adj" fmla="val 10000"/>
            </a:avLst>
          </a:prstGeom>
          <a:solidFill>
            <a:srgbClr val="0B3D3A"/>
          </a:solidFill>
          <a:ln/>
        </p:spPr>
      </p:sp>
      <p:sp>
        <p:nvSpPr>
          <p:cNvPr id="28" name="Text 25"/>
          <p:cNvSpPr/>
          <p:nvPr/>
        </p:nvSpPr>
        <p:spPr>
          <a:xfrm>
            <a:off x="1097280" y="5486400"/>
            <a:ext cx="9966960" cy="9144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إجمالي عدد جرعات اللقاحات الموزّعة خلال فترة التدريب: 76 جرعة عبر 7 أنواع لقاحات أساسية</a:t>
            </a:r>
            <a:endParaRPr lang="en-US" sz="1400" dirty="0"/>
          </a:p>
        </p:txBody>
      </p:sp>
      <p:sp>
        <p:nvSpPr>
          <p:cNvPr id="29" name="Text 26"/>
          <p:cNvSpPr/>
          <p:nvPr/>
        </p:nvSpPr>
        <p:spPr>
          <a:xfrm>
            <a:off x="11338560" y="6355080"/>
            <a:ext cx="457200" cy="320040"/>
          </a:xfrm>
          <a:prstGeom prst="rect">
            <a:avLst/>
          </a:prstGeom>
          <a:noFill/>
          <a:ln/>
        </p:spPr>
        <p:txBody>
          <a:bodyPr wrap="square" rtlCol="0" anchor="ctr"/>
          <a:lstStyle/>
          <a:p>
            <a:pPr marL="0" indent="0" algn="ctr">
              <a:buNone/>
            </a:pPr>
            <a:r>
              <a:rPr lang="en-US" sz="1000" dirty="0">
                <a:solidFill>
                  <a:srgbClr val="5B6F6C"/>
                </a:solidFill>
                <a:latin typeface="Calibri" pitchFamily="34" charset="0"/>
                <a:ea typeface="Calibri" pitchFamily="34" charset="-122"/>
                <a:cs typeface="Calibri" pitchFamily="34" charset="-120"/>
              </a:rPr>
              <a:t>13</a:t>
            </a:r>
            <a:endParaRPr lang="en-US" sz="1000" dirty="0"/>
          </a:p>
        </p:txBody>
      </p:sp>
      <p:sp>
        <p:nvSpPr>
          <p:cNvPr id="30" name="Text 27"/>
          <p:cNvSpPr/>
          <p:nvPr/>
        </p:nvSpPr>
        <p:spPr>
          <a:xfrm>
            <a:off x="457200" y="6355080"/>
            <a:ext cx="3657600" cy="320040"/>
          </a:xfrm>
          <a:prstGeom prst="rect">
            <a:avLst/>
          </a:prstGeom>
          <a:noFill/>
          <a:ln/>
        </p:spPr>
        <p:txBody>
          <a:bodyPr wrap="square" rtlCol="0" anchor="ctr"/>
          <a:lstStyle/>
          <a:p>
            <a:pPr marL="0" indent="0" algn="l">
              <a:buNone/>
            </a:pPr>
            <a:r>
              <a:rPr lang="en-US" sz="900" dirty="0">
                <a:solidFill>
                  <a:srgbClr val="9AAFAC"/>
                </a:solidFill>
                <a:latin typeface="Calibri" pitchFamily="34" charset="0"/>
                <a:ea typeface="Calibri" pitchFamily="34" charset="-122"/>
                <a:cs typeface="Calibri" pitchFamily="34" charset="-120"/>
              </a:rPr>
              <a:t>مدرسة الصحة العمومية بسيليبابي</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8686800" cy="594360"/>
          </a:xfrm>
          <a:prstGeom prst="rect">
            <a:avLst/>
          </a:prstGeom>
          <a:noFill/>
          <a:ln/>
        </p:spPr>
        <p:txBody>
          <a:bodyPr wrap="square" lIns="0" tIns="0" rIns="0" bIns="0" rtlCol="0" anchor="ctr"/>
          <a:lstStyle/>
          <a:p>
            <a:pPr marL="0" indent="0" algn="r">
              <a:buNone/>
            </a:pPr>
            <a:r>
              <a:rPr lang="en-US" sz="2500" b="1" dirty="0">
                <a:solidFill>
                  <a:srgbClr val="0B3D3A"/>
                </a:solidFill>
                <a:latin typeface="Cambria" pitchFamily="34" charset="0"/>
                <a:ea typeface="Cambria" pitchFamily="34" charset="-122"/>
                <a:cs typeface="Cambria" pitchFamily="34" charset="-120"/>
              </a:rPr>
              <a:t>إنجاز 20 استشارة ما قبل الولادة</a:t>
            </a:r>
            <a:endParaRPr lang="en-US" sz="2500" dirty="0"/>
          </a:p>
        </p:txBody>
      </p:sp>
      <p:pic>
        <p:nvPicPr>
          <p:cNvPr id="3" name="Image 0" descr="icons/baby_teal.png"/>
          <p:cNvPicPr>
            <a:picLocks noChangeAspect="1"/>
          </p:cNvPicPr>
          <p:nvPr/>
        </p:nvPicPr>
        <p:blipFill>
          <a:blip r:embed="rId3"/>
          <a:stretch>
            <a:fillRect/>
          </a:stretch>
        </p:blipFill>
        <p:spPr>
          <a:xfrm>
            <a:off x="10698480" y="457200"/>
            <a:ext cx="502920" cy="502920"/>
          </a:xfrm>
          <a:prstGeom prst="rect">
            <a:avLst/>
          </a:prstGeom>
        </p:spPr>
      </p:pic>
      <p:sp>
        <p:nvSpPr>
          <p:cNvPr id="4" name="Shape 1"/>
          <p:cNvSpPr/>
          <p:nvPr/>
        </p:nvSpPr>
        <p:spPr>
          <a:xfrm>
            <a:off x="0" y="1188720"/>
            <a:ext cx="3200400" cy="5669280"/>
          </a:xfrm>
          <a:prstGeom prst="rect">
            <a:avLst/>
          </a:prstGeom>
          <a:solidFill>
            <a:srgbClr val="D9F0EA"/>
          </a:solidFill>
          <a:ln/>
        </p:spPr>
      </p:sp>
      <p:sp>
        <p:nvSpPr>
          <p:cNvPr id="5" name="Text 2"/>
          <p:cNvSpPr/>
          <p:nvPr/>
        </p:nvSpPr>
        <p:spPr>
          <a:xfrm>
            <a:off x="274320" y="1508760"/>
            <a:ext cx="2651760" cy="502920"/>
          </a:xfrm>
          <a:prstGeom prst="rect">
            <a:avLst/>
          </a:prstGeom>
          <a:noFill/>
          <a:ln/>
        </p:spPr>
        <p:txBody>
          <a:bodyPr wrap="square" lIns="0" tIns="0" rIns="0" bIns="0" rtlCol="0" anchor="ctr"/>
          <a:lstStyle/>
          <a:p>
            <a:pPr marL="0" indent="0" algn="ctr">
              <a:buNone/>
            </a:pPr>
            <a:r>
              <a:rPr lang="en-US" sz="3000" b="1" dirty="0">
                <a:solidFill>
                  <a:srgbClr val="0B3D3A"/>
                </a:solidFill>
                <a:latin typeface="Cambria" pitchFamily="34" charset="0"/>
                <a:ea typeface="Cambria" pitchFamily="34" charset="-122"/>
                <a:cs typeface="Cambria" pitchFamily="34" charset="-120"/>
              </a:rPr>
              <a:t>20</a:t>
            </a:r>
            <a:endParaRPr lang="en-US" sz="3000" dirty="0"/>
          </a:p>
        </p:txBody>
      </p:sp>
      <p:sp>
        <p:nvSpPr>
          <p:cNvPr id="6" name="Text 3"/>
          <p:cNvSpPr/>
          <p:nvPr/>
        </p:nvSpPr>
        <p:spPr>
          <a:xfrm>
            <a:off x="274320" y="2039112"/>
            <a:ext cx="2651760" cy="320040"/>
          </a:xfrm>
          <a:prstGeom prst="rect">
            <a:avLst/>
          </a:prstGeom>
          <a:noFill/>
          <a:ln/>
        </p:spPr>
        <p:txBody>
          <a:bodyPr wrap="square" lIns="0" tIns="0" rIns="0" bIns="0" rtlCol="0" anchor="ctr"/>
          <a:lstStyle/>
          <a:p>
            <a:pPr marL="0" indent="0" algn="ctr">
              <a:buNone/>
            </a:pPr>
            <a:r>
              <a:rPr lang="en-US" sz="1150" dirty="0">
                <a:solidFill>
                  <a:srgbClr val="117A65"/>
                </a:solidFill>
                <a:latin typeface="Calibri" pitchFamily="34" charset="0"/>
                <a:ea typeface="Calibri" pitchFamily="34" charset="-122"/>
                <a:cs typeface="Calibri" pitchFamily="34" charset="-120"/>
              </a:rPr>
              <a:t>حامل تمت متابعتها</a:t>
            </a:r>
            <a:endParaRPr lang="en-US" sz="1150" dirty="0"/>
          </a:p>
        </p:txBody>
      </p:sp>
      <p:sp>
        <p:nvSpPr>
          <p:cNvPr id="7" name="Text 4"/>
          <p:cNvSpPr/>
          <p:nvPr/>
        </p:nvSpPr>
        <p:spPr>
          <a:xfrm>
            <a:off x="274320" y="2587752"/>
            <a:ext cx="2651760" cy="502920"/>
          </a:xfrm>
          <a:prstGeom prst="rect">
            <a:avLst/>
          </a:prstGeom>
          <a:noFill/>
          <a:ln/>
        </p:spPr>
        <p:txBody>
          <a:bodyPr wrap="square" lIns="0" tIns="0" rIns="0" bIns="0" rtlCol="0" anchor="ctr"/>
          <a:lstStyle/>
          <a:p>
            <a:pPr marL="0" indent="0" algn="ctr">
              <a:buNone/>
            </a:pPr>
            <a:r>
              <a:rPr lang="en-US" sz="3000" b="1" dirty="0">
                <a:solidFill>
                  <a:srgbClr val="0B3D3A"/>
                </a:solidFill>
                <a:latin typeface="Cambria" pitchFamily="34" charset="0"/>
                <a:ea typeface="Cambria" pitchFamily="34" charset="-122"/>
                <a:cs typeface="Cambria" pitchFamily="34" charset="-120"/>
              </a:rPr>
              <a:t>18</a:t>
            </a:r>
            <a:endParaRPr lang="en-US" sz="3000" dirty="0"/>
          </a:p>
        </p:txBody>
      </p:sp>
      <p:sp>
        <p:nvSpPr>
          <p:cNvPr id="8" name="Text 5"/>
          <p:cNvSpPr/>
          <p:nvPr/>
        </p:nvSpPr>
        <p:spPr>
          <a:xfrm>
            <a:off x="274320" y="3118104"/>
            <a:ext cx="2651760" cy="320040"/>
          </a:xfrm>
          <a:prstGeom prst="rect">
            <a:avLst/>
          </a:prstGeom>
          <a:noFill/>
          <a:ln/>
        </p:spPr>
        <p:txBody>
          <a:bodyPr wrap="square" lIns="0" tIns="0" rIns="0" bIns="0" rtlCol="0" anchor="ctr"/>
          <a:lstStyle/>
          <a:p>
            <a:pPr marL="0" indent="0" algn="ctr">
              <a:buNone/>
            </a:pPr>
            <a:r>
              <a:rPr lang="en-US" sz="1150" dirty="0">
                <a:solidFill>
                  <a:srgbClr val="117A65"/>
                </a:solidFill>
                <a:latin typeface="Calibri" pitchFamily="34" charset="0"/>
                <a:ea typeface="Calibri" pitchFamily="34" charset="-122"/>
                <a:cs typeface="Calibri" pitchFamily="34" charset="-120"/>
              </a:rPr>
              <a:t>أقل من 5 كلم</a:t>
            </a:r>
            <a:endParaRPr lang="en-US" sz="1150" dirty="0"/>
          </a:p>
        </p:txBody>
      </p:sp>
      <p:sp>
        <p:nvSpPr>
          <p:cNvPr id="9" name="Text 6"/>
          <p:cNvSpPr/>
          <p:nvPr/>
        </p:nvSpPr>
        <p:spPr>
          <a:xfrm>
            <a:off x="274320" y="3666744"/>
            <a:ext cx="2651760" cy="502920"/>
          </a:xfrm>
          <a:prstGeom prst="rect">
            <a:avLst/>
          </a:prstGeom>
          <a:noFill/>
          <a:ln/>
        </p:spPr>
        <p:txBody>
          <a:bodyPr wrap="square" lIns="0" tIns="0" rIns="0" bIns="0" rtlCol="0" anchor="ctr"/>
          <a:lstStyle/>
          <a:p>
            <a:pPr marL="0" indent="0" algn="ctr">
              <a:buNone/>
            </a:pPr>
            <a:r>
              <a:rPr lang="en-US" sz="3000" b="1" dirty="0">
                <a:solidFill>
                  <a:srgbClr val="0B3D3A"/>
                </a:solidFill>
                <a:latin typeface="Cambria" pitchFamily="34" charset="0"/>
                <a:ea typeface="Cambria" pitchFamily="34" charset="-122"/>
                <a:cs typeface="Cambria" pitchFamily="34" charset="-120"/>
              </a:rPr>
              <a:t>2</a:t>
            </a:r>
            <a:endParaRPr lang="en-US" sz="3000" dirty="0"/>
          </a:p>
        </p:txBody>
      </p:sp>
      <p:sp>
        <p:nvSpPr>
          <p:cNvPr id="10" name="Text 7"/>
          <p:cNvSpPr/>
          <p:nvPr/>
        </p:nvSpPr>
        <p:spPr>
          <a:xfrm>
            <a:off x="274320" y="4197096"/>
            <a:ext cx="2651760" cy="320040"/>
          </a:xfrm>
          <a:prstGeom prst="rect">
            <a:avLst/>
          </a:prstGeom>
          <a:noFill/>
          <a:ln/>
        </p:spPr>
        <p:txBody>
          <a:bodyPr wrap="square" lIns="0" tIns="0" rIns="0" bIns="0" rtlCol="0" anchor="ctr"/>
          <a:lstStyle/>
          <a:p>
            <a:pPr marL="0" indent="0" algn="ctr">
              <a:buNone/>
            </a:pPr>
            <a:r>
              <a:rPr lang="en-US" sz="1150" dirty="0">
                <a:solidFill>
                  <a:srgbClr val="117A65"/>
                </a:solidFill>
                <a:latin typeface="Calibri" pitchFamily="34" charset="0"/>
                <a:ea typeface="Calibri" pitchFamily="34" charset="-122"/>
                <a:cs typeface="Calibri" pitchFamily="34" charset="-120"/>
              </a:rPr>
              <a:t>أكثر من 5 كلم</a:t>
            </a:r>
            <a:endParaRPr lang="en-US" sz="1150" dirty="0"/>
          </a:p>
        </p:txBody>
      </p:sp>
      <p:sp>
        <p:nvSpPr>
          <p:cNvPr id="11" name="Text 8"/>
          <p:cNvSpPr/>
          <p:nvPr/>
        </p:nvSpPr>
        <p:spPr>
          <a:xfrm>
            <a:off x="274320" y="4745736"/>
            <a:ext cx="2651760" cy="502920"/>
          </a:xfrm>
          <a:prstGeom prst="rect">
            <a:avLst/>
          </a:prstGeom>
          <a:noFill/>
          <a:ln/>
        </p:spPr>
        <p:txBody>
          <a:bodyPr wrap="square" lIns="0" tIns="0" rIns="0" bIns="0" rtlCol="0" anchor="ctr"/>
          <a:lstStyle/>
          <a:p>
            <a:pPr marL="0" indent="0" algn="ctr">
              <a:buNone/>
            </a:pPr>
            <a:r>
              <a:rPr lang="en-US" sz="3000" b="1" dirty="0">
                <a:solidFill>
                  <a:srgbClr val="0B3D3A"/>
                </a:solidFill>
                <a:latin typeface="Cambria" pitchFamily="34" charset="0"/>
                <a:ea typeface="Cambria" pitchFamily="34" charset="-122"/>
                <a:cs typeface="Cambria" pitchFamily="34" charset="-120"/>
              </a:rPr>
              <a:t>100%</a:t>
            </a:r>
            <a:endParaRPr lang="en-US" sz="3000" dirty="0"/>
          </a:p>
        </p:txBody>
      </p:sp>
      <p:sp>
        <p:nvSpPr>
          <p:cNvPr id="12" name="Text 9"/>
          <p:cNvSpPr/>
          <p:nvPr/>
        </p:nvSpPr>
        <p:spPr>
          <a:xfrm>
            <a:off x="274320" y="5276088"/>
            <a:ext cx="2651760" cy="320040"/>
          </a:xfrm>
          <a:prstGeom prst="rect">
            <a:avLst/>
          </a:prstGeom>
          <a:noFill/>
          <a:ln/>
        </p:spPr>
        <p:txBody>
          <a:bodyPr wrap="square" lIns="0" tIns="0" rIns="0" bIns="0" rtlCol="0" anchor="ctr"/>
          <a:lstStyle/>
          <a:p>
            <a:pPr marL="0" indent="0" algn="ctr">
              <a:buNone/>
            </a:pPr>
            <a:r>
              <a:rPr lang="en-US" sz="1150" dirty="0">
                <a:solidFill>
                  <a:srgbClr val="117A65"/>
                </a:solidFill>
                <a:latin typeface="Calibri" pitchFamily="34" charset="0"/>
                <a:ea typeface="Calibri" pitchFamily="34" charset="-122"/>
                <a:cs typeface="Calibri" pitchFamily="34" charset="-120"/>
              </a:rPr>
              <a:t>حصلن على TD1</a:t>
            </a:r>
            <a:endParaRPr lang="en-US" sz="1150" dirty="0"/>
          </a:p>
        </p:txBody>
      </p:sp>
      <p:sp>
        <p:nvSpPr>
          <p:cNvPr id="13" name="Text 10"/>
          <p:cNvSpPr/>
          <p:nvPr/>
        </p:nvSpPr>
        <p:spPr>
          <a:xfrm>
            <a:off x="3520440" y="1417320"/>
            <a:ext cx="7772400" cy="365760"/>
          </a:xfrm>
          <a:prstGeom prst="rect">
            <a:avLst/>
          </a:prstGeom>
          <a:noFill/>
          <a:ln/>
        </p:spPr>
        <p:txBody>
          <a:bodyPr wrap="square" lIns="0" tIns="0" rIns="0" bIns="0" rtlCol="0" anchor="ctr"/>
          <a:lstStyle/>
          <a:p>
            <a:pPr marL="0" indent="0" algn="r">
              <a:buNone/>
            </a:pPr>
            <a:r>
              <a:rPr lang="en-US" sz="1500" b="1" dirty="0">
                <a:solidFill>
                  <a:srgbClr val="0B3D3A"/>
                </a:solidFill>
                <a:latin typeface="Cambria" pitchFamily="34" charset="0"/>
                <a:ea typeface="Cambria" pitchFamily="34" charset="-122"/>
                <a:cs typeface="Cambria" pitchFamily="34" charset="-120"/>
              </a:rPr>
              <a:t>توزيع جرعات لقاح التيتانوس (TD) بين الحوامل</a:t>
            </a:r>
            <a:endParaRPr lang="en-US" sz="1500" dirty="0"/>
          </a:p>
        </p:txBody>
      </p:sp>
      <p:sp>
        <p:nvSpPr>
          <p:cNvPr id="14" name="Text 11"/>
          <p:cNvSpPr/>
          <p:nvPr/>
        </p:nvSpPr>
        <p:spPr>
          <a:xfrm>
            <a:off x="3520440" y="1920240"/>
            <a:ext cx="2743200" cy="274320"/>
          </a:xfrm>
          <a:prstGeom prst="rect">
            <a:avLst/>
          </a:prstGeom>
          <a:noFill/>
          <a:ln/>
        </p:spPr>
        <p:txBody>
          <a:bodyPr wrap="square" lIns="0" tIns="0" rIns="0" bIns="0" rtlCol="0" anchor="ctr"/>
          <a:lstStyle/>
          <a:p>
            <a:pPr marL="0" indent="0" algn="r">
              <a:buNone/>
            </a:pPr>
            <a:r>
              <a:rPr lang="en-US" sz="1200" dirty="0">
                <a:solidFill>
                  <a:srgbClr val="1B2B28"/>
                </a:solidFill>
                <a:latin typeface="Calibri" pitchFamily="34" charset="0"/>
                <a:ea typeface="Calibri" pitchFamily="34" charset="-122"/>
                <a:cs typeface="Calibri" pitchFamily="34" charset="-120"/>
              </a:rPr>
              <a:t>TD1 (الجرعة الأولى)</a:t>
            </a:r>
            <a:endParaRPr lang="en-US" sz="1200" dirty="0"/>
          </a:p>
        </p:txBody>
      </p:sp>
      <p:sp>
        <p:nvSpPr>
          <p:cNvPr id="15" name="Shape 12"/>
          <p:cNvSpPr/>
          <p:nvPr/>
        </p:nvSpPr>
        <p:spPr>
          <a:xfrm>
            <a:off x="3520440" y="2212848"/>
            <a:ext cx="6583680" cy="237744"/>
          </a:xfrm>
          <a:prstGeom prst="roundRect">
            <a:avLst>
              <a:gd name="adj" fmla="val 15385"/>
            </a:avLst>
          </a:prstGeom>
          <a:solidFill>
            <a:srgbClr val="EEF3F1"/>
          </a:solidFill>
          <a:ln/>
        </p:spPr>
      </p:sp>
      <p:sp>
        <p:nvSpPr>
          <p:cNvPr id="16" name="Shape 13"/>
          <p:cNvSpPr/>
          <p:nvPr/>
        </p:nvSpPr>
        <p:spPr>
          <a:xfrm>
            <a:off x="3520440" y="2212848"/>
            <a:ext cx="6583680" cy="237744"/>
          </a:xfrm>
          <a:prstGeom prst="roundRect">
            <a:avLst>
              <a:gd name="adj" fmla="val 15385"/>
            </a:avLst>
          </a:prstGeom>
          <a:solidFill>
            <a:srgbClr val="117A65"/>
          </a:solidFill>
          <a:ln/>
        </p:spPr>
      </p:sp>
      <p:sp>
        <p:nvSpPr>
          <p:cNvPr id="17" name="Text 14"/>
          <p:cNvSpPr/>
          <p:nvPr/>
        </p:nvSpPr>
        <p:spPr>
          <a:xfrm>
            <a:off x="9720072" y="2185416"/>
            <a:ext cx="36576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11</a:t>
            </a:r>
            <a:endParaRPr lang="en-US" sz="1100" dirty="0"/>
          </a:p>
        </p:txBody>
      </p:sp>
      <p:sp>
        <p:nvSpPr>
          <p:cNvPr id="18" name="Text 15"/>
          <p:cNvSpPr/>
          <p:nvPr/>
        </p:nvSpPr>
        <p:spPr>
          <a:xfrm>
            <a:off x="3520440" y="2542032"/>
            <a:ext cx="2743200" cy="274320"/>
          </a:xfrm>
          <a:prstGeom prst="rect">
            <a:avLst/>
          </a:prstGeom>
          <a:noFill/>
          <a:ln/>
        </p:spPr>
        <p:txBody>
          <a:bodyPr wrap="square" lIns="0" tIns="0" rIns="0" bIns="0" rtlCol="0" anchor="ctr"/>
          <a:lstStyle/>
          <a:p>
            <a:pPr marL="0" indent="0" algn="r">
              <a:buNone/>
            </a:pPr>
            <a:r>
              <a:rPr lang="en-US" sz="1200" dirty="0">
                <a:solidFill>
                  <a:srgbClr val="1B2B28"/>
                </a:solidFill>
                <a:latin typeface="Calibri" pitchFamily="34" charset="0"/>
                <a:ea typeface="Calibri" pitchFamily="34" charset="-122"/>
                <a:cs typeface="Calibri" pitchFamily="34" charset="-120"/>
              </a:rPr>
              <a:t>TD2 (الجرعة الثانية)</a:t>
            </a:r>
            <a:endParaRPr lang="en-US" sz="1200" dirty="0"/>
          </a:p>
        </p:txBody>
      </p:sp>
      <p:sp>
        <p:nvSpPr>
          <p:cNvPr id="19" name="Shape 16"/>
          <p:cNvSpPr/>
          <p:nvPr/>
        </p:nvSpPr>
        <p:spPr>
          <a:xfrm>
            <a:off x="3520440" y="2834640"/>
            <a:ext cx="6583680" cy="237744"/>
          </a:xfrm>
          <a:prstGeom prst="roundRect">
            <a:avLst>
              <a:gd name="adj" fmla="val 15385"/>
            </a:avLst>
          </a:prstGeom>
          <a:solidFill>
            <a:srgbClr val="EEF3F1"/>
          </a:solidFill>
          <a:ln/>
        </p:spPr>
      </p:sp>
      <p:sp>
        <p:nvSpPr>
          <p:cNvPr id="20" name="Shape 17"/>
          <p:cNvSpPr/>
          <p:nvPr/>
        </p:nvSpPr>
        <p:spPr>
          <a:xfrm>
            <a:off x="3520440" y="2834640"/>
            <a:ext cx="2992582" cy="237744"/>
          </a:xfrm>
          <a:prstGeom prst="roundRect">
            <a:avLst>
              <a:gd name="adj" fmla="val 15385"/>
            </a:avLst>
          </a:prstGeom>
          <a:solidFill>
            <a:srgbClr val="C9A24B"/>
          </a:solidFill>
          <a:ln/>
        </p:spPr>
      </p:sp>
      <p:sp>
        <p:nvSpPr>
          <p:cNvPr id="21" name="Text 18"/>
          <p:cNvSpPr/>
          <p:nvPr/>
        </p:nvSpPr>
        <p:spPr>
          <a:xfrm>
            <a:off x="6128974" y="2807208"/>
            <a:ext cx="36576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5</a:t>
            </a:r>
            <a:endParaRPr lang="en-US" sz="1100" dirty="0"/>
          </a:p>
        </p:txBody>
      </p:sp>
      <p:sp>
        <p:nvSpPr>
          <p:cNvPr id="22" name="Text 19"/>
          <p:cNvSpPr/>
          <p:nvPr/>
        </p:nvSpPr>
        <p:spPr>
          <a:xfrm>
            <a:off x="3520440" y="3163824"/>
            <a:ext cx="2743200" cy="274320"/>
          </a:xfrm>
          <a:prstGeom prst="rect">
            <a:avLst/>
          </a:prstGeom>
          <a:noFill/>
          <a:ln/>
        </p:spPr>
        <p:txBody>
          <a:bodyPr wrap="square" lIns="0" tIns="0" rIns="0" bIns="0" rtlCol="0" anchor="ctr"/>
          <a:lstStyle/>
          <a:p>
            <a:pPr marL="0" indent="0" algn="r">
              <a:buNone/>
            </a:pPr>
            <a:r>
              <a:rPr lang="en-US" sz="1200" dirty="0">
                <a:solidFill>
                  <a:srgbClr val="1B2B28"/>
                </a:solidFill>
                <a:latin typeface="Calibri" pitchFamily="34" charset="0"/>
                <a:ea typeface="Calibri" pitchFamily="34" charset="-122"/>
                <a:cs typeface="Calibri" pitchFamily="34" charset="-120"/>
              </a:rPr>
              <a:t>TD3 (الجرعة الثالثة)</a:t>
            </a:r>
            <a:endParaRPr lang="en-US" sz="1200" dirty="0"/>
          </a:p>
        </p:txBody>
      </p:sp>
      <p:sp>
        <p:nvSpPr>
          <p:cNvPr id="23" name="Shape 20"/>
          <p:cNvSpPr/>
          <p:nvPr/>
        </p:nvSpPr>
        <p:spPr>
          <a:xfrm>
            <a:off x="3520440" y="3456432"/>
            <a:ext cx="6583680" cy="237744"/>
          </a:xfrm>
          <a:prstGeom prst="roundRect">
            <a:avLst>
              <a:gd name="adj" fmla="val 15385"/>
            </a:avLst>
          </a:prstGeom>
          <a:solidFill>
            <a:srgbClr val="EEF3F1"/>
          </a:solidFill>
          <a:ln/>
        </p:spPr>
      </p:sp>
      <p:sp>
        <p:nvSpPr>
          <p:cNvPr id="24" name="Shape 21"/>
          <p:cNvSpPr/>
          <p:nvPr/>
        </p:nvSpPr>
        <p:spPr>
          <a:xfrm>
            <a:off x="3520440" y="3456432"/>
            <a:ext cx="45720" cy="237744"/>
          </a:xfrm>
          <a:prstGeom prst="roundRect">
            <a:avLst>
              <a:gd name="adj" fmla="val 80000"/>
            </a:avLst>
          </a:prstGeom>
          <a:solidFill>
            <a:srgbClr val="B85C38"/>
          </a:solidFill>
          <a:ln/>
        </p:spPr>
      </p:sp>
      <p:sp>
        <p:nvSpPr>
          <p:cNvPr id="25" name="Text 22"/>
          <p:cNvSpPr/>
          <p:nvPr/>
        </p:nvSpPr>
        <p:spPr>
          <a:xfrm>
            <a:off x="3182112" y="3429000"/>
            <a:ext cx="36576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a:t>
            </a:r>
            <a:endParaRPr lang="en-US" sz="1100" dirty="0"/>
          </a:p>
        </p:txBody>
      </p:sp>
      <p:sp>
        <p:nvSpPr>
          <p:cNvPr id="26" name="Text 23"/>
          <p:cNvSpPr/>
          <p:nvPr/>
        </p:nvSpPr>
        <p:spPr>
          <a:xfrm>
            <a:off x="3520440" y="3785616"/>
            <a:ext cx="2743200" cy="274320"/>
          </a:xfrm>
          <a:prstGeom prst="rect">
            <a:avLst/>
          </a:prstGeom>
          <a:noFill/>
          <a:ln/>
        </p:spPr>
        <p:txBody>
          <a:bodyPr wrap="square" lIns="0" tIns="0" rIns="0" bIns="0" rtlCol="0" anchor="ctr"/>
          <a:lstStyle/>
          <a:p>
            <a:pPr marL="0" indent="0" algn="r">
              <a:buNone/>
            </a:pPr>
            <a:r>
              <a:rPr lang="en-US" sz="1200" dirty="0">
                <a:solidFill>
                  <a:srgbClr val="1B2B28"/>
                </a:solidFill>
                <a:latin typeface="Calibri" pitchFamily="34" charset="0"/>
                <a:ea typeface="Calibri" pitchFamily="34" charset="-122"/>
                <a:cs typeface="Calibri" pitchFamily="34" charset="-120"/>
              </a:rPr>
              <a:t>TD4 (الجرعة الرابعة)</a:t>
            </a:r>
            <a:endParaRPr lang="en-US" sz="1200" dirty="0"/>
          </a:p>
        </p:txBody>
      </p:sp>
      <p:sp>
        <p:nvSpPr>
          <p:cNvPr id="27" name="Shape 24"/>
          <p:cNvSpPr/>
          <p:nvPr/>
        </p:nvSpPr>
        <p:spPr>
          <a:xfrm>
            <a:off x="3520440" y="4078224"/>
            <a:ext cx="6583680" cy="237744"/>
          </a:xfrm>
          <a:prstGeom prst="roundRect">
            <a:avLst>
              <a:gd name="adj" fmla="val 15385"/>
            </a:avLst>
          </a:prstGeom>
          <a:solidFill>
            <a:srgbClr val="EEF3F1"/>
          </a:solidFill>
          <a:ln/>
        </p:spPr>
      </p:sp>
      <p:sp>
        <p:nvSpPr>
          <p:cNvPr id="28" name="Shape 25"/>
          <p:cNvSpPr/>
          <p:nvPr/>
        </p:nvSpPr>
        <p:spPr>
          <a:xfrm>
            <a:off x="3520440" y="4078224"/>
            <a:ext cx="2394065" cy="237744"/>
          </a:xfrm>
          <a:prstGeom prst="roundRect">
            <a:avLst>
              <a:gd name="adj" fmla="val 15385"/>
            </a:avLst>
          </a:prstGeom>
          <a:solidFill>
            <a:srgbClr val="5E9C8E"/>
          </a:solidFill>
          <a:ln/>
        </p:spPr>
      </p:sp>
      <p:sp>
        <p:nvSpPr>
          <p:cNvPr id="29" name="Text 26"/>
          <p:cNvSpPr/>
          <p:nvPr/>
        </p:nvSpPr>
        <p:spPr>
          <a:xfrm>
            <a:off x="5530457" y="4050792"/>
            <a:ext cx="36576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30" name="Shape 27"/>
          <p:cNvSpPr/>
          <p:nvPr/>
        </p:nvSpPr>
        <p:spPr>
          <a:xfrm>
            <a:off x="3520440" y="4544568"/>
            <a:ext cx="7818120" cy="1783080"/>
          </a:xfrm>
          <a:prstGeom prst="roundRect">
            <a:avLst>
              <a:gd name="adj" fmla="val 5128"/>
            </a:avLst>
          </a:prstGeom>
          <a:solidFill>
            <a:srgbClr val="0B3D3A"/>
          </a:solidFill>
          <a:ln/>
        </p:spPr>
      </p:sp>
      <p:sp>
        <p:nvSpPr>
          <p:cNvPr id="31" name="Text 28"/>
          <p:cNvSpPr/>
          <p:nvPr/>
        </p:nvSpPr>
        <p:spPr>
          <a:xfrm>
            <a:off x="3794760" y="4700016"/>
            <a:ext cx="7315200" cy="320040"/>
          </a:xfrm>
          <a:prstGeom prst="rect">
            <a:avLst/>
          </a:prstGeom>
          <a:noFill/>
          <a:ln/>
        </p:spPr>
        <p:txBody>
          <a:bodyPr wrap="square" lIns="0" tIns="0" rIns="0" bIns="0" rtlCol="0" anchor="ctr"/>
          <a:lstStyle/>
          <a:p>
            <a:pPr marL="0" indent="0" algn="r">
              <a:buNone/>
            </a:pPr>
            <a:r>
              <a:rPr lang="en-US" sz="1400" b="1" dirty="0">
                <a:solidFill>
                  <a:srgbClr val="FFFFFF"/>
                </a:solidFill>
                <a:latin typeface="Cambria" pitchFamily="34" charset="0"/>
                <a:ea typeface="Cambria" pitchFamily="34" charset="-122"/>
                <a:cs typeface="Cambria" pitchFamily="34" charset="-120"/>
              </a:rPr>
              <a:t>الفحوصات المخبرية المرافقة</a:t>
            </a:r>
            <a:endParaRPr lang="en-US" sz="1400" dirty="0"/>
          </a:p>
        </p:txBody>
      </p:sp>
      <p:sp>
        <p:nvSpPr>
          <p:cNvPr id="32" name="Text 29"/>
          <p:cNvSpPr/>
          <p:nvPr/>
        </p:nvSpPr>
        <p:spPr>
          <a:xfrm>
            <a:off x="3794760" y="5065776"/>
            <a:ext cx="7315200" cy="1097280"/>
          </a:xfrm>
          <a:prstGeom prst="rect">
            <a:avLst/>
          </a:prstGeom>
          <a:noFill/>
          <a:ln/>
        </p:spPr>
        <p:txBody>
          <a:bodyPr wrap="square" lIns="0" tIns="0" rIns="0" bIns="0" rtlCol="0" anchor="t"/>
          <a:lstStyle/>
          <a:p>
            <a:pPr marL="0" indent="0" algn="r">
              <a:lnSpc>
                <a:spcPct val="135000"/>
              </a:lnSpc>
              <a:buNone/>
            </a:pPr>
            <a:r>
              <a:rPr lang="en-US" sz="1300" dirty="0">
                <a:solidFill>
                  <a:srgbClr val="CFE8E0"/>
                </a:solidFill>
                <a:latin typeface="Calibri" pitchFamily="34" charset="0"/>
                <a:ea typeface="Calibri" pitchFamily="34" charset="-122"/>
                <a:cs typeface="Calibri" pitchFamily="34" charset="-120"/>
              </a:rPr>
              <a:t>تم إجراء فحص Test BW، فحص مستضد التهاب الكبد Ag HBS، وفحص فيروس نقص المناعة VIH لجميع الحوامل الـ20 خلال الاستشارة، وجاءت جميع النتائج سلبية (-).</a:t>
            </a:r>
            <a:endParaRPr lang="en-US" sz="1300" dirty="0"/>
          </a:p>
        </p:txBody>
      </p:sp>
      <p:sp>
        <p:nvSpPr>
          <p:cNvPr id="33" name="Text 30"/>
          <p:cNvSpPr/>
          <p:nvPr/>
        </p:nvSpPr>
        <p:spPr>
          <a:xfrm>
            <a:off x="11338560" y="6355080"/>
            <a:ext cx="457200" cy="320040"/>
          </a:xfrm>
          <a:prstGeom prst="rect">
            <a:avLst/>
          </a:prstGeom>
          <a:noFill/>
          <a:ln/>
        </p:spPr>
        <p:txBody>
          <a:bodyPr wrap="square" rtlCol="0" anchor="ctr"/>
          <a:lstStyle/>
          <a:p>
            <a:pPr marL="0" indent="0" algn="ctr">
              <a:buNone/>
            </a:pPr>
            <a:r>
              <a:rPr lang="en-US" sz="1000" dirty="0">
                <a:solidFill>
                  <a:srgbClr val="5B6F6C"/>
                </a:solidFill>
                <a:latin typeface="Calibri" pitchFamily="34" charset="0"/>
                <a:ea typeface="Calibri" pitchFamily="34" charset="-122"/>
                <a:cs typeface="Calibri" pitchFamily="34" charset="-120"/>
              </a:rPr>
              <a:t>14</a:t>
            </a:r>
            <a:endParaRPr lang="en-US" sz="1000" dirty="0"/>
          </a:p>
        </p:txBody>
      </p:sp>
      <p:sp>
        <p:nvSpPr>
          <p:cNvPr id="34" name="Text 31"/>
          <p:cNvSpPr/>
          <p:nvPr/>
        </p:nvSpPr>
        <p:spPr>
          <a:xfrm>
            <a:off x="457200" y="6355080"/>
            <a:ext cx="3657600" cy="320040"/>
          </a:xfrm>
          <a:prstGeom prst="rect">
            <a:avLst/>
          </a:prstGeom>
          <a:noFill/>
          <a:ln/>
        </p:spPr>
        <p:txBody>
          <a:bodyPr wrap="square" rtlCol="0" anchor="ctr"/>
          <a:lstStyle/>
          <a:p>
            <a:pPr marL="0" indent="0" algn="l">
              <a:buNone/>
            </a:pPr>
            <a:r>
              <a:rPr lang="en-US" sz="900" dirty="0">
                <a:solidFill>
                  <a:srgbClr val="9AAFAC"/>
                </a:solidFill>
                <a:latin typeface="Calibri" pitchFamily="34" charset="0"/>
                <a:ea typeface="Calibri" pitchFamily="34" charset="-122"/>
                <a:cs typeface="Calibri" pitchFamily="34" charset="-120"/>
              </a:rPr>
              <a:t>مدرسة الصحة العمومية بسيليبابي</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22960" y="457200"/>
            <a:ext cx="8686800" cy="594360"/>
          </a:xfrm>
          <a:prstGeom prst="rect">
            <a:avLst/>
          </a:prstGeom>
          <a:noFill/>
          <a:ln/>
        </p:spPr>
        <p:txBody>
          <a:bodyPr wrap="square" lIns="0" tIns="0" rIns="0" bIns="0" rtlCol="0" anchor="ctr"/>
          <a:lstStyle/>
          <a:p>
            <a:pPr marL="0" indent="0" algn="r">
              <a:buNone/>
            </a:pPr>
            <a:r>
              <a:rPr lang="en-US" sz="2400" b="1" dirty="0">
                <a:solidFill>
                  <a:srgbClr val="0B3D3A"/>
                </a:solidFill>
                <a:latin typeface="Cambria" pitchFamily="34" charset="0"/>
                <a:ea typeface="Cambria" pitchFamily="34" charset="-122"/>
                <a:cs typeface="Cambria" pitchFamily="34" charset="-120"/>
              </a:rPr>
              <a:t>ضمان التكفل بمرضى الأمراض الشائعة</a:t>
            </a:r>
            <a:endParaRPr lang="en-US" sz="2400" dirty="0"/>
          </a:p>
        </p:txBody>
      </p:sp>
      <p:pic>
        <p:nvPicPr>
          <p:cNvPr id="3" name="Image 0" descr="icons/handMedical_teal.png"/>
          <p:cNvPicPr>
            <a:picLocks noChangeAspect="1"/>
          </p:cNvPicPr>
          <p:nvPr/>
        </p:nvPicPr>
        <p:blipFill>
          <a:blip r:embed="rId3"/>
          <a:stretch>
            <a:fillRect/>
          </a:stretch>
        </p:blipFill>
        <p:spPr>
          <a:xfrm>
            <a:off x="10698480" y="457200"/>
            <a:ext cx="502920" cy="502920"/>
          </a:xfrm>
          <a:prstGeom prst="rect">
            <a:avLst/>
          </a:prstGeom>
        </p:spPr>
      </p:pic>
      <p:sp>
        <p:nvSpPr>
          <p:cNvPr id="4" name="Shape 1"/>
          <p:cNvSpPr/>
          <p:nvPr/>
        </p:nvSpPr>
        <p:spPr>
          <a:xfrm>
            <a:off x="822960" y="1234440"/>
            <a:ext cx="713232" cy="365760"/>
          </a:xfrm>
          <a:prstGeom prst="roundRect">
            <a:avLst>
              <a:gd name="adj" fmla="val 50000"/>
            </a:avLst>
          </a:prstGeom>
          <a:solidFill>
            <a:srgbClr val="FFFFFF"/>
          </a:solidFill>
          <a:ln w="12700">
            <a:solidFill>
              <a:srgbClr val="C9DCD5"/>
            </a:solidFill>
            <a:prstDash val="solid"/>
          </a:ln>
        </p:spPr>
      </p:sp>
      <p:sp>
        <p:nvSpPr>
          <p:cNvPr id="5" name="Text 2"/>
          <p:cNvSpPr/>
          <p:nvPr/>
        </p:nvSpPr>
        <p:spPr>
          <a:xfrm>
            <a:off x="822960" y="1234440"/>
            <a:ext cx="713232" cy="365760"/>
          </a:xfrm>
          <a:prstGeom prst="rect">
            <a:avLst/>
          </a:prstGeom>
          <a:noFill/>
          <a:ln/>
        </p:spPr>
        <p:txBody>
          <a:bodyPr wrap="square" lIns="0" tIns="0" rIns="0" bIns="0" rtlCol="0" anchor="ctr"/>
          <a:lstStyle/>
          <a:p>
            <a:pPr marL="0" indent="0" algn="ctr">
              <a:buNone/>
            </a:pPr>
            <a:r>
              <a:rPr lang="en-US" sz="1150" dirty="0">
                <a:solidFill>
                  <a:srgbClr val="117A65"/>
                </a:solidFill>
                <a:latin typeface="Calibri" pitchFamily="34" charset="0"/>
                <a:ea typeface="Calibri" pitchFamily="34" charset="-122"/>
                <a:cs typeface="Calibri" pitchFamily="34" charset="-120"/>
              </a:rPr>
              <a:t>السل</a:t>
            </a:r>
            <a:endParaRPr lang="en-US" sz="1150" dirty="0"/>
          </a:p>
        </p:txBody>
      </p:sp>
      <p:sp>
        <p:nvSpPr>
          <p:cNvPr id="6" name="Shape 3"/>
          <p:cNvSpPr/>
          <p:nvPr/>
        </p:nvSpPr>
        <p:spPr>
          <a:xfrm>
            <a:off x="1673352" y="1234440"/>
            <a:ext cx="923544" cy="365760"/>
          </a:xfrm>
          <a:prstGeom prst="roundRect">
            <a:avLst>
              <a:gd name="adj" fmla="val 50000"/>
            </a:avLst>
          </a:prstGeom>
          <a:solidFill>
            <a:srgbClr val="FFFFFF"/>
          </a:solidFill>
          <a:ln w="12700">
            <a:solidFill>
              <a:srgbClr val="C9DCD5"/>
            </a:solidFill>
            <a:prstDash val="solid"/>
          </a:ln>
        </p:spPr>
      </p:sp>
      <p:sp>
        <p:nvSpPr>
          <p:cNvPr id="7" name="Text 4"/>
          <p:cNvSpPr/>
          <p:nvPr/>
        </p:nvSpPr>
        <p:spPr>
          <a:xfrm>
            <a:off x="1673352" y="1234440"/>
            <a:ext cx="923544" cy="365760"/>
          </a:xfrm>
          <a:prstGeom prst="rect">
            <a:avLst/>
          </a:prstGeom>
          <a:noFill/>
          <a:ln/>
        </p:spPr>
        <p:txBody>
          <a:bodyPr wrap="square" lIns="0" tIns="0" rIns="0" bIns="0" rtlCol="0" anchor="ctr"/>
          <a:lstStyle/>
          <a:p>
            <a:pPr marL="0" indent="0" algn="ctr">
              <a:buNone/>
            </a:pPr>
            <a:r>
              <a:rPr lang="en-US" sz="1150" dirty="0">
                <a:solidFill>
                  <a:srgbClr val="117A65"/>
                </a:solidFill>
                <a:latin typeface="Calibri" pitchFamily="34" charset="0"/>
                <a:ea typeface="Calibri" pitchFamily="34" charset="-122"/>
                <a:cs typeface="Calibri" pitchFamily="34" charset="-120"/>
              </a:rPr>
              <a:t>السكري</a:t>
            </a:r>
            <a:endParaRPr lang="en-US" sz="1150" dirty="0"/>
          </a:p>
        </p:txBody>
      </p:sp>
      <p:sp>
        <p:nvSpPr>
          <p:cNvPr id="8" name="Shape 5"/>
          <p:cNvSpPr/>
          <p:nvPr/>
        </p:nvSpPr>
        <p:spPr>
          <a:xfrm>
            <a:off x="2734056" y="1234440"/>
            <a:ext cx="1133856" cy="365760"/>
          </a:xfrm>
          <a:prstGeom prst="roundRect">
            <a:avLst>
              <a:gd name="adj" fmla="val 50000"/>
            </a:avLst>
          </a:prstGeom>
          <a:solidFill>
            <a:srgbClr val="FFFFFF"/>
          </a:solidFill>
          <a:ln w="12700">
            <a:solidFill>
              <a:srgbClr val="C9DCD5"/>
            </a:solidFill>
            <a:prstDash val="solid"/>
          </a:ln>
        </p:spPr>
      </p:sp>
      <p:sp>
        <p:nvSpPr>
          <p:cNvPr id="9" name="Text 6"/>
          <p:cNvSpPr/>
          <p:nvPr/>
        </p:nvSpPr>
        <p:spPr>
          <a:xfrm>
            <a:off x="2734056" y="1234440"/>
            <a:ext cx="1133856" cy="365760"/>
          </a:xfrm>
          <a:prstGeom prst="rect">
            <a:avLst/>
          </a:prstGeom>
          <a:noFill/>
          <a:ln/>
        </p:spPr>
        <p:txBody>
          <a:bodyPr wrap="square" lIns="0" tIns="0" rIns="0" bIns="0" rtlCol="0" anchor="ctr"/>
          <a:lstStyle/>
          <a:p>
            <a:pPr marL="0" indent="0" algn="ctr">
              <a:buNone/>
            </a:pPr>
            <a:r>
              <a:rPr lang="en-US" sz="1150" dirty="0">
                <a:solidFill>
                  <a:srgbClr val="117A65"/>
                </a:solidFill>
                <a:latin typeface="Calibri" pitchFamily="34" charset="0"/>
                <a:ea typeface="Calibri" pitchFamily="34" charset="-122"/>
                <a:cs typeface="Calibri" pitchFamily="34" charset="-120"/>
              </a:rPr>
              <a:t>الملاريا</a:t>
            </a:r>
            <a:endParaRPr lang="en-US" sz="1150" dirty="0"/>
          </a:p>
        </p:txBody>
      </p:sp>
      <p:sp>
        <p:nvSpPr>
          <p:cNvPr id="10" name="Shape 7"/>
          <p:cNvSpPr/>
          <p:nvPr/>
        </p:nvSpPr>
        <p:spPr>
          <a:xfrm>
            <a:off x="4005072" y="1234440"/>
            <a:ext cx="1028700" cy="365760"/>
          </a:xfrm>
          <a:prstGeom prst="roundRect">
            <a:avLst>
              <a:gd name="adj" fmla="val 50000"/>
            </a:avLst>
          </a:prstGeom>
          <a:solidFill>
            <a:srgbClr val="FFFFFF"/>
          </a:solidFill>
          <a:ln w="12700">
            <a:solidFill>
              <a:srgbClr val="C9DCD5"/>
            </a:solidFill>
            <a:prstDash val="solid"/>
          </a:ln>
        </p:spPr>
      </p:sp>
      <p:sp>
        <p:nvSpPr>
          <p:cNvPr id="11" name="Text 8"/>
          <p:cNvSpPr/>
          <p:nvPr/>
        </p:nvSpPr>
        <p:spPr>
          <a:xfrm>
            <a:off x="4005072" y="1234440"/>
            <a:ext cx="1028700" cy="365760"/>
          </a:xfrm>
          <a:prstGeom prst="rect">
            <a:avLst/>
          </a:prstGeom>
          <a:noFill/>
          <a:ln/>
        </p:spPr>
        <p:txBody>
          <a:bodyPr wrap="square" lIns="0" tIns="0" rIns="0" bIns="0" rtlCol="0" anchor="ctr"/>
          <a:lstStyle/>
          <a:p>
            <a:pPr marL="0" indent="0" algn="ctr">
              <a:buNone/>
            </a:pPr>
            <a:r>
              <a:rPr lang="en-US" sz="1150" dirty="0">
                <a:solidFill>
                  <a:srgbClr val="117A65"/>
                </a:solidFill>
                <a:latin typeface="Calibri" pitchFamily="34" charset="0"/>
                <a:ea typeface="Calibri" pitchFamily="34" charset="-122"/>
                <a:cs typeface="Calibri" pitchFamily="34" charset="-120"/>
              </a:rPr>
              <a:t>الإسهال</a:t>
            </a:r>
            <a:endParaRPr lang="en-US" sz="1150" dirty="0"/>
          </a:p>
        </p:txBody>
      </p:sp>
      <p:sp>
        <p:nvSpPr>
          <p:cNvPr id="12" name="Shape 9"/>
          <p:cNvSpPr/>
          <p:nvPr/>
        </p:nvSpPr>
        <p:spPr>
          <a:xfrm>
            <a:off x="5170932" y="1234440"/>
            <a:ext cx="2500884" cy="365760"/>
          </a:xfrm>
          <a:prstGeom prst="roundRect">
            <a:avLst>
              <a:gd name="adj" fmla="val 50000"/>
            </a:avLst>
          </a:prstGeom>
          <a:solidFill>
            <a:srgbClr val="FFFFFF"/>
          </a:solidFill>
          <a:ln w="12700">
            <a:solidFill>
              <a:srgbClr val="C9DCD5"/>
            </a:solidFill>
            <a:prstDash val="solid"/>
          </a:ln>
        </p:spPr>
      </p:sp>
      <p:sp>
        <p:nvSpPr>
          <p:cNvPr id="13" name="Text 10"/>
          <p:cNvSpPr/>
          <p:nvPr/>
        </p:nvSpPr>
        <p:spPr>
          <a:xfrm>
            <a:off x="5170932" y="1234440"/>
            <a:ext cx="2500884" cy="365760"/>
          </a:xfrm>
          <a:prstGeom prst="rect">
            <a:avLst/>
          </a:prstGeom>
          <a:noFill/>
          <a:ln/>
        </p:spPr>
        <p:txBody>
          <a:bodyPr wrap="square" lIns="0" tIns="0" rIns="0" bIns="0" rtlCol="0" anchor="ctr"/>
          <a:lstStyle/>
          <a:p>
            <a:pPr marL="0" indent="0" algn="ctr">
              <a:buNone/>
            </a:pPr>
            <a:r>
              <a:rPr lang="en-US" sz="1150" dirty="0">
                <a:solidFill>
                  <a:srgbClr val="117A65"/>
                </a:solidFill>
                <a:latin typeface="Calibri" pitchFamily="34" charset="0"/>
                <a:ea typeface="Calibri" pitchFamily="34" charset="-122"/>
                <a:cs typeface="Calibri" pitchFamily="34" charset="-120"/>
              </a:rPr>
              <a:t>التهاب الكبد الفيروسي</a:t>
            </a:r>
            <a:endParaRPr lang="en-US" sz="1150" dirty="0"/>
          </a:p>
        </p:txBody>
      </p:sp>
      <p:sp>
        <p:nvSpPr>
          <p:cNvPr id="14" name="Shape 11"/>
          <p:cNvSpPr/>
          <p:nvPr/>
        </p:nvSpPr>
        <p:spPr>
          <a:xfrm>
            <a:off x="7808976" y="1234440"/>
            <a:ext cx="2500884" cy="365760"/>
          </a:xfrm>
          <a:prstGeom prst="roundRect">
            <a:avLst>
              <a:gd name="adj" fmla="val 50000"/>
            </a:avLst>
          </a:prstGeom>
          <a:solidFill>
            <a:srgbClr val="FFFFFF"/>
          </a:solidFill>
          <a:ln w="12700">
            <a:solidFill>
              <a:srgbClr val="C9DCD5"/>
            </a:solidFill>
            <a:prstDash val="solid"/>
          </a:ln>
        </p:spPr>
      </p:sp>
      <p:sp>
        <p:nvSpPr>
          <p:cNvPr id="15" name="Text 12"/>
          <p:cNvSpPr/>
          <p:nvPr/>
        </p:nvSpPr>
        <p:spPr>
          <a:xfrm>
            <a:off x="7808976" y="1234440"/>
            <a:ext cx="2500884" cy="365760"/>
          </a:xfrm>
          <a:prstGeom prst="rect">
            <a:avLst/>
          </a:prstGeom>
          <a:noFill/>
          <a:ln/>
        </p:spPr>
        <p:txBody>
          <a:bodyPr wrap="square" lIns="0" tIns="0" rIns="0" bIns="0" rtlCol="0" anchor="ctr"/>
          <a:lstStyle/>
          <a:p>
            <a:pPr marL="0" indent="0" algn="ctr">
              <a:buNone/>
            </a:pPr>
            <a:r>
              <a:rPr lang="en-US" sz="1150" dirty="0">
                <a:solidFill>
                  <a:srgbClr val="117A65"/>
                </a:solidFill>
                <a:latin typeface="Calibri" pitchFamily="34" charset="0"/>
                <a:ea typeface="Calibri" pitchFamily="34" charset="-122"/>
                <a:cs typeface="Calibri" pitchFamily="34" charset="-120"/>
              </a:rPr>
              <a:t>ارتفاع الضغط الشرياني</a:t>
            </a:r>
            <a:endParaRPr lang="en-US" sz="1150" dirty="0"/>
          </a:p>
        </p:txBody>
      </p:sp>
      <p:sp>
        <p:nvSpPr>
          <p:cNvPr id="16" name="Shape 13"/>
          <p:cNvSpPr/>
          <p:nvPr/>
        </p:nvSpPr>
        <p:spPr>
          <a:xfrm>
            <a:off x="822960" y="1691640"/>
            <a:ext cx="2185416" cy="365760"/>
          </a:xfrm>
          <a:prstGeom prst="roundRect">
            <a:avLst>
              <a:gd name="adj" fmla="val 50000"/>
            </a:avLst>
          </a:prstGeom>
          <a:solidFill>
            <a:srgbClr val="FFFFFF"/>
          </a:solidFill>
          <a:ln w="12700">
            <a:solidFill>
              <a:srgbClr val="C9DCD5"/>
            </a:solidFill>
            <a:prstDash val="solid"/>
          </a:ln>
        </p:spPr>
      </p:sp>
      <p:sp>
        <p:nvSpPr>
          <p:cNvPr id="17" name="Text 14"/>
          <p:cNvSpPr/>
          <p:nvPr/>
        </p:nvSpPr>
        <p:spPr>
          <a:xfrm>
            <a:off x="822960" y="1691640"/>
            <a:ext cx="2185416" cy="365760"/>
          </a:xfrm>
          <a:prstGeom prst="rect">
            <a:avLst/>
          </a:prstGeom>
          <a:noFill/>
          <a:ln/>
        </p:spPr>
        <p:txBody>
          <a:bodyPr wrap="square" lIns="0" tIns="0" rIns="0" bIns="0" rtlCol="0" anchor="ctr"/>
          <a:lstStyle/>
          <a:p>
            <a:pPr marL="0" indent="0" algn="ctr">
              <a:buNone/>
            </a:pPr>
            <a:r>
              <a:rPr lang="en-US" sz="1150" dirty="0">
                <a:solidFill>
                  <a:srgbClr val="117A65"/>
                </a:solidFill>
                <a:latin typeface="Calibri" pitchFamily="34" charset="0"/>
                <a:ea typeface="Calibri" pitchFamily="34" charset="-122"/>
                <a:cs typeface="Calibri" pitchFamily="34" charset="-120"/>
              </a:rPr>
              <a:t>الاضطرابات العقلية</a:t>
            </a:r>
            <a:endParaRPr lang="en-US" sz="1150" dirty="0"/>
          </a:p>
        </p:txBody>
      </p:sp>
      <p:sp>
        <p:nvSpPr>
          <p:cNvPr id="18" name="Shape 15"/>
          <p:cNvSpPr/>
          <p:nvPr/>
        </p:nvSpPr>
        <p:spPr>
          <a:xfrm>
            <a:off x="3145536" y="1691640"/>
            <a:ext cx="1344168" cy="365760"/>
          </a:xfrm>
          <a:prstGeom prst="roundRect">
            <a:avLst>
              <a:gd name="adj" fmla="val 50000"/>
            </a:avLst>
          </a:prstGeom>
          <a:solidFill>
            <a:srgbClr val="FFFFFF"/>
          </a:solidFill>
          <a:ln w="12700">
            <a:solidFill>
              <a:srgbClr val="C9DCD5"/>
            </a:solidFill>
            <a:prstDash val="solid"/>
          </a:ln>
        </p:spPr>
      </p:sp>
      <p:sp>
        <p:nvSpPr>
          <p:cNvPr id="19" name="Text 16"/>
          <p:cNvSpPr/>
          <p:nvPr/>
        </p:nvSpPr>
        <p:spPr>
          <a:xfrm>
            <a:off x="3145536" y="1691640"/>
            <a:ext cx="1344168" cy="365760"/>
          </a:xfrm>
          <a:prstGeom prst="rect">
            <a:avLst/>
          </a:prstGeom>
          <a:noFill/>
          <a:ln/>
        </p:spPr>
        <p:txBody>
          <a:bodyPr wrap="square" lIns="0" tIns="0" rIns="0" bIns="0" rtlCol="0" anchor="ctr"/>
          <a:lstStyle/>
          <a:p>
            <a:pPr marL="0" indent="0" algn="ctr">
              <a:buNone/>
            </a:pPr>
            <a:r>
              <a:rPr lang="en-US" sz="1150" dirty="0">
                <a:solidFill>
                  <a:srgbClr val="117A65"/>
                </a:solidFill>
                <a:latin typeface="Calibri" pitchFamily="34" charset="0"/>
                <a:ea typeface="Calibri" pitchFamily="34" charset="-122"/>
                <a:cs typeface="Calibri" pitchFamily="34" charset="-120"/>
              </a:rPr>
              <a:t>البلهارسيا</a:t>
            </a:r>
            <a:endParaRPr lang="en-US" sz="1150" dirty="0"/>
          </a:p>
        </p:txBody>
      </p:sp>
      <p:sp>
        <p:nvSpPr>
          <p:cNvPr id="20" name="Shape 17"/>
          <p:cNvSpPr/>
          <p:nvPr/>
        </p:nvSpPr>
        <p:spPr>
          <a:xfrm>
            <a:off x="822960" y="2286000"/>
            <a:ext cx="10515600" cy="3931920"/>
          </a:xfrm>
          <a:prstGeom prst="roundRect">
            <a:avLst>
              <a:gd name="adj" fmla="val 2791"/>
            </a:avLst>
          </a:prstGeom>
          <a:solidFill>
            <a:srgbClr val="FFFFFF"/>
          </a:solidFill>
          <a:ln/>
          <a:effectLst>
            <a:outerShdw blurRad="101600" dist="25400" dir="5400000" algn="bl" rotWithShape="0">
              <a:srgbClr val="0B3D3A">
                <a:alpha val="8000"/>
              </a:srgbClr>
            </a:outerShdw>
          </a:effectLst>
        </p:spPr>
      </p:sp>
      <p:sp>
        <p:nvSpPr>
          <p:cNvPr id="21" name="Shape 18"/>
          <p:cNvSpPr/>
          <p:nvPr/>
        </p:nvSpPr>
        <p:spPr>
          <a:xfrm>
            <a:off x="822960" y="2286000"/>
            <a:ext cx="3291840" cy="3931920"/>
          </a:xfrm>
          <a:prstGeom prst="roundRect">
            <a:avLst>
              <a:gd name="adj" fmla="val 3333"/>
            </a:avLst>
          </a:prstGeom>
          <a:solidFill>
            <a:srgbClr val="B85C38"/>
          </a:solidFill>
          <a:ln/>
        </p:spPr>
      </p:sp>
      <p:sp>
        <p:nvSpPr>
          <p:cNvPr id="22" name="Shape 19"/>
          <p:cNvSpPr/>
          <p:nvPr/>
        </p:nvSpPr>
        <p:spPr>
          <a:xfrm>
            <a:off x="2468880" y="2286000"/>
            <a:ext cx="1645920" cy="3931920"/>
          </a:xfrm>
          <a:prstGeom prst="rect">
            <a:avLst/>
          </a:prstGeom>
          <a:solidFill>
            <a:srgbClr val="B85C38"/>
          </a:solidFill>
          <a:ln/>
        </p:spPr>
      </p:sp>
      <p:sp>
        <p:nvSpPr>
          <p:cNvPr id="23" name="Text 20"/>
          <p:cNvSpPr/>
          <p:nvPr/>
        </p:nvSpPr>
        <p:spPr>
          <a:xfrm>
            <a:off x="822960" y="2560320"/>
            <a:ext cx="329184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أنثى، 23 سنة</a:t>
            </a:r>
            <a:endParaRPr lang="en-US" sz="1800" dirty="0"/>
          </a:p>
        </p:txBody>
      </p:sp>
      <p:sp>
        <p:nvSpPr>
          <p:cNvPr id="24" name="Text 21"/>
          <p:cNvSpPr/>
          <p:nvPr/>
        </p:nvSpPr>
        <p:spPr>
          <a:xfrm>
            <a:off x="822960" y="2944368"/>
            <a:ext cx="3291840" cy="274320"/>
          </a:xfrm>
          <a:prstGeom prst="rect">
            <a:avLst/>
          </a:prstGeom>
          <a:noFill/>
          <a:ln/>
        </p:spPr>
        <p:txBody>
          <a:bodyPr wrap="square" lIns="0" tIns="0" rIns="0" bIns="0" rtlCol="0" anchor="ctr"/>
          <a:lstStyle/>
          <a:p>
            <a:pPr marL="0" indent="0" algn="ctr">
              <a:buNone/>
            </a:pPr>
            <a:r>
              <a:rPr lang="en-US" sz="1200" dirty="0">
                <a:solidFill>
                  <a:srgbClr val="F8DFD4"/>
                </a:solidFill>
                <a:latin typeface="Calibri" pitchFamily="34" charset="0"/>
                <a:ea typeface="Calibri" pitchFamily="34" charset="-122"/>
                <a:cs typeface="Calibri" pitchFamily="34" charset="-120"/>
              </a:rPr>
              <a:t>الإقامة: أنتينو</a:t>
            </a:r>
            <a:endParaRPr lang="en-US" sz="1200" dirty="0"/>
          </a:p>
        </p:txBody>
      </p:sp>
      <p:sp>
        <p:nvSpPr>
          <p:cNvPr id="25" name="Text 22"/>
          <p:cNvSpPr/>
          <p:nvPr/>
        </p:nvSpPr>
        <p:spPr>
          <a:xfrm>
            <a:off x="822960" y="3337560"/>
            <a:ext cx="32918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 37.9°C   •   TA 11/08</a:t>
            </a:r>
            <a:endParaRPr lang="en-US" sz="1300" dirty="0"/>
          </a:p>
        </p:txBody>
      </p:sp>
      <p:sp>
        <p:nvSpPr>
          <p:cNvPr id="26" name="Text 23"/>
          <p:cNvSpPr/>
          <p:nvPr/>
        </p:nvSpPr>
        <p:spPr>
          <a:xfrm>
            <a:off x="1005840" y="4114800"/>
            <a:ext cx="2926080" cy="274320"/>
          </a:xfrm>
          <a:prstGeom prst="rect">
            <a:avLst/>
          </a:prstGeom>
          <a:noFill/>
          <a:ln/>
        </p:spPr>
        <p:txBody>
          <a:bodyPr wrap="square" lIns="0" tIns="0" rIns="0" bIns="0" rtlCol="0" anchor="ctr"/>
          <a:lstStyle/>
          <a:p>
            <a:pPr marL="0" indent="0" algn="ctr">
              <a:buNone/>
            </a:pPr>
            <a:r>
              <a:rPr lang="en-US" sz="1100" dirty="0">
                <a:solidFill>
                  <a:srgbClr val="F8DFD4"/>
                </a:solidFill>
                <a:latin typeface="Calibri" pitchFamily="34" charset="0"/>
                <a:ea typeface="Calibri" pitchFamily="34" charset="-122"/>
                <a:cs typeface="Calibri" pitchFamily="34" charset="-120"/>
              </a:rPr>
              <a:t>التشخيص</a:t>
            </a:r>
            <a:endParaRPr lang="en-US" sz="1100" dirty="0"/>
          </a:p>
        </p:txBody>
      </p:sp>
      <p:sp>
        <p:nvSpPr>
          <p:cNvPr id="27" name="Text 24"/>
          <p:cNvSpPr/>
          <p:nvPr/>
        </p:nvSpPr>
        <p:spPr>
          <a:xfrm>
            <a:off x="1005840" y="4407408"/>
            <a:ext cx="2926080" cy="822960"/>
          </a:xfrm>
          <a:prstGeom prst="rect">
            <a:avLst/>
          </a:prstGeom>
          <a:noFill/>
          <a:ln/>
        </p:spPr>
        <p:txBody>
          <a:bodyPr wrap="square" lIns="0" tIns="0" rIns="0" bIns="0" rtlCol="0" anchor="t"/>
          <a:lstStyle/>
          <a:p>
            <a:pPr marL="0" indent="0" algn="ctr">
              <a:buNone/>
            </a:pPr>
            <a:r>
              <a:rPr lang="en-US" sz="1350" b="1" dirty="0">
                <a:solidFill>
                  <a:srgbClr val="FFFFFF"/>
                </a:solidFill>
                <a:latin typeface="Cambria" pitchFamily="34" charset="0"/>
                <a:ea typeface="Cambria" pitchFamily="34" charset="-122"/>
                <a:cs typeface="Cambria" pitchFamily="34" charset="-120"/>
              </a:rPr>
              <a:t>التهاب المعدة والأمعاء الجرثومي (Dysenterie)</a:t>
            </a:r>
            <a:endParaRPr lang="en-US" sz="1350" dirty="0"/>
          </a:p>
        </p:txBody>
      </p:sp>
      <p:sp>
        <p:nvSpPr>
          <p:cNvPr id="28" name="Text 25"/>
          <p:cNvSpPr/>
          <p:nvPr/>
        </p:nvSpPr>
        <p:spPr>
          <a:xfrm>
            <a:off x="4434840" y="2560320"/>
            <a:ext cx="6675120" cy="274320"/>
          </a:xfrm>
          <a:prstGeom prst="rect">
            <a:avLst/>
          </a:prstGeom>
          <a:noFill/>
          <a:ln/>
        </p:spPr>
        <p:txBody>
          <a:bodyPr wrap="square" lIns="0" tIns="0" rIns="0" bIns="0" rtlCol="0" anchor="ctr"/>
          <a:lstStyle/>
          <a:p>
            <a:pPr marL="0" indent="0" algn="r">
              <a:buNone/>
            </a:pPr>
            <a:r>
              <a:rPr lang="en-US" sz="1350" b="1" dirty="0">
                <a:solidFill>
                  <a:srgbClr val="0B3D3A"/>
                </a:solidFill>
                <a:latin typeface="Cambria" pitchFamily="34" charset="0"/>
                <a:ea typeface="Cambria" pitchFamily="34" charset="-122"/>
                <a:cs typeface="Cambria" pitchFamily="34" charset="-120"/>
              </a:rPr>
              <a:t>الأعراض</a:t>
            </a:r>
            <a:endParaRPr lang="en-US" sz="1350" dirty="0"/>
          </a:p>
        </p:txBody>
      </p:sp>
      <p:sp>
        <p:nvSpPr>
          <p:cNvPr id="29" name="Text 26"/>
          <p:cNvSpPr/>
          <p:nvPr/>
        </p:nvSpPr>
        <p:spPr>
          <a:xfrm>
            <a:off x="4434840" y="2862072"/>
            <a:ext cx="6675120" cy="548640"/>
          </a:xfrm>
          <a:prstGeom prst="rect">
            <a:avLst/>
          </a:prstGeom>
          <a:noFill/>
          <a:ln/>
        </p:spPr>
        <p:txBody>
          <a:bodyPr wrap="square" lIns="0" tIns="0" rIns="0" bIns="0" rtlCol="0" anchor="t"/>
          <a:lstStyle/>
          <a:p>
            <a:pPr marL="0" indent="0" algn="r">
              <a:buNone/>
            </a:pPr>
            <a:r>
              <a:rPr lang="en-US" sz="1200" dirty="0">
                <a:solidFill>
                  <a:srgbClr val="5B6F6C"/>
                </a:solidFill>
                <a:latin typeface="Calibri" pitchFamily="34" charset="0"/>
                <a:ea typeface="Calibri" pitchFamily="34" charset="-122"/>
                <a:cs typeface="Calibri" pitchFamily="34" charset="-120"/>
              </a:rPr>
              <a:t>إسهال مدمى، آلام بطنية، ارتفاع درجة الحرارة، الإقياء</a:t>
            </a:r>
            <a:endParaRPr lang="en-US" sz="1200" dirty="0"/>
          </a:p>
        </p:txBody>
      </p:sp>
      <p:sp>
        <p:nvSpPr>
          <p:cNvPr id="30" name="Text 27"/>
          <p:cNvSpPr/>
          <p:nvPr/>
        </p:nvSpPr>
        <p:spPr>
          <a:xfrm>
            <a:off x="4434840" y="3447288"/>
            <a:ext cx="6675120" cy="274320"/>
          </a:xfrm>
          <a:prstGeom prst="rect">
            <a:avLst/>
          </a:prstGeom>
          <a:noFill/>
          <a:ln/>
        </p:spPr>
        <p:txBody>
          <a:bodyPr wrap="square" lIns="0" tIns="0" rIns="0" bIns="0" rtlCol="0" anchor="ctr"/>
          <a:lstStyle/>
          <a:p>
            <a:pPr marL="0" indent="0" algn="r">
              <a:buNone/>
            </a:pPr>
            <a:r>
              <a:rPr lang="en-US" sz="1350" b="1" dirty="0">
                <a:solidFill>
                  <a:srgbClr val="0B3D3A"/>
                </a:solidFill>
                <a:latin typeface="Cambria" pitchFamily="34" charset="0"/>
                <a:ea typeface="Cambria" pitchFamily="34" charset="-122"/>
                <a:cs typeface="Cambria" pitchFamily="34" charset="-120"/>
              </a:rPr>
              <a:t>الفحص السريري</a:t>
            </a:r>
            <a:endParaRPr lang="en-US" sz="1350" dirty="0"/>
          </a:p>
        </p:txBody>
      </p:sp>
      <p:sp>
        <p:nvSpPr>
          <p:cNvPr id="31" name="Text 28"/>
          <p:cNvSpPr/>
          <p:nvPr/>
        </p:nvSpPr>
        <p:spPr>
          <a:xfrm>
            <a:off x="4434840" y="3749040"/>
            <a:ext cx="6675120" cy="548640"/>
          </a:xfrm>
          <a:prstGeom prst="rect">
            <a:avLst/>
          </a:prstGeom>
          <a:noFill/>
          <a:ln/>
        </p:spPr>
        <p:txBody>
          <a:bodyPr wrap="square" lIns="0" tIns="0" rIns="0" bIns="0" rtlCol="0" anchor="t"/>
          <a:lstStyle/>
          <a:p>
            <a:pPr marL="0" indent="0" algn="r">
              <a:buNone/>
            </a:pPr>
            <a:r>
              <a:rPr lang="en-US" sz="1200" dirty="0">
                <a:solidFill>
                  <a:srgbClr val="5B6F6C"/>
                </a:solidFill>
                <a:latin typeface="Calibri" pitchFamily="34" charset="0"/>
                <a:ea typeface="Calibri" pitchFamily="34" charset="-122"/>
                <a:cs typeface="Calibri" pitchFamily="34" charset="-120"/>
              </a:rPr>
              <a:t>المريضة تعاني من تجفاف واضح</a:t>
            </a:r>
            <a:endParaRPr lang="en-US" sz="1200" dirty="0"/>
          </a:p>
        </p:txBody>
      </p:sp>
      <p:sp>
        <p:nvSpPr>
          <p:cNvPr id="32" name="Text 29"/>
          <p:cNvSpPr/>
          <p:nvPr/>
        </p:nvSpPr>
        <p:spPr>
          <a:xfrm>
            <a:off x="4434840" y="4334256"/>
            <a:ext cx="6675120" cy="274320"/>
          </a:xfrm>
          <a:prstGeom prst="rect">
            <a:avLst/>
          </a:prstGeom>
          <a:noFill/>
          <a:ln/>
        </p:spPr>
        <p:txBody>
          <a:bodyPr wrap="square" lIns="0" tIns="0" rIns="0" bIns="0" rtlCol="0" anchor="ctr"/>
          <a:lstStyle/>
          <a:p>
            <a:pPr marL="0" indent="0" algn="r">
              <a:buNone/>
            </a:pPr>
            <a:r>
              <a:rPr lang="en-US" sz="1350" b="1" dirty="0">
                <a:solidFill>
                  <a:srgbClr val="0B3D3A"/>
                </a:solidFill>
                <a:latin typeface="Cambria" pitchFamily="34" charset="0"/>
                <a:ea typeface="Cambria" pitchFamily="34" charset="-122"/>
                <a:cs typeface="Cambria" pitchFamily="34" charset="-120"/>
              </a:rPr>
              <a:t>العلاج</a:t>
            </a:r>
            <a:endParaRPr lang="en-US" sz="1350" dirty="0"/>
          </a:p>
        </p:txBody>
      </p:sp>
      <p:sp>
        <p:nvSpPr>
          <p:cNvPr id="33" name="Text 30"/>
          <p:cNvSpPr/>
          <p:nvPr/>
        </p:nvSpPr>
        <p:spPr>
          <a:xfrm>
            <a:off x="4434840" y="4636008"/>
            <a:ext cx="6675120" cy="548640"/>
          </a:xfrm>
          <a:prstGeom prst="rect">
            <a:avLst/>
          </a:prstGeom>
          <a:noFill/>
          <a:ln/>
        </p:spPr>
        <p:txBody>
          <a:bodyPr wrap="square" lIns="0" tIns="0" rIns="0" bIns="0" rtlCol="0" anchor="t"/>
          <a:lstStyle/>
          <a:p>
            <a:pPr marL="0" indent="0" algn="r">
              <a:buNone/>
            </a:pPr>
            <a:r>
              <a:rPr lang="en-US" sz="1200" dirty="0">
                <a:solidFill>
                  <a:srgbClr val="5B6F6C"/>
                </a:solidFill>
                <a:latin typeface="Calibri" pitchFamily="34" charset="0"/>
                <a:ea typeface="Calibri" pitchFamily="34" charset="-122"/>
                <a:cs typeface="Calibri" pitchFamily="34" charset="-120"/>
              </a:rPr>
              <a:t>G5% + Nacl + Kcl + Spasfon 2Amp + IPP 40mg + Perfelgan 1g + Flagyl 500mg</a:t>
            </a:r>
            <a:endParaRPr lang="en-US" sz="1200" dirty="0"/>
          </a:p>
        </p:txBody>
      </p:sp>
      <p:sp>
        <p:nvSpPr>
          <p:cNvPr id="34" name="Text 31"/>
          <p:cNvSpPr/>
          <p:nvPr/>
        </p:nvSpPr>
        <p:spPr>
          <a:xfrm>
            <a:off x="4434840" y="5221224"/>
            <a:ext cx="6675120" cy="274320"/>
          </a:xfrm>
          <a:prstGeom prst="rect">
            <a:avLst/>
          </a:prstGeom>
          <a:noFill/>
          <a:ln/>
        </p:spPr>
        <p:txBody>
          <a:bodyPr wrap="square" lIns="0" tIns="0" rIns="0" bIns="0" rtlCol="0" anchor="ctr"/>
          <a:lstStyle/>
          <a:p>
            <a:pPr marL="0" indent="0" algn="r">
              <a:buNone/>
            </a:pPr>
            <a:r>
              <a:rPr lang="en-US" sz="1350" b="1" dirty="0">
                <a:solidFill>
                  <a:srgbClr val="0B3D3A"/>
                </a:solidFill>
                <a:latin typeface="Cambria" pitchFamily="34" charset="0"/>
                <a:ea typeface="Cambria" pitchFamily="34" charset="-122"/>
                <a:cs typeface="Cambria" pitchFamily="34" charset="-120"/>
              </a:rPr>
              <a:t>التكفل والمتابعة</a:t>
            </a:r>
            <a:endParaRPr lang="en-US" sz="1350" dirty="0"/>
          </a:p>
        </p:txBody>
      </p:sp>
      <p:sp>
        <p:nvSpPr>
          <p:cNvPr id="35" name="Text 32"/>
          <p:cNvSpPr/>
          <p:nvPr/>
        </p:nvSpPr>
        <p:spPr>
          <a:xfrm>
            <a:off x="4434840" y="5522976"/>
            <a:ext cx="6675120" cy="548640"/>
          </a:xfrm>
          <a:prstGeom prst="rect">
            <a:avLst/>
          </a:prstGeom>
          <a:noFill/>
          <a:ln/>
        </p:spPr>
        <p:txBody>
          <a:bodyPr wrap="square" lIns="0" tIns="0" rIns="0" bIns="0" rtlCol="0" anchor="t"/>
          <a:lstStyle/>
          <a:p>
            <a:pPr marL="0" indent="0" algn="r">
              <a:buNone/>
            </a:pPr>
            <a:r>
              <a:rPr lang="en-US" sz="1200" dirty="0">
                <a:solidFill>
                  <a:srgbClr val="5B6F6C"/>
                </a:solidFill>
                <a:latin typeface="Calibri" pitchFamily="34" charset="0"/>
                <a:ea typeface="Calibri" pitchFamily="34" charset="-122"/>
                <a:cs typeface="Calibri" pitchFamily="34" charset="-120"/>
              </a:rPr>
              <a:t>تم تزويد المريضة بنصائح وقائية، وأُخذ رقم المرافق لمتابعة حالتها الصحية بعد الخروج</a:t>
            </a:r>
            <a:endParaRPr lang="en-US" sz="1200" dirty="0"/>
          </a:p>
        </p:txBody>
      </p:sp>
      <p:sp>
        <p:nvSpPr>
          <p:cNvPr id="36" name="Text 33"/>
          <p:cNvSpPr/>
          <p:nvPr/>
        </p:nvSpPr>
        <p:spPr>
          <a:xfrm>
            <a:off x="11338560" y="6355080"/>
            <a:ext cx="457200" cy="320040"/>
          </a:xfrm>
          <a:prstGeom prst="rect">
            <a:avLst/>
          </a:prstGeom>
          <a:noFill/>
          <a:ln/>
        </p:spPr>
        <p:txBody>
          <a:bodyPr wrap="square" rtlCol="0" anchor="ctr"/>
          <a:lstStyle/>
          <a:p>
            <a:pPr marL="0" indent="0" algn="ctr">
              <a:buNone/>
            </a:pPr>
            <a:r>
              <a:rPr lang="en-US" sz="1000" dirty="0">
                <a:solidFill>
                  <a:srgbClr val="5B6F6C"/>
                </a:solidFill>
                <a:latin typeface="Calibri" pitchFamily="34" charset="0"/>
                <a:ea typeface="Calibri" pitchFamily="34" charset="-122"/>
                <a:cs typeface="Calibri" pitchFamily="34" charset="-120"/>
              </a:rPr>
              <a:t>15</a:t>
            </a:r>
            <a:endParaRPr lang="en-US" sz="1000" dirty="0"/>
          </a:p>
        </p:txBody>
      </p:sp>
      <p:sp>
        <p:nvSpPr>
          <p:cNvPr id="37" name="Text 34"/>
          <p:cNvSpPr/>
          <p:nvPr/>
        </p:nvSpPr>
        <p:spPr>
          <a:xfrm>
            <a:off x="457200" y="6355080"/>
            <a:ext cx="3657600" cy="320040"/>
          </a:xfrm>
          <a:prstGeom prst="rect">
            <a:avLst/>
          </a:prstGeom>
          <a:noFill/>
          <a:ln/>
        </p:spPr>
        <p:txBody>
          <a:bodyPr wrap="square" rtlCol="0" anchor="ctr"/>
          <a:lstStyle/>
          <a:p>
            <a:pPr marL="0" indent="0" algn="l">
              <a:buNone/>
            </a:pPr>
            <a:r>
              <a:rPr lang="en-US" sz="900" dirty="0">
                <a:solidFill>
                  <a:srgbClr val="9AAFAC"/>
                </a:solidFill>
                <a:latin typeface="Calibri" pitchFamily="34" charset="0"/>
                <a:ea typeface="Calibri" pitchFamily="34" charset="-122"/>
                <a:cs typeface="Calibri" pitchFamily="34" charset="-120"/>
              </a:rPr>
              <a:t>مدرسة الصحة العمومية بسيليبابي</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8229600" cy="594360"/>
          </a:xfrm>
          <a:prstGeom prst="rect">
            <a:avLst/>
          </a:prstGeom>
          <a:noFill/>
          <a:ln/>
        </p:spPr>
        <p:txBody>
          <a:bodyPr wrap="square" lIns="0" tIns="0" rIns="0" bIns="0" rtlCol="0" anchor="ctr"/>
          <a:lstStyle/>
          <a:p>
            <a:pPr marL="0" indent="0" algn="r">
              <a:buNone/>
            </a:pPr>
            <a:r>
              <a:rPr lang="en-US" sz="2600" b="1" dirty="0">
                <a:solidFill>
                  <a:srgbClr val="0B3D3A"/>
                </a:solidFill>
                <a:latin typeface="Cambria" pitchFamily="34" charset="0"/>
                <a:ea typeface="Cambria" pitchFamily="34" charset="-122"/>
                <a:cs typeface="Cambria" pitchFamily="34" charset="-120"/>
              </a:rPr>
              <a:t>تقويم الحالة الغذائية للوليد</a:t>
            </a:r>
            <a:endParaRPr lang="en-US" sz="2600" dirty="0"/>
          </a:p>
        </p:txBody>
      </p:sp>
      <p:pic>
        <p:nvPicPr>
          <p:cNvPr id="3" name="Image 0" descr="icons/weight_teal.png"/>
          <p:cNvPicPr>
            <a:picLocks noChangeAspect="1"/>
          </p:cNvPicPr>
          <p:nvPr/>
        </p:nvPicPr>
        <p:blipFill>
          <a:blip r:embed="rId3"/>
          <a:stretch>
            <a:fillRect/>
          </a:stretch>
        </p:blipFill>
        <p:spPr>
          <a:xfrm>
            <a:off x="10698480" y="457200"/>
            <a:ext cx="502920" cy="502920"/>
          </a:xfrm>
          <a:prstGeom prst="rect">
            <a:avLst/>
          </a:prstGeom>
        </p:spPr>
      </p:pic>
      <p:sp>
        <p:nvSpPr>
          <p:cNvPr id="4" name="Shape 1"/>
          <p:cNvSpPr/>
          <p:nvPr/>
        </p:nvSpPr>
        <p:spPr>
          <a:xfrm>
            <a:off x="822960" y="1417320"/>
            <a:ext cx="10515600" cy="502920"/>
          </a:xfrm>
          <a:prstGeom prst="roundRect">
            <a:avLst>
              <a:gd name="adj" fmla="val 14545"/>
            </a:avLst>
          </a:prstGeom>
          <a:solidFill>
            <a:srgbClr val="0B3D3A"/>
          </a:solidFill>
          <a:ln/>
        </p:spPr>
      </p:sp>
      <p:sp>
        <p:nvSpPr>
          <p:cNvPr id="5" name="Text 2"/>
          <p:cNvSpPr/>
          <p:nvPr/>
        </p:nvSpPr>
        <p:spPr>
          <a:xfrm>
            <a:off x="9052560" y="1417320"/>
            <a:ext cx="22860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العمر</a:t>
            </a:r>
            <a:endParaRPr lang="en-US" sz="1300" dirty="0"/>
          </a:p>
        </p:txBody>
      </p:sp>
      <p:sp>
        <p:nvSpPr>
          <p:cNvPr id="6" name="Text 3"/>
          <p:cNvSpPr/>
          <p:nvPr/>
        </p:nvSpPr>
        <p:spPr>
          <a:xfrm>
            <a:off x="6583680" y="1417320"/>
            <a:ext cx="24688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محيط الذراع</a:t>
            </a:r>
            <a:endParaRPr lang="en-US" sz="1300" dirty="0"/>
          </a:p>
        </p:txBody>
      </p:sp>
      <p:sp>
        <p:nvSpPr>
          <p:cNvPr id="7" name="Text 4"/>
          <p:cNvSpPr/>
          <p:nvPr/>
        </p:nvSpPr>
        <p:spPr>
          <a:xfrm>
            <a:off x="2926080" y="1417320"/>
            <a:ext cx="36576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المؤشر/التشخيص</a:t>
            </a:r>
            <a:endParaRPr lang="en-US" sz="1300" dirty="0"/>
          </a:p>
        </p:txBody>
      </p:sp>
      <p:sp>
        <p:nvSpPr>
          <p:cNvPr id="8" name="Text 5"/>
          <p:cNvSpPr/>
          <p:nvPr/>
        </p:nvSpPr>
        <p:spPr>
          <a:xfrm>
            <a:off x="822960" y="1417320"/>
            <a:ext cx="21031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الحالة</a:t>
            </a:r>
            <a:endParaRPr lang="en-US" sz="1300" dirty="0"/>
          </a:p>
        </p:txBody>
      </p:sp>
      <p:sp>
        <p:nvSpPr>
          <p:cNvPr id="9" name="Shape 6"/>
          <p:cNvSpPr/>
          <p:nvPr/>
        </p:nvSpPr>
        <p:spPr>
          <a:xfrm>
            <a:off x="822960" y="1920240"/>
            <a:ext cx="10515600" cy="566928"/>
          </a:xfrm>
          <a:prstGeom prst="rect">
            <a:avLst/>
          </a:prstGeom>
          <a:solidFill>
            <a:srgbClr val="F4F8F6"/>
          </a:solidFill>
          <a:ln/>
        </p:spPr>
      </p:sp>
      <p:sp>
        <p:nvSpPr>
          <p:cNvPr id="10" name="Text 7"/>
          <p:cNvSpPr/>
          <p:nvPr/>
        </p:nvSpPr>
        <p:spPr>
          <a:xfrm>
            <a:off x="9052560" y="1920240"/>
            <a:ext cx="2286000" cy="566928"/>
          </a:xfrm>
          <a:prstGeom prst="rect">
            <a:avLst/>
          </a:prstGeom>
          <a:noFill/>
          <a:ln/>
        </p:spPr>
        <p:txBody>
          <a:bodyPr wrap="square" lIns="0" tIns="0" rIns="0" bIns="0" rtlCol="0" anchor="ctr"/>
          <a:lstStyle/>
          <a:p>
            <a:pPr marL="0" indent="0" algn="ctr">
              <a:buNone/>
            </a:pPr>
            <a:r>
              <a:rPr lang="en-US" sz="1300" dirty="0">
                <a:solidFill>
                  <a:srgbClr val="1B2B28"/>
                </a:solidFill>
                <a:latin typeface="Calibri" pitchFamily="34" charset="0"/>
                <a:ea typeface="Calibri" pitchFamily="34" charset="-122"/>
                <a:cs typeface="Calibri" pitchFamily="34" charset="-120"/>
              </a:rPr>
              <a:t>24 شهرًا</a:t>
            </a:r>
            <a:endParaRPr lang="en-US" sz="1300" dirty="0"/>
          </a:p>
        </p:txBody>
      </p:sp>
      <p:sp>
        <p:nvSpPr>
          <p:cNvPr id="11" name="Text 8"/>
          <p:cNvSpPr/>
          <p:nvPr/>
        </p:nvSpPr>
        <p:spPr>
          <a:xfrm>
            <a:off x="6583680" y="1920240"/>
            <a:ext cx="2468880" cy="566928"/>
          </a:xfrm>
          <a:prstGeom prst="rect">
            <a:avLst/>
          </a:prstGeom>
          <a:noFill/>
          <a:ln/>
        </p:spPr>
        <p:txBody>
          <a:bodyPr wrap="square" lIns="0" tIns="0" rIns="0" bIns="0" rtlCol="0" anchor="ctr"/>
          <a:lstStyle/>
          <a:p>
            <a:pPr marL="0" indent="0" algn="ctr">
              <a:buNone/>
            </a:pPr>
            <a:r>
              <a:rPr lang="en-US" sz="1300" dirty="0">
                <a:solidFill>
                  <a:srgbClr val="1B2B28"/>
                </a:solidFill>
                <a:latin typeface="Calibri" pitchFamily="34" charset="0"/>
                <a:ea typeface="Calibri" pitchFamily="34" charset="-122"/>
                <a:cs typeface="Calibri" pitchFamily="34" charset="-120"/>
              </a:rPr>
              <a:t>12.5 سم</a:t>
            </a:r>
            <a:endParaRPr lang="en-US" sz="1300" dirty="0"/>
          </a:p>
        </p:txBody>
      </p:sp>
      <p:sp>
        <p:nvSpPr>
          <p:cNvPr id="12" name="Text 9"/>
          <p:cNvSpPr/>
          <p:nvPr/>
        </p:nvSpPr>
        <p:spPr>
          <a:xfrm>
            <a:off x="2926080" y="1920240"/>
            <a:ext cx="3657600" cy="566928"/>
          </a:xfrm>
          <a:prstGeom prst="rect">
            <a:avLst/>
          </a:prstGeom>
          <a:noFill/>
          <a:ln/>
        </p:spPr>
        <p:txBody>
          <a:bodyPr wrap="square" lIns="0" tIns="0" rIns="0" bIns="0" rtlCol="0" anchor="ctr"/>
          <a:lstStyle/>
          <a:p>
            <a:pPr marL="0" indent="0" algn="ctr">
              <a:buNone/>
            </a:pPr>
            <a:r>
              <a:rPr lang="en-US" sz="1300" b="1" dirty="0">
                <a:solidFill>
                  <a:srgbClr val="0B3D3A"/>
                </a:solidFill>
                <a:latin typeface="Calibri" pitchFamily="34" charset="0"/>
                <a:ea typeface="Calibri" pitchFamily="34" charset="-122"/>
                <a:cs typeface="Calibri" pitchFamily="34" charset="-120"/>
              </a:rPr>
              <a:t>نقص تغذية (-1.5)</a:t>
            </a:r>
            <a:endParaRPr lang="en-US" sz="1300" dirty="0"/>
          </a:p>
        </p:txBody>
      </p:sp>
      <p:sp>
        <p:nvSpPr>
          <p:cNvPr id="13" name="Shape 10"/>
          <p:cNvSpPr/>
          <p:nvPr/>
        </p:nvSpPr>
        <p:spPr>
          <a:xfrm>
            <a:off x="1371600" y="2039112"/>
            <a:ext cx="1005840" cy="329184"/>
          </a:xfrm>
          <a:prstGeom prst="roundRect">
            <a:avLst>
              <a:gd name="adj" fmla="val 50000"/>
            </a:avLst>
          </a:prstGeom>
          <a:solidFill>
            <a:srgbClr val="B85C38">
              <a:alpha val="15000"/>
            </a:srgbClr>
          </a:solidFill>
          <a:ln/>
        </p:spPr>
      </p:sp>
      <p:sp>
        <p:nvSpPr>
          <p:cNvPr id="14" name="Text 11"/>
          <p:cNvSpPr/>
          <p:nvPr/>
        </p:nvSpPr>
        <p:spPr>
          <a:xfrm>
            <a:off x="822960" y="2039112"/>
            <a:ext cx="2103120" cy="329184"/>
          </a:xfrm>
          <a:prstGeom prst="rect">
            <a:avLst/>
          </a:prstGeom>
          <a:noFill/>
          <a:ln/>
        </p:spPr>
        <p:txBody>
          <a:bodyPr wrap="square" lIns="0" tIns="0" rIns="0" bIns="0" rtlCol="0" anchor="ctr"/>
          <a:lstStyle/>
          <a:p>
            <a:pPr marL="0" indent="0" algn="ctr">
              <a:buNone/>
            </a:pPr>
            <a:r>
              <a:rPr lang="en-US" sz="1100" b="1" dirty="0">
                <a:solidFill>
                  <a:srgbClr val="B85C38"/>
                </a:solidFill>
                <a:latin typeface="Calibri" pitchFamily="34" charset="0"/>
                <a:ea typeface="Calibri" pitchFamily="34" charset="-122"/>
                <a:cs typeface="Calibri" pitchFamily="34" charset="-120"/>
              </a:rPr>
              <a:t>تنبيه</a:t>
            </a:r>
            <a:endParaRPr lang="en-US" sz="1100" dirty="0"/>
          </a:p>
        </p:txBody>
      </p:sp>
      <p:sp>
        <p:nvSpPr>
          <p:cNvPr id="15" name="Shape 12"/>
          <p:cNvSpPr/>
          <p:nvPr/>
        </p:nvSpPr>
        <p:spPr>
          <a:xfrm>
            <a:off x="822960" y="2487168"/>
            <a:ext cx="10515600" cy="566928"/>
          </a:xfrm>
          <a:prstGeom prst="rect">
            <a:avLst/>
          </a:prstGeom>
          <a:solidFill>
            <a:srgbClr val="FFFFFF"/>
          </a:solidFill>
          <a:ln/>
        </p:spPr>
      </p:sp>
      <p:sp>
        <p:nvSpPr>
          <p:cNvPr id="16" name="Text 13"/>
          <p:cNvSpPr/>
          <p:nvPr/>
        </p:nvSpPr>
        <p:spPr>
          <a:xfrm>
            <a:off x="9052560" y="2487168"/>
            <a:ext cx="2286000" cy="566928"/>
          </a:xfrm>
          <a:prstGeom prst="rect">
            <a:avLst/>
          </a:prstGeom>
          <a:noFill/>
          <a:ln/>
        </p:spPr>
        <p:txBody>
          <a:bodyPr wrap="square" lIns="0" tIns="0" rIns="0" bIns="0" rtlCol="0" anchor="ctr"/>
          <a:lstStyle/>
          <a:p>
            <a:pPr marL="0" indent="0" algn="ctr">
              <a:buNone/>
            </a:pPr>
            <a:r>
              <a:rPr lang="en-US" sz="1300" dirty="0">
                <a:solidFill>
                  <a:srgbClr val="1B2B28"/>
                </a:solidFill>
                <a:latin typeface="Calibri" pitchFamily="34" charset="0"/>
                <a:ea typeface="Calibri" pitchFamily="34" charset="-122"/>
                <a:cs typeface="Calibri" pitchFamily="34" charset="-120"/>
              </a:rPr>
              <a:t>36 شهرًا</a:t>
            </a:r>
            <a:endParaRPr lang="en-US" sz="1300" dirty="0"/>
          </a:p>
        </p:txBody>
      </p:sp>
      <p:sp>
        <p:nvSpPr>
          <p:cNvPr id="17" name="Text 14"/>
          <p:cNvSpPr/>
          <p:nvPr/>
        </p:nvSpPr>
        <p:spPr>
          <a:xfrm>
            <a:off x="6583680" y="2487168"/>
            <a:ext cx="2468880" cy="566928"/>
          </a:xfrm>
          <a:prstGeom prst="rect">
            <a:avLst/>
          </a:prstGeom>
          <a:noFill/>
          <a:ln/>
        </p:spPr>
        <p:txBody>
          <a:bodyPr wrap="square" lIns="0" tIns="0" rIns="0" bIns="0" rtlCol="0" anchor="ctr"/>
          <a:lstStyle/>
          <a:p>
            <a:pPr marL="0" indent="0" algn="ctr">
              <a:buNone/>
            </a:pPr>
            <a:r>
              <a:rPr lang="en-US" sz="1300" dirty="0">
                <a:solidFill>
                  <a:srgbClr val="1B2B28"/>
                </a:solidFill>
                <a:latin typeface="Calibri" pitchFamily="34" charset="0"/>
                <a:ea typeface="Calibri" pitchFamily="34" charset="-122"/>
                <a:cs typeface="Calibri" pitchFamily="34" charset="-120"/>
              </a:rPr>
              <a:t>12 سم</a:t>
            </a:r>
            <a:endParaRPr lang="en-US" sz="1300" dirty="0"/>
          </a:p>
        </p:txBody>
      </p:sp>
      <p:sp>
        <p:nvSpPr>
          <p:cNvPr id="18" name="Text 15"/>
          <p:cNvSpPr/>
          <p:nvPr/>
        </p:nvSpPr>
        <p:spPr>
          <a:xfrm>
            <a:off x="2926080" y="2487168"/>
            <a:ext cx="3657600" cy="566928"/>
          </a:xfrm>
          <a:prstGeom prst="rect">
            <a:avLst/>
          </a:prstGeom>
          <a:noFill/>
          <a:ln/>
        </p:spPr>
        <p:txBody>
          <a:bodyPr wrap="square" lIns="0" tIns="0" rIns="0" bIns="0" rtlCol="0" anchor="ctr"/>
          <a:lstStyle/>
          <a:p>
            <a:pPr marL="0" indent="0" algn="ctr">
              <a:buNone/>
            </a:pPr>
            <a:r>
              <a:rPr lang="en-US" sz="1300" b="1" dirty="0">
                <a:solidFill>
                  <a:srgbClr val="0B3D3A"/>
                </a:solidFill>
                <a:latin typeface="Calibri" pitchFamily="34" charset="0"/>
                <a:ea typeface="Calibri" pitchFamily="34" charset="-122"/>
                <a:cs typeface="Calibri" pitchFamily="34" charset="-120"/>
              </a:rPr>
              <a:t>طبيعي</a:t>
            </a:r>
            <a:endParaRPr lang="en-US" sz="1300" dirty="0"/>
          </a:p>
        </p:txBody>
      </p:sp>
      <p:sp>
        <p:nvSpPr>
          <p:cNvPr id="19" name="Shape 16"/>
          <p:cNvSpPr/>
          <p:nvPr/>
        </p:nvSpPr>
        <p:spPr>
          <a:xfrm>
            <a:off x="1371600" y="2606040"/>
            <a:ext cx="1005840" cy="329184"/>
          </a:xfrm>
          <a:prstGeom prst="roundRect">
            <a:avLst>
              <a:gd name="adj" fmla="val 50000"/>
            </a:avLst>
          </a:prstGeom>
          <a:solidFill>
            <a:srgbClr val="117A65">
              <a:alpha val="15000"/>
            </a:srgbClr>
          </a:solidFill>
          <a:ln/>
        </p:spPr>
      </p:sp>
      <p:sp>
        <p:nvSpPr>
          <p:cNvPr id="20" name="Text 17"/>
          <p:cNvSpPr/>
          <p:nvPr/>
        </p:nvSpPr>
        <p:spPr>
          <a:xfrm>
            <a:off x="822960" y="2606040"/>
            <a:ext cx="2103120" cy="329184"/>
          </a:xfrm>
          <a:prstGeom prst="rect">
            <a:avLst/>
          </a:prstGeom>
          <a:noFill/>
          <a:ln/>
        </p:spPr>
        <p:txBody>
          <a:bodyPr wrap="square" lIns="0" tIns="0" rIns="0" bIns="0" rtlCol="0" anchor="ctr"/>
          <a:lstStyle/>
          <a:p>
            <a:pPr marL="0" indent="0" algn="ctr">
              <a:buNone/>
            </a:pPr>
            <a:r>
              <a:rPr lang="en-US" sz="1100" b="1" dirty="0">
                <a:solidFill>
                  <a:srgbClr val="117A65"/>
                </a:solidFill>
                <a:latin typeface="Calibri" pitchFamily="34" charset="0"/>
                <a:ea typeface="Calibri" pitchFamily="34" charset="-122"/>
                <a:cs typeface="Calibri" pitchFamily="34" charset="-120"/>
              </a:rPr>
              <a:t>سليم</a:t>
            </a:r>
            <a:endParaRPr lang="en-US" sz="1100" dirty="0"/>
          </a:p>
        </p:txBody>
      </p:sp>
      <p:sp>
        <p:nvSpPr>
          <p:cNvPr id="21" name="Shape 18"/>
          <p:cNvSpPr/>
          <p:nvPr/>
        </p:nvSpPr>
        <p:spPr>
          <a:xfrm>
            <a:off x="822960" y="3054096"/>
            <a:ext cx="10515600" cy="566928"/>
          </a:xfrm>
          <a:prstGeom prst="rect">
            <a:avLst/>
          </a:prstGeom>
          <a:solidFill>
            <a:srgbClr val="F4F8F6"/>
          </a:solidFill>
          <a:ln/>
        </p:spPr>
      </p:sp>
      <p:sp>
        <p:nvSpPr>
          <p:cNvPr id="22" name="Text 19"/>
          <p:cNvSpPr/>
          <p:nvPr/>
        </p:nvSpPr>
        <p:spPr>
          <a:xfrm>
            <a:off x="9052560" y="3054096"/>
            <a:ext cx="2286000" cy="566928"/>
          </a:xfrm>
          <a:prstGeom prst="rect">
            <a:avLst/>
          </a:prstGeom>
          <a:noFill/>
          <a:ln/>
        </p:spPr>
        <p:txBody>
          <a:bodyPr wrap="square" lIns="0" tIns="0" rIns="0" bIns="0" rtlCol="0" anchor="ctr"/>
          <a:lstStyle/>
          <a:p>
            <a:pPr marL="0" indent="0" algn="ctr">
              <a:buNone/>
            </a:pPr>
            <a:r>
              <a:rPr lang="en-US" sz="1300" dirty="0">
                <a:solidFill>
                  <a:srgbClr val="1B2B28"/>
                </a:solidFill>
                <a:latin typeface="Calibri" pitchFamily="34" charset="0"/>
                <a:ea typeface="Calibri" pitchFamily="34" charset="-122"/>
                <a:cs typeface="Calibri" pitchFamily="34" charset="-120"/>
              </a:rPr>
              <a:t>48 شهرًا</a:t>
            </a:r>
            <a:endParaRPr lang="en-US" sz="1300" dirty="0"/>
          </a:p>
        </p:txBody>
      </p:sp>
      <p:sp>
        <p:nvSpPr>
          <p:cNvPr id="23" name="Text 20"/>
          <p:cNvSpPr/>
          <p:nvPr/>
        </p:nvSpPr>
        <p:spPr>
          <a:xfrm>
            <a:off x="6583680" y="3054096"/>
            <a:ext cx="2468880" cy="566928"/>
          </a:xfrm>
          <a:prstGeom prst="rect">
            <a:avLst/>
          </a:prstGeom>
          <a:noFill/>
          <a:ln/>
        </p:spPr>
        <p:txBody>
          <a:bodyPr wrap="square" lIns="0" tIns="0" rIns="0" bIns="0" rtlCol="0" anchor="ctr"/>
          <a:lstStyle/>
          <a:p>
            <a:pPr marL="0" indent="0" algn="ctr">
              <a:buNone/>
            </a:pPr>
            <a:r>
              <a:rPr lang="en-US" sz="1300" dirty="0">
                <a:solidFill>
                  <a:srgbClr val="1B2B28"/>
                </a:solidFill>
                <a:latin typeface="Calibri" pitchFamily="34" charset="0"/>
                <a:ea typeface="Calibri" pitchFamily="34" charset="-122"/>
                <a:cs typeface="Calibri" pitchFamily="34" charset="-120"/>
              </a:rPr>
              <a:t>14 سم</a:t>
            </a:r>
            <a:endParaRPr lang="en-US" sz="1300" dirty="0"/>
          </a:p>
        </p:txBody>
      </p:sp>
      <p:sp>
        <p:nvSpPr>
          <p:cNvPr id="24" name="Text 21"/>
          <p:cNvSpPr/>
          <p:nvPr/>
        </p:nvSpPr>
        <p:spPr>
          <a:xfrm>
            <a:off x="2926080" y="3054096"/>
            <a:ext cx="3657600" cy="566928"/>
          </a:xfrm>
          <a:prstGeom prst="rect">
            <a:avLst/>
          </a:prstGeom>
          <a:noFill/>
          <a:ln/>
        </p:spPr>
        <p:txBody>
          <a:bodyPr wrap="square" lIns="0" tIns="0" rIns="0" bIns="0" rtlCol="0" anchor="ctr"/>
          <a:lstStyle/>
          <a:p>
            <a:pPr marL="0" indent="0" algn="ctr">
              <a:buNone/>
            </a:pPr>
            <a:r>
              <a:rPr lang="en-US" sz="1300" b="1" dirty="0">
                <a:solidFill>
                  <a:srgbClr val="0B3D3A"/>
                </a:solidFill>
                <a:latin typeface="Calibri" pitchFamily="34" charset="0"/>
                <a:ea typeface="Calibri" pitchFamily="34" charset="-122"/>
                <a:cs typeface="Calibri" pitchFamily="34" charset="-120"/>
              </a:rPr>
              <a:t>طبيعي</a:t>
            </a:r>
            <a:endParaRPr lang="en-US" sz="1300" dirty="0"/>
          </a:p>
        </p:txBody>
      </p:sp>
      <p:sp>
        <p:nvSpPr>
          <p:cNvPr id="25" name="Shape 22"/>
          <p:cNvSpPr/>
          <p:nvPr/>
        </p:nvSpPr>
        <p:spPr>
          <a:xfrm>
            <a:off x="1371600" y="3172968"/>
            <a:ext cx="1005840" cy="329184"/>
          </a:xfrm>
          <a:prstGeom prst="roundRect">
            <a:avLst>
              <a:gd name="adj" fmla="val 50000"/>
            </a:avLst>
          </a:prstGeom>
          <a:solidFill>
            <a:srgbClr val="117A65">
              <a:alpha val="15000"/>
            </a:srgbClr>
          </a:solidFill>
          <a:ln/>
        </p:spPr>
      </p:sp>
      <p:sp>
        <p:nvSpPr>
          <p:cNvPr id="26" name="Text 23"/>
          <p:cNvSpPr/>
          <p:nvPr/>
        </p:nvSpPr>
        <p:spPr>
          <a:xfrm>
            <a:off x="822960" y="3172968"/>
            <a:ext cx="2103120" cy="329184"/>
          </a:xfrm>
          <a:prstGeom prst="rect">
            <a:avLst/>
          </a:prstGeom>
          <a:noFill/>
          <a:ln/>
        </p:spPr>
        <p:txBody>
          <a:bodyPr wrap="square" lIns="0" tIns="0" rIns="0" bIns="0" rtlCol="0" anchor="ctr"/>
          <a:lstStyle/>
          <a:p>
            <a:pPr marL="0" indent="0" algn="ctr">
              <a:buNone/>
            </a:pPr>
            <a:r>
              <a:rPr lang="en-US" sz="1100" b="1" dirty="0">
                <a:solidFill>
                  <a:srgbClr val="117A65"/>
                </a:solidFill>
                <a:latin typeface="Calibri" pitchFamily="34" charset="0"/>
                <a:ea typeface="Calibri" pitchFamily="34" charset="-122"/>
                <a:cs typeface="Calibri" pitchFamily="34" charset="-120"/>
              </a:rPr>
              <a:t>سليم</a:t>
            </a:r>
            <a:endParaRPr lang="en-US" sz="1100" dirty="0"/>
          </a:p>
        </p:txBody>
      </p:sp>
      <p:sp>
        <p:nvSpPr>
          <p:cNvPr id="27" name="Shape 24"/>
          <p:cNvSpPr/>
          <p:nvPr/>
        </p:nvSpPr>
        <p:spPr>
          <a:xfrm>
            <a:off x="822960" y="3621024"/>
            <a:ext cx="10515600" cy="566928"/>
          </a:xfrm>
          <a:prstGeom prst="rect">
            <a:avLst/>
          </a:prstGeom>
          <a:solidFill>
            <a:srgbClr val="FFFFFF"/>
          </a:solidFill>
          <a:ln/>
        </p:spPr>
      </p:sp>
      <p:sp>
        <p:nvSpPr>
          <p:cNvPr id="28" name="Text 25"/>
          <p:cNvSpPr/>
          <p:nvPr/>
        </p:nvSpPr>
        <p:spPr>
          <a:xfrm>
            <a:off x="9052560" y="3621024"/>
            <a:ext cx="2286000" cy="566928"/>
          </a:xfrm>
          <a:prstGeom prst="rect">
            <a:avLst/>
          </a:prstGeom>
          <a:noFill/>
          <a:ln/>
        </p:spPr>
        <p:txBody>
          <a:bodyPr wrap="square" lIns="0" tIns="0" rIns="0" bIns="0" rtlCol="0" anchor="ctr"/>
          <a:lstStyle/>
          <a:p>
            <a:pPr marL="0" indent="0" algn="ctr">
              <a:buNone/>
            </a:pPr>
            <a:r>
              <a:rPr lang="en-US" sz="1300" dirty="0">
                <a:solidFill>
                  <a:srgbClr val="1B2B28"/>
                </a:solidFill>
                <a:latin typeface="Calibri" pitchFamily="34" charset="0"/>
                <a:ea typeface="Calibri" pitchFamily="34" charset="-122"/>
                <a:cs typeface="Calibri" pitchFamily="34" charset="-120"/>
              </a:rPr>
              <a:t>19 شهرًا</a:t>
            </a:r>
            <a:endParaRPr lang="en-US" sz="1300" dirty="0"/>
          </a:p>
        </p:txBody>
      </p:sp>
      <p:sp>
        <p:nvSpPr>
          <p:cNvPr id="29" name="Text 26"/>
          <p:cNvSpPr/>
          <p:nvPr/>
        </p:nvSpPr>
        <p:spPr>
          <a:xfrm>
            <a:off x="6583680" y="3621024"/>
            <a:ext cx="2468880" cy="566928"/>
          </a:xfrm>
          <a:prstGeom prst="rect">
            <a:avLst/>
          </a:prstGeom>
          <a:noFill/>
          <a:ln/>
        </p:spPr>
        <p:txBody>
          <a:bodyPr wrap="square" lIns="0" tIns="0" rIns="0" bIns="0" rtlCol="0" anchor="ctr"/>
          <a:lstStyle/>
          <a:p>
            <a:pPr marL="0" indent="0" algn="ctr">
              <a:buNone/>
            </a:pPr>
            <a:r>
              <a:rPr lang="en-US" sz="1300" dirty="0">
                <a:solidFill>
                  <a:srgbClr val="1B2B28"/>
                </a:solidFill>
                <a:latin typeface="Calibri" pitchFamily="34" charset="0"/>
                <a:ea typeface="Calibri" pitchFamily="34" charset="-122"/>
                <a:cs typeface="Calibri" pitchFamily="34" charset="-120"/>
              </a:rPr>
              <a:t>11.5 سم</a:t>
            </a:r>
            <a:endParaRPr lang="en-US" sz="1300" dirty="0"/>
          </a:p>
        </p:txBody>
      </p:sp>
      <p:sp>
        <p:nvSpPr>
          <p:cNvPr id="30" name="Text 27"/>
          <p:cNvSpPr/>
          <p:nvPr/>
        </p:nvSpPr>
        <p:spPr>
          <a:xfrm>
            <a:off x="2926080" y="3621024"/>
            <a:ext cx="3657600" cy="566928"/>
          </a:xfrm>
          <a:prstGeom prst="rect">
            <a:avLst/>
          </a:prstGeom>
          <a:noFill/>
          <a:ln/>
        </p:spPr>
        <p:txBody>
          <a:bodyPr wrap="square" lIns="0" tIns="0" rIns="0" bIns="0" rtlCol="0" anchor="ctr"/>
          <a:lstStyle/>
          <a:p>
            <a:pPr marL="0" indent="0" algn="ctr">
              <a:buNone/>
            </a:pPr>
            <a:r>
              <a:rPr lang="en-US" sz="1300" b="1" dirty="0">
                <a:solidFill>
                  <a:srgbClr val="0B3D3A"/>
                </a:solidFill>
                <a:latin typeface="Calibri" pitchFamily="34" charset="0"/>
                <a:ea typeface="Calibri" pitchFamily="34" charset="-122"/>
                <a:cs typeface="Calibri" pitchFamily="34" charset="-120"/>
              </a:rPr>
              <a:t>طبيعي</a:t>
            </a:r>
            <a:endParaRPr lang="en-US" sz="1300" dirty="0"/>
          </a:p>
        </p:txBody>
      </p:sp>
      <p:sp>
        <p:nvSpPr>
          <p:cNvPr id="31" name="Shape 28"/>
          <p:cNvSpPr/>
          <p:nvPr/>
        </p:nvSpPr>
        <p:spPr>
          <a:xfrm>
            <a:off x="1371600" y="3739896"/>
            <a:ext cx="1005840" cy="329184"/>
          </a:xfrm>
          <a:prstGeom prst="roundRect">
            <a:avLst>
              <a:gd name="adj" fmla="val 50000"/>
            </a:avLst>
          </a:prstGeom>
          <a:solidFill>
            <a:srgbClr val="117A65">
              <a:alpha val="15000"/>
            </a:srgbClr>
          </a:solidFill>
          <a:ln/>
        </p:spPr>
      </p:sp>
      <p:sp>
        <p:nvSpPr>
          <p:cNvPr id="32" name="Text 29"/>
          <p:cNvSpPr/>
          <p:nvPr/>
        </p:nvSpPr>
        <p:spPr>
          <a:xfrm>
            <a:off x="822960" y="3739896"/>
            <a:ext cx="2103120" cy="329184"/>
          </a:xfrm>
          <a:prstGeom prst="rect">
            <a:avLst/>
          </a:prstGeom>
          <a:noFill/>
          <a:ln/>
        </p:spPr>
        <p:txBody>
          <a:bodyPr wrap="square" lIns="0" tIns="0" rIns="0" bIns="0" rtlCol="0" anchor="ctr"/>
          <a:lstStyle/>
          <a:p>
            <a:pPr marL="0" indent="0" algn="ctr">
              <a:buNone/>
            </a:pPr>
            <a:r>
              <a:rPr lang="en-US" sz="1100" b="1" dirty="0">
                <a:solidFill>
                  <a:srgbClr val="117A65"/>
                </a:solidFill>
                <a:latin typeface="Calibri" pitchFamily="34" charset="0"/>
                <a:ea typeface="Calibri" pitchFamily="34" charset="-122"/>
                <a:cs typeface="Calibri" pitchFamily="34" charset="-120"/>
              </a:rPr>
              <a:t>سليم</a:t>
            </a:r>
            <a:endParaRPr lang="en-US" sz="1100" dirty="0"/>
          </a:p>
        </p:txBody>
      </p:sp>
      <p:sp>
        <p:nvSpPr>
          <p:cNvPr id="33" name="Shape 30"/>
          <p:cNvSpPr/>
          <p:nvPr/>
        </p:nvSpPr>
        <p:spPr>
          <a:xfrm>
            <a:off x="822960" y="4187952"/>
            <a:ext cx="10515600" cy="566928"/>
          </a:xfrm>
          <a:prstGeom prst="rect">
            <a:avLst/>
          </a:prstGeom>
          <a:solidFill>
            <a:srgbClr val="F4F8F6"/>
          </a:solidFill>
          <a:ln/>
        </p:spPr>
      </p:sp>
      <p:sp>
        <p:nvSpPr>
          <p:cNvPr id="34" name="Text 31"/>
          <p:cNvSpPr/>
          <p:nvPr/>
        </p:nvSpPr>
        <p:spPr>
          <a:xfrm>
            <a:off x="9052560" y="4187952"/>
            <a:ext cx="2286000" cy="566928"/>
          </a:xfrm>
          <a:prstGeom prst="rect">
            <a:avLst/>
          </a:prstGeom>
          <a:noFill/>
          <a:ln/>
        </p:spPr>
        <p:txBody>
          <a:bodyPr wrap="square" lIns="0" tIns="0" rIns="0" bIns="0" rtlCol="0" anchor="ctr"/>
          <a:lstStyle/>
          <a:p>
            <a:pPr marL="0" indent="0" algn="ctr">
              <a:buNone/>
            </a:pPr>
            <a:r>
              <a:rPr lang="en-US" sz="1300" dirty="0">
                <a:solidFill>
                  <a:srgbClr val="1B2B28"/>
                </a:solidFill>
                <a:latin typeface="Calibri" pitchFamily="34" charset="0"/>
                <a:ea typeface="Calibri" pitchFamily="34" charset="-122"/>
                <a:cs typeface="Calibri" pitchFamily="34" charset="-120"/>
              </a:rPr>
              <a:t>24 شهرًا</a:t>
            </a:r>
            <a:endParaRPr lang="en-US" sz="1300" dirty="0"/>
          </a:p>
        </p:txBody>
      </p:sp>
      <p:sp>
        <p:nvSpPr>
          <p:cNvPr id="35" name="Text 32"/>
          <p:cNvSpPr/>
          <p:nvPr/>
        </p:nvSpPr>
        <p:spPr>
          <a:xfrm>
            <a:off x="6583680" y="4187952"/>
            <a:ext cx="2468880" cy="566928"/>
          </a:xfrm>
          <a:prstGeom prst="rect">
            <a:avLst/>
          </a:prstGeom>
          <a:noFill/>
          <a:ln/>
        </p:spPr>
        <p:txBody>
          <a:bodyPr wrap="square" lIns="0" tIns="0" rIns="0" bIns="0" rtlCol="0" anchor="ctr"/>
          <a:lstStyle/>
          <a:p>
            <a:pPr marL="0" indent="0" algn="ctr">
              <a:buNone/>
            </a:pPr>
            <a:r>
              <a:rPr lang="en-US" sz="1300" dirty="0">
                <a:solidFill>
                  <a:srgbClr val="1B2B28"/>
                </a:solidFill>
                <a:latin typeface="Calibri" pitchFamily="34" charset="0"/>
                <a:ea typeface="Calibri" pitchFamily="34" charset="-122"/>
                <a:cs typeface="Calibri" pitchFamily="34" charset="-120"/>
              </a:rPr>
              <a:t>13 سم</a:t>
            </a:r>
            <a:endParaRPr lang="en-US" sz="1300" dirty="0"/>
          </a:p>
        </p:txBody>
      </p:sp>
      <p:sp>
        <p:nvSpPr>
          <p:cNvPr id="36" name="Text 33"/>
          <p:cNvSpPr/>
          <p:nvPr/>
        </p:nvSpPr>
        <p:spPr>
          <a:xfrm>
            <a:off x="2926080" y="4187952"/>
            <a:ext cx="3657600" cy="566928"/>
          </a:xfrm>
          <a:prstGeom prst="rect">
            <a:avLst/>
          </a:prstGeom>
          <a:noFill/>
          <a:ln/>
        </p:spPr>
        <p:txBody>
          <a:bodyPr wrap="square" lIns="0" tIns="0" rIns="0" bIns="0" rtlCol="0" anchor="ctr"/>
          <a:lstStyle/>
          <a:p>
            <a:pPr marL="0" indent="0" algn="ctr">
              <a:buNone/>
            </a:pPr>
            <a:r>
              <a:rPr lang="en-US" sz="1300" b="1" dirty="0">
                <a:solidFill>
                  <a:srgbClr val="0B3D3A"/>
                </a:solidFill>
                <a:latin typeface="Calibri" pitchFamily="34" charset="0"/>
                <a:ea typeface="Calibri" pitchFamily="34" charset="-122"/>
                <a:cs typeface="Calibri" pitchFamily="34" charset="-120"/>
              </a:rPr>
              <a:t>طبيعي</a:t>
            </a:r>
            <a:endParaRPr lang="en-US" sz="1300" dirty="0"/>
          </a:p>
        </p:txBody>
      </p:sp>
      <p:sp>
        <p:nvSpPr>
          <p:cNvPr id="37" name="Shape 34"/>
          <p:cNvSpPr/>
          <p:nvPr/>
        </p:nvSpPr>
        <p:spPr>
          <a:xfrm>
            <a:off x="1371600" y="4306824"/>
            <a:ext cx="1005840" cy="329184"/>
          </a:xfrm>
          <a:prstGeom prst="roundRect">
            <a:avLst>
              <a:gd name="adj" fmla="val 50000"/>
            </a:avLst>
          </a:prstGeom>
          <a:solidFill>
            <a:srgbClr val="117A65">
              <a:alpha val="15000"/>
            </a:srgbClr>
          </a:solidFill>
          <a:ln/>
        </p:spPr>
      </p:sp>
      <p:sp>
        <p:nvSpPr>
          <p:cNvPr id="38" name="Text 35"/>
          <p:cNvSpPr/>
          <p:nvPr/>
        </p:nvSpPr>
        <p:spPr>
          <a:xfrm>
            <a:off x="822960" y="4306824"/>
            <a:ext cx="2103120" cy="329184"/>
          </a:xfrm>
          <a:prstGeom prst="rect">
            <a:avLst/>
          </a:prstGeom>
          <a:noFill/>
          <a:ln/>
        </p:spPr>
        <p:txBody>
          <a:bodyPr wrap="square" lIns="0" tIns="0" rIns="0" bIns="0" rtlCol="0" anchor="ctr"/>
          <a:lstStyle/>
          <a:p>
            <a:pPr marL="0" indent="0" algn="ctr">
              <a:buNone/>
            </a:pPr>
            <a:r>
              <a:rPr lang="en-US" sz="1100" b="1" dirty="0">
                <a:solidFill>
                  <a:srgbClr val="117A65"/>
                </a:solidFill>
                <a:latin typeface="Calibri" pitchFamily="34" charset="0"/>
                <a:ea typeface="Calibri" pitchFamily="34" charset="-122"/>
                <a:cs typeface="Calibri" pitchFamily="34" charset="-120"/>
              </a:rPr>
              <a:t>سليم</a:t>
            </a:r>
            <a:endParaRPr lang="en-US" sz="1100" dirty="0"/>
          </a:p>
        </p:txBody>
      </p:sp>
      <p:sp>
        <p:nvSpPr>
          <p:cNvPr id="39" name="Shape 36"/>
          <p:cNvSpPr/>
          <p:nvPr/>
        </p:nvSpPr>
        <p:spPr>
          <a:xfrm>
            <a:off x="822960" y="1417320"/>
            <a:ext cx="10515600" cy="3337560"/>
          </a:xfrm>
          <a:prstGeom prst="rect">
            <a:avLst/>
          </a:prstGeom>
          <a:ln w="12700">
            <a:solidFill>
              <a:srgbClr val="E3E9E5"/>
            </a:solidFill>
            <a:prstDash val="solid"/>
          </a:ln>
        </p:spPr>
      </p:sp>
      <p:sp>
        <p:nvSpPr>
          <p:cNvPr id="40" name="Shape 37"/>
          <p:cNvSpPr/>
          <p:nvPr/>
        </p:nvSpPr>
        <p:spPr>
          <a:xfrm>
            <a:off x="822960" y="4983480"/>
            <a:ext cx="10515600" cy="1005840"/>
          </a:xfrm>
          <a:prstGeom prst="roundRect">
            <a:avLst>
              <a:gd name="adj" fmla="val 9091"/>
            </a:avLst>
          </a:prstGeom>
          <a:solidFill>
            <a:srgbClr val="D9F0EA"/>
          </a:solidFill>
          <a:ln/>
        </p:spPr>
      </p:sp>
      <p:pic>
        <p:nvPicPr>
          <p:cNvPr id="41" name="Image 1" descr="icons/check_teal.png"/>
          <p:cNvPicPr>
            <a:picLocks noChangeAspect="1"/>
          </p:cNvPicPr>
          <p:nvPr/>
        </p:nvPicPr>
        <p:blipFill>
          <a:blip r:embed="rId4"/>
          <a:stretch>
            <a:fillRect/>
          </a:stretch>
        </p:blipFill>
        <p:spPr>
          <a:xfrm>
            <a:off x="10607040" y="5212080"/>
            <a:ext cx="502920" cy="502920"/>
          </a:xfrm>
          <a:prstGeom prst="rect">
            <a:avLst/>
          </a:prstGeom>
        </p:spPr>
      </p:pic>
      <p:sp>
        <p:nvSpPr>
          <p:cNvPr id="42" name="Text 38"/>
          <p:cNvSpPr/>
          <p:nvPr/>
        </p:nvSpPr>
        <p:spPr>
          <a:xfrm>
            <a:off x="1097280" y="5074920"/>
            <a:ext cx="9326880" cy="777240"/>
          </a:xfrm>
          <a:prstGeom prst="rect">
            <a:avLst/>
          </a:prstGeom>
          <a:noFill/>
          <a:ln/>
        </p:spPr>
        <p:txBody>
          <a:bodyPr wrap="square" lIns="0" tIns="0" rIns="0" bIns="0" rtlCol="0" anchor="ctr"/>
          <a:lstStyle/>
          <a:p>
            <a:pPr marL="0" indent="0" algn="r">
              <a:buNone/>
            </a:pPr>
            <a:r>
              <a:rPr lang="en-US" sz="1250" b="1" dirty="0">
                <a:solidFill>
                  <a:srgbClr val="0B3D3A"/>
                </a:solidFill>
                <a:latin typeface="Calibri" pitchFamily="34" charset="0"/>
                <a:ea typeface="Calibri" pitchFamily="34" charset="-122"/>
                <a:cs typeface="Calibri" pitchFamily="34" charset="-120"/>
              </a:rPr>
              <a:t>الحالة الوحيدة التي أظهرت نقص تغذية مصحوبًا بألم في البطن (مؤشر -1.5) تم التعامل معها فورًا بإعطاء Amoxicillin وفيتامين A وAlbendazol بالإضافة إلى ATPE الغذائي العلاجي، وجميع الحالات استكملت لقاحاتها.</a:t>
            </a:r>
            <a:endParaRPr lang="en-US" sz="1250" dirty="0"/>
          </a:p>
        </p:txBody>
      </p:sp>
      <p:sp>
        <p:nvSpPr>
          <p:cNvPr id="43" name="Text 39"/>
          <p:cNvSpPr/>
          <p:nvPr/>
        </p:nvSpPr>
        <p:spPr>
          <a:xfrm>
            <a:off x="11338560" y="6355080"/>
            <a:ext cx="457200" cy="320040"/>
          </a:xfrm>
          <a:prstGeom prst="rect">
            <a:avLst/>
          </a:prstGeom>
          <a:noFill/>
          <a:ln/>
        </p:spPr>
        <p:txBody>
          <a:bodyPr wrap="square" rtlCol="0" anchor="ctr"/>
          <a:lstStyle/>
          <a:p>
            <a:pPr marL="0" indent="0" algn="ctr">
              <a:buNone/>
            </a:pPr>
            <a:r>
              <a:rPr lang="en-US" sz="1000" dirty="0">
                <a:solidFill>
                  <a:srgbClr val="5B6F6C"/>
                </a:solidFill>
                <a:latin typeface="Calibri" pitchFamily="34" charset="0"/>
                <a:ea typeface="Calibri" pitchFamily="34" charset="-122"/>
                <a:cs typeface="Calibri" pitchFamily="34" charset="-120"/>
              </a:rPr>
              <a:t>16</a:t>
            </a:r>
            <a:endParaRPr lang="en-US" sz="1000" dirty="0"/>
          </a:p>
        </p:txBody>
      </p:sp>
      <p:sp>
        <p:nvSpPr>
          <p:cNvPr id="44" name="Text 40"/>
          <p:cNvSpPr/>
          <p:nvPr/>
        </p:nvSpPr>
        <p:spPr>
          <a:xfrm>
            <a:off x="457200" y="6355080"/>
            <a:ext cx="3657600" cy="320040"/>
          </a:xfrm>
          <a:prstGeom prst="rect">
            <a:avLst/>
          </a:prstGeom>
          <a:noFill/>
          <a:ln/>
        </p:spPr>
        <p:txBody>
          <a:bodyPr wrap="square" rtlCol="0" anchor="ctr"/>
          <a:lstStyle/>
          <a:p>
            <a:pPr marL="0" indent="0" algn="l">
              <a:buNone/>
            </a:pPr>
            <a:r>
              <a:rPr lang="en-US" sz="900" dirty="0">
                <a:solidFill>
                  <a:srgbClr val="9AAFAC"/>
                </a:solidFill>
                <a:latin typeface="Calibri" pitchFamily="34" charset="0"/>
                <a:ea typeface="Calibri" pitchFamily="34" charset="-122"/>
                <a:cs typeface="Calibri" pitchFamily="34" charset="-120"/>
              </a:rPr>
              <a:t>مدرسة الصحة العمومية بسيليبابي</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22960" y="457200"/>
            <a:ext cx="9144000" cy="594360"/>
          </a:xfrm>
          <a:prstGeom prst="rect">
            <a:avLst/>
          </a:prstGeom>
          <a:noFill/>
          <a:ln/>
        </p:spPr>
        <p:txBody>
          <a:bodyPr wrap="square" lIns="0" tIns="0" rIns="0" bIns="0" rtlCol="0" anchor="ctr"/>
          <a:lstStyle/>
          <a:p>
            <a:pPr marL="0" indent="0" algn="r">
              <a:buNone/>
            </a:pPr>
            <a:r>
              <a:rPr lang="en-US" sz="2500" b="1" dirty="0">
                <a:solidFill>
                  <a:srgbClr val="0B3D3A"/>
                </a:solidFill>
                <a:latin typeface="Cambria" pitchFamily="34" charset="0"/>
                <a:ea typeface="Cambria" pitchFamily="34" charset="-122"/>
                <a:cs typeface="Cambria" pitchFamily="34" charset="-120"/>
              </a:rPr>
              <a:t>مكافحة سوء التغذية والتثقيف الصحي</a:t>
            </a:r>
            <a:endParaRPr lang="en-US" sz="2500" dirty="0"/>
          </a:p>
        </p:txBody>
      </p:sp>
      <p:pic>
        <p:nvPicPr>
          <p:cNvPr id="3" name="Image 0" descr="icons/child_teal.png"/>
          <p:cNvPicPr>
            <a:picLocks noChangeAspect="1"/>
          </p:cNvPicPr>
          <p:nvPr/>
        </p:nvPicPr>
        <p:blipFill>
          <a:blip r:embed="rId3"/>
          <a:stretch>
            <a:fillRect/>
          </a:stretch>
        </p:blipFill>
        <p:spPr>
          <a:xfrm>
            <a:off x="10698480" y="457200"/>
            <a:ext cx="502920" cy="502920"/>
          </a:xfrm>
          <a:prstGeom prst="rect">
            <a:avLst/>
          </a:prstGeom>
        </p:spPr>
      </p:pic>
      <p:sp>
        <p:nvSpPr>
          <p:cNvPr id="4" name="Shape 1"/>
          <p:cNvSpPr/>
          <p:nvPr/>
        </p:nvSpPr>
        <p:spPr>
          <a:xfrm>
            <a:off x="822960" y="1371600"/>
            <a:ext cx="5074920" cy="4663440"/>
          </a:xfrm>
          <a:prstGeom prst="roundRect">
            <a:avLst>
              <a:gd name="adj" fmla="val 2353"/>
            </a:avLst>
          </a:prstGeom>
          <a:solidFill>
            <a:srgbClr val="0B3D3A"/>
          </a:solidFill>
          <a:ln/>
        </p:spPr>
      </p:sp>
      <p:sp>
        <p:nvSpPr>
          <p:cNvPr id="5" name="Text 2"/>
          <p:cNvSpPr/>
          <p:nvPr/>
        </p:nvSpPr>
        <p:spPr>
          <a:xfrm>
            <a:off x="1097280" y="1554480"/>
            <a:ext cx="4572000" cy="365760"/>
          </a:xfrm>
          <a:prstGeom prst="rect">
            <a:avLst/>
          </a:prstGeom>
          <a:noFill/>
          <a:ln/>
        </p:spPr>
        <p:txBody>
          <a:bodyPr wrap="square" lIns="0" tIns="0" rIns="0" bIns="0" rtlCol="0" anchor="ctr"/>
          <a:lstStyle/>
          <a:p>
            <a:pPr marL="0" indent="0" algn="r">
              <a:buNone/>
            </a:pPr>
            <a:r>
              <a:rPr lang="en-US" sz="1600" b="1" dirty="0">
                <a:solidFill>
                  <a:srgbClr val="FFFFFF"/>
                </a:solidFill>
                <a:latin typeface="Cambria" pitchFamily="34" charset="0"/>
                <a:ea typeface="Cambria" pitchFamily="34" charset="-122"/>
                <a:cs typeface="Cambria" pitchFamily="34" charset="-120"/>
              </a:rPr>
              <a:t>حملة مكافحة سوء التغذية</a:t>
            </a:r>
            <a:endParaRPr lang="en-US" sz="1600" dirty="0"/>
          </a:p>
        </p:txBody>
      </p:sp>
      <p:sp>
        <p:nvSpPr>
          <p:cNvPr id="6" name="Text 3"/>
          <p:cNvSpPr/>
          <p:nvPr/>
        </p:nvSpPr>
        <p:spPr>
          <a:xfrm>
            <a:off x="1097280" y="1920240"/>
            <a:ext cx="4572000" cy="320040"/>
          </a:xfrm>
          <a:prstGeom prst="rect">
            <a:avLst/>
          </a:prstGeom>
          <a:noFill/>
          <a:ln/>
        </p:spPr>
        <p:txBody>
          <a:bodyPr wrap="square" lIns="0" tIns="0" rIns="0" bIns="0" rtlCol="0" anchor="ctr"/>
          <a:lstStyle/>
          <a:p>
            <a:pPr marL="0" indent="0" algn="r">
              <a:buNone/>
            </a:pPr>
            <a:r>
              <a:rPr lang="en-US" sz="1200" dirty="0">
                <a:solidFill>
                  <a:srgbClr val="9FC6BC"/>
                </a:solidFill>
                <a:latin typeface="Calibri" pitchFamily="34" charset="0"/>
                <a:ea typeface="Calibri" pitchFamily="34" charset="-122"/>
                <a:cs typeface="Calibri" pitchFamily="34" charset="-120"/>
              </a:rPr>
              <a:t>11/05/2026 — وزن وقياس طول الأطفال</a:t>
            </a:r>
            <a:endParaRPr lang="en-US" sz="1200" dirty="0"/>
          </a:p>
        </p:txBody>
      </p:sp>
      <p:sp>
        <p:nvSpPr>
          <p:cNvPr id="7" name="Shape 4"/>
          <p:cNvSpPr/>
          <p:nvPr/>
        </p:nvSpPr>
        <p:spPr>
          <a:xfrm>
            <a:off x="2606040" y="2377440"/>
            <a:ext cx="1280160" cy="1280160"/>
          </a:xfrm>
          <a:prstGeom prst="ellipse">
            <a:avLst/>
          </a:prstGeom>
          <a:solidFill>
            <a:srgbClr val="1A5650"/>
          </a:solidFill>
          <a:ln/>
        </p:spPr>
      </p:sp>
      <p:sp>
        <p:nvSpPr>
          <p:cNvPr id="8" name="Text 5"/>
          <p:cNvSpPr/>
          <p:nvPr/>
        </p:nvSpPr>
        <p:spPr>
          <a:xfrm>
            <a:off x="2606040" y="2514600"/>
            <a:ext cx="1280160" cy="64008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6</a:t>
            </a:r>
            <a:endParaRPr lang="en-US" sz="3800" dirty="0"/>
          </a:p>
        </p:txBody>
      </p:sp>
      <p:sp>
        <p:nvSpPr>
          <p:cNvPr id="9" name="Text 6"/>
          <p:cNvSpPr/>
          <p:nvPr/>
        </p:nvSpPr>
        <p:spPr>
          <a:xfrm>
            <a:off x="2606040" y="3154680"/>
            <a:ext cx="1280160" cy="320040"/>
          </a:xfrm>
          <a:prstGeom prst="rect">
            <a:avLst/>
          </a:prstGeom>
          <a:noFill/>
          <a:ln/>
        </p:spPr>
        <p:txBody>
          <a:bodyPr wrap="square" lIns="0" tIns="0" rIns="0" bIns="0" rtlCol="0" anchor="ctr"/>
          <a:lstStyle/>
          <a:p>
            <a:pPr marL="0" indent="0" algn="ctr">
              <a:buNone/>
            </a:pPr>
            <a:r>
              <a:rPr lang="en-US" sz="1100" dirty="0">
                <a:solidFill>
                  <a:srgbClr val="9FC6BC"/>
                </a:solidFill>
                <a:latin typeface="Calibri" pitchFamily="34" charset="0"/>
                <a:ea typeface="Calibri" pitchFamily="34" charset="-122"/>
                <a:cs typeface="Calibri" pitchFamily="34" charset="-120"/>
              </a:rPr>
              <a:t>أطفال</a:t>
            </a:r>
            <a:endParaRPr lang="en-US" sz="1100" dirty="0"/>
          </a:p>
        </p:txBody>
      </p:sp>
      <p:sp>
        <p:nvSpPr>
          <p:cNvPr id="10" name="Text 7"/>
          <p:cNvSpPr/>
          <p:nvPr/>
        </p:nvSpPr>
        <p:spPr>
          <a:xfrm>
            <a:off x="1097280" y="3886200"/>
            <a:ext cx="4572000" cy="274320"/>
          </a:xfrm>
          <a:prstGeom prst="rect">
            <a:avLst/>
          </a:prstGeom>
          <a:noFill/>
          <a:ln/>
        </p:spPr>
        <p:txBody>
          <a:bodyPr wrap="square" lIns="0" tIns="0" rIns="0" bIns="0" rtlCol="0" anchor="ctr"/>
          <a:lstStyle/>
          <a:p>
            <a:pPr marL="0" indent="0" algn="r">
              <a:buNone/>
            </a:pPr>
            <a:r>
              <a:rPr lang="en-US" sz="1100" dirty="0">
                <a:solidFill>
                  <a:srgbClr val="9FC6BC"/>
                </a:solidFill>
                <a:latin typeface="Calibri" pitchFamily="34" charset="0"/>
                <a:ea typeface="Calibri" pitchFamily="34" charset="-122"/>
                <a:cs typeface="Calibri" pitchFamily="34" charset="-120"/>
              </a:rPr>
              <a:t>الأوزان المسجّلة (كغ)</a:t>
            </a:r>
            <a:endParaRPr lang="en-US" sz="1100" dirty="0"/>
          </a:p>
        </p:txBody>
      </p:sp>
      <p:sp>
        <p:nvSpPr>
          <p:cNvPr id="11" name="Text 8"/>
          <p:cNvSpPr/>
          <p:nvPr/>
        </p:nvSpPr>
        <p:spPr>
          <a:xfrm>
            <a:off x="1097280" y="4160520"/>
            <a:ext cx="4572000" cy="320040"/>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8 — 9 — 10 — 12 — 13 — 15</a:t>
            </a:r>
            <a:endParaRPr lang="en-US" sz="1300" dirty="0"/>
          </a:p>
        </p:txBody>
      </p:sp>
      <p:sp>
        <p:nvSpPr>
          <p:cNvPr id="12" name="Shape 9"/>
          <p:cNvSpPr/>
          <p:nvPr/>
        </p:nvSpPr>
        <p:spPr>
          <a:xfrm>
            <a:off x="1097280" y="4709160"/>
            <a:ext cx="4526280" cy="1097280"/>
          </a:xfrm>
          <a:prstGeom prst="roundRect">
            <a:avLst>
              <a:gd name="adj" fmla="val 6667"/>
            </a:avLst>
          </a:prstGeom>
          <a:solidFill>
            <a:srgbClr val="5E9C8E"/>
          </a:solidFill>
          <a:ln/>
        </p:spPr>
      </p:sp>
      <p:pic>
        <p:nvPicPr>
          <p:cNvPr id="13" name="Image 1" descr="icons/check_white.png"/>
          <p:cNvPicPr>
            <a:picLocks noChangeAspect="1"/>
          </p:cNvPicPr>
          <p:nvPr/>
        </p:nvPicPr>
        <p:blipFill>
          <a:blip r:embed="rId4"/>
          <a:stretch>
            <a:fillRect/>
          </a:stretch>
        </p:blipFill>
        <p:spPr>
          <a:xfrm>
            <a:off x="1280160" y="4937760"/>
            <a:ext cx="384048" cy="384048"/>
          </a:xfrm>
          <a:prstGeom prst="rect">
            <a:avLst/>
          </a:prstGeom>
        </p:spPr>
      </p:pic>
      <p:sp>
        <p:nvSpPr>
          <p:cNvPr id="14" name="Text 10"/>
          <p:cNvSpPr/>
          <p:nvPr/>
        </p:nvSpPr>
        <p:spPr>
          <a:xfrm>
            <a:off x="1783080" y="4864608"/>
            <a:ext cx="3703320" cy="822960"/>
          </a:xfrm>
          <a:prstGeom prst="rect">
            <a:avLst/>
          </a:prstGeom>
          <a:noFill/>
          <a:ln/>
        </p:spPr>
        <p:txBody>
          <a:bodyPr wrap="square" lIns="0" tIns="0" rIns="0" bIns="0" rtlCol="0" anchor="ctr"/>
          <a:lstStyle/>
          <a:p>
            <a:pPr marL="0" indent="0" algn="r">
              <a:buNone/>
            </a:pPr>
            <a:r>
              <a:rPr lang="en-US" sz="1250" b="1" dirty="0">
                <a:solidFill>
                  <a:srgbClr val="FFFFFF"/>
                </a:solidFill>
                <a:latin typeface="Calibri" pitchFamily="34" charset="0"/>
                <a:ea typeface="Calibri" pitchFamily="34" charset="-122"/>
                <a:cs typeface="Calibri" pitchFamily="34" charset="-120"/>
              </a:rPr>
              <a:t>لم تُسجَّل أي حالة سوء تغذية بين الأطفال الستة الذين تم فحصهم</a:t>
            </a:r>
            <a:endParaRPr lang="en-US" sz="1250" dirty="0"/>
          </a:p>
        </p:txBody>
      </p:sp>
      <p:sp>
        <p:nvSpPr>
          <p:cNvPr id="15" name="Text 11"/>
          <p:cNvSpPr/>
          <p:nvPr/>
        </p:nvSpPr>
        <p:spPr>
          <a:xfrm>
            <a:off x="6126480" y="1371600"/>
            <a:ext cx="5212080" cy="365760"/>
          </a:xfrm>
          <a:prstGeom prst="rect">
            <a:avLst/>
          </a:prstGeom>
          <a:noFill/>
          <a:ln/>
        </p:spPr>
        <p:txBody>
          <a:bodyPr wrap="square" lIns="0" tIns="0" rIns="0" bIns="0" rtlCol="0" anchor="ctr"/>
          <a:lstStyle/>
          <a:p>
            <a:pPr marL="0" indent="0" algn="r">
              <a:buNone/>
            </a:pPr>
            <a:r>
              <a:rPr lang="en-US" sz="1500" b="1" dirty="0">
                <a:solidFill>
                  <a:srgbClr val="0B3D3A"/>
                </a:solidFill>
                <a:latin typeface="Cambria" pitchFamily="34" charset="0"/>
                <a:ea typeface="Cambria" pitchFamily="34" charset="-122"/>
                <a:cs typeface="Cambria" pitchFamily="34" charset="-120"/>
              </a:rPr>
              <a:t>حصص التثقيف الصحي المنفّذة</a:t>
            </a:r>
            <a:endParaRPr lang="en-US" sz="1500" dirty="0"/>
          </a:p>
        </p:txBody>
      </p:sp>
      <p:sp>
        <p:nvSpPr>
          <p:cNvPr id="16" name="Shape 12"/>
          <p:cNvSpPr/>
          <p:nvPr/>
        </p:nvSpPr>
        <p:spPr>
          <a:xfrm>
            <a:off x="6126480" y="1783080"/>
            <a:ext cx="5212080" cy="566928"/>
          </a:xfrm>
          <a:prstGeom prst="roundRect">
            <a:avLst>
              <a:gd name="adj" fmla="val 12903"/>
            </a:avLst>
          </a:prstGeom>
          <a:solidFill>
            <a:srgbClr val="FFFFFF"/>
          </a:solidFill>
          <a:ln/>
          <a:effectLst>
            <a:outerShdw blurRad="63500" dist="12700" dir="5400000" algn="bl" rotWithShape="0">
              <a:srgbClr val="0B3D3A">
                <a:alpha val="6000"/>
              </a:srgbClr>
            </a:outerShdw>
          </a:effectLst>
        </p:spPr>
      </p:sp>
      <p:sp>
        <p:nvSpPr>
          <p:cNvPr id="17" name="Shape 13"/>
          <p:cNvSpPr/>
          <p:nvPr/>
        </p:nvSpPr>
        <p:spPr>
          <a:xfrm>
            <a:off x="10561320" y="1901952"/>
            <a:ext cx="329184" cy="329184"/>
          </a:xfrm>
          <a:prstGeom prst="ellipse">
            <a:avLst/>
          </a:prstGeom>
          <a:solidFill>
            <a:srgbClr val="D9F0EA"/>
          </a:solidFill>
          <a:ln/>
        </p:spPr>
      </p:sp>
      <p:sp>
        <p:nvSpPr>
          <p:cNvPr id="18" name="Text 14"/>
          <p:cNvSpPr/>
          <p:nvPr/>
        </p:nvSpPr>
        <p:spPr>
          <a:xfrm>
            <a:off x="10561320" y="1901952"/>
            <a:ext cx="329184" cy="329184"/>
          </a:xfrm>
          <a:prstGeom prst="rect">
            <a:avLst/>
          </a:prstGeom>
          <a:noFill/>
          <a:ln/>
        </p:spPr>
        <p:txBody>
          <a:bodyPr wrap="square" lIns="0" tIns="0" rIns="0" bIns="0" rtlCol="0" anchor="ctr"/>
          <a:lstStyle/>
          <a:p>
            <a:pPr marL="0" indent="0" algn="ctr">
              <a:buNone/>
            </a:pPr>
            <a:r>
              <a:rPr lang="en-US" sz="1300" b="1" dirty="0">
                <a:solidFill>
                  <a:srgbClr val="0B3D3A"/>
                </a:solidFill>
                <a:latin typeface="Cambria" pitchFamily="34" charset="0"/>
                <a:ea typeface="Cambria" pitchFamily="34" charset="-122"/>
                <a:cs typeface="Cambria" pitchFamily="34" charset="-120"/>
              </a:rPr>
              <a:t>1</a:t>
            </a:r>
            <a:endParaRPr lang="en-US" sz="1300" dirty="0"/>
          </a:p>
        </p:txBody>
      </p:sp>
      <p:sp>
        <p:nvSpPr>
          <p:cNvPr id="19" name="Text 15"/>
          <p:cNvSpPr/>
          <p:nvPr/>
        </p:nvSpPr>
        <p:spPr>
          <a:xfrm>
            <a:off x="6309360" y="1828800"/>
            <a:ext cx="4114800" cy="320040"/>
          </a:xfrm>
          <a:prstGeom prst="rect">
            <a:avLst/>
          </a:prstGeom>
          <a:noFill/>
          <a:ln/>
        </p:spPr>
        <p:txBody>
          <a:bodyPr wrap="square" lIns="0" tIns="0" rIns="0" bIns="0" rtlCol="0" anchor="ctr"/>
          <a:lstStyle/>
          <a:p>
            <a:pPr marL="0" indent="0" algn="r">
              <a:buNone/>
            </a:pPr>
            <a:r>
              <a:rPr lang="en-US" sz="1250" b="1" dirty="0">
                <a:solidFill>
                  <a:srgbClr val="1B2B28"/>
                </a:solidFill>
                <a:latin typeface="Calibri" pitchFamily="34" charset="0"/>
                <a:ea typeface="Calibri" pitchFamily="34" charset="-122"/>
                <a:cs typeface="Calibri" pitchFamily="34" charset="-120"/>
              </a:rPr>
              <a:t>أهمية متابعة الحمل</a:t>
            </a:r>
            <a:endParaRPr lang="en-US" sz="1250" dirty="0"/>
          </a:p>
        </p:txBody>
      </p:sp>
      <p:sp>
        <p:nvSpPr>
          <p:cNvPr id="20" name="Text 16"/>
          <p:cNvSpPr/>
          <p:nvPr/>
        </p:nvSpPr>
        <p:spPr>
          <a:xfrm>
            <a:off x="6309360" y="2093976"/>
            <a:ext cx="4114800" cy="228600"/>
          </a:xfrm>
          <a:prstGeom prst="rect">
            <a:avLst/>
          </a:prstGeom>
          <a:noFill/>
          <a:ln/>
        </p:spPr>
        <p:txBody>
          <a:bodyPr wrap="square" lIns="0" tIns="0" rIns="0" bIns="0" rtlCol="0" anchor="ctr"/>
          <a:lstStyle/>
          <a:p>
            <a:pPr marL="0" indent="0" algn="r">
              <a:buNone/>
            </a:pPr>
            <a:r>
              <a:rPr lang="en-US" sz="1050" dirty="0">
                <a:solidFill>
                  <a:srgbClr val="117A65"/>
                </a:solidFill>
                <a:latin typeface="Calibri" pitchFamily="34" charset="0"/>
                <a:ea typeface="Calibri" pitchFamily="34" charset="-122"/>
                <a:cs typeface="Calibri" pitchFamily="34" charset="-120"/>
              </a:rPr>
              <a:t>15 دقيقة</a:t>
            </a:r>
            <a:endParaRPr lang="en-US" sz="1050" dirty="0"/>
          </a:p>
        </p:txBody>
      </p:sp>
      <p:sp>
        <p:nvSpPr>
          <p:cNvPr id="21" name="Shape 17"/>
          <p:cNvSpPr/>
          <p:nvPr/>
        </p:nvSpPr>
        <p:spPr>
          <a:xfrm>
            <a:off x="6126480" y="2450592"/>
            <a:ext cx="5212080" cy="566928"/>
          </a:xfrm>
          <a:prstGeom prst="roundRect">
            <a:avLst>
              <a:gd name="adj" fmla="val 12903"/>
            </a:avLst>
          </a:prstGeom>
          <a:solidFill>
            <a:srgbClr val="FFFFFF"/>
          </a:solidFill>
          <a:ln/>
          <a:effectLst>
            <a:outerShdw blurRad="63500" dist="12700" dir="5400000" algn="bl" rotWithShape="0">
              <a:srgbClr val="0B3D3A">
                <a:alpha val="6000"/>
              </a:srgbClr>
            </a:outerShdw>
          </a:effectLst>
        </p:spPr>
      </p:sp>
      <p:sp>
        <p:nvSpPr>
          <p:cNvPr id="22" name="Shape 18"/>
          <p:cNvSpPr/>
          <p:nvPr/>
        </p:nvSpPr>
        <p:spPr>
          <a:xfrm>
            <a:off x="10561320" y="2569464"/>
            <a:ext cx="329184" cy="329184"/>
          </a:xfrm>
          <a:prstGeom prst="ellipse">
            <a:avLst/>
          </a:prstGeom>
          <a:solidFill>
            <a:srgbClr val="D9F0EA"/>
          </a:solidFill>
          <a:ln/>
        </p:spPr>
      </p:sp>
      <p:sp>
        <p:nvSpPr>
          <p:cNvPr id="23" name="Text 19"/>
          <p:cNvSpPr/>
          <p:nvPr/>
        </p:nvSpPr>
        <p:spPr>
          <a:xfrm>
            <a:off x="10561320" y="2569464"/>
            <a:ext cx="329184" cy="329184"/>
          </a:xfrm>
          <a:prstGeom prst="rect">
            <a:avLst/>
          </a:prstGeom>
          <a:noFill/>
          <a:ln/>
        </p:spPr>
        <p:txBody>
          <a:bodyPr wrap="square" lIns="0" tIns="0" rIns="0" bIns="0" rtlCol="0" anchor="ctr"/>
          <a:lstStyle/>
          <a:p>
            <a:pPr marL="0" indent="0" algn="ctr">
              <a:buNone/>
            </a:pPr>
            <a:r>
              <a:rPr lang="en-US" sz="1300" b="1" dirty="0">
                <a:solidFill>
                  <a:srgbClr val="0B3D3A"/>
                </a:solidFill>
                <a:latin typeface="Cambria" pitchFamily="34" charset="0"/>
                <a:ea typeface="Cambria" pitchFamily="34" charset="-122"/>
                <a:cs typeface="Cambria" pitchFamily="34" charset="-120"/>
              </a:rPr>
              <a:t>2</a:t>
            </a:r>
            <a:endParaRPr lang="en-US" sz="1300" dirty="0"/>
          </a:p>
        </p:txBody>
      </p:sp>
      <p:sp>
        <p:nvSpPr>
          <p:cNvPr id="24" name="Text 20"/>
          <p:cNvSpPr/>
          <p:nvPr/>
        </p:nvSpPr>
        <p:spPr>
          <a:xfrm>
            <a:off x="6309360" y="2496312"/>
            <a:ext cx="4114800" cy="320040"/>
          </a:xfrm>
          <a:prstGeom prst="rect">
            <a:avLst/>
          </a:prstGeom>
          <a:noFill/>
          <a:ln/>
        </p:spPr>
        <p:txBody>
          <a:bodyPr wrap="square" lIns="0" tIns="0" rIns="0" bIns="0" rtlCol="0" anchor="ctr"/>
          <a:lstStyle/>
          <a:p>
            <a:pPr marL="0" indent="0" algn="r">
              <a:buNone/>
            </a:pPr>
            <a:r>
              <a:rPr lang="en-US" sz="1250" b="1" dirty="0">
                <a:solidFill>
                  <a:srgbClr val="1B2B28"/>
                </a:solidFill>
                <a:latin typeface="Calibri" pitchFamily="34" charset="0"/>
                <a:ea typeface="Calibri" pitchFamily="34" charset="-122"/>
                <a:cs typeface="Calibri" pitchFamily="34" charset="-120"/>
              </a:rPr>
              <a:t>فوائد الرضاعة الطبيعية</a:t>
            </a:r>
            <a:endParaRPr lang="en-US" sz="1250" dirty="0"/>
          </a:p>
        </p:txBody>
      </p:sp>
      <p:sp>
        <p:nvSpPr>
          <p:cNvPr id="25" name="Text 21"/>
          <p:cNvSpPr/>
          <p:nvPr/>
        </p:nvSpPr>
        <p:spPr>
          <a:xfrm>
            <a:off x="6309360" y="2761488"/>
            <a:ext cx="4114800" cy="228600"/>
          </a:xfrm>
          <a:prstGeom prst="rect">
            <a:avLst/>
          </a:prstGeom>
          <a:noFill/>
          <a:ln/>
        </p:spPr>
        <p:txBody>
          <a:bodyPr wrap="square" lIns="0" tIns="0" rIns="0" bIns="0" rtlCol="0" anchor="ctr"/>
          <a:lstStyle/>
          <a:p>
            <a:pPr marL="0" indent="0" algn="r">
              <a:buNone/>
            </a:pPr>
            <a:r>
              <a:rPr lang="en-US" sz="1050" dirty="0">
                <a:solidFill>
                  <a:srgbClr val="117A65"/>
                </a:solidFill>
                <a:latin typeface="Calibri" pitchFamily="34" charset="0"/>
                <a:ea typeface="Calibri" pitchFamily="34" charset="-122"/>
                <a:cs typeface="Calibri" pitchFamily="34" charset="-120"/>
              </a:rPr>
              <a:t>10 دقائق</a:t>
            </a:r>
            <a:endParaRPr lang="en-US" sz="1050" dirty="0"/>
          </a:p>
        </p:txBody>
      </p:sp>
      <p:sp>
        <p:nvSpPr>
          <p:cNvPr id="26" name="Shape 22"/>
          <p:cNvSpPr/>
          <p:nvPr/>
        </p:nvSpPr>
        <p:spPr>
          <a:xfrm>
            <a:off x="6126480" y="3118104"/>
            <a:ext cx="5212080" cy="566928"/>
          </a:xfrm>
          <a:prstGeom prst="roundRect">
            <a:avLst>
              <a:gd name="adj" fmla="val 12903"/>
            </a:avLst>
          </a:prstGeom>
          <a:solidFill>
            <a:srgbClr val="FFFFFF"/>
          </a:solidFill>
          <a:ln/>
          <a:effectLst>
            <a:outerShdw blurRad="63500" dist="12700" dir="5400000" algn="bl" rotWithShape="0">
              <a:srgbClr val="0B3D3A">
                <a:alpha val="6000"/>
              </a:srgbClr>
            </a:outerShdw>
          </a:effectLst>
        </p:spPr>
      </p:sp>
      <p:sp>
        <p:nvSpPr>
          <p:cNvPr id="27" name="Shape 23"/>
          <p:cNvSpPr/>
          <p:nvPr/>
        </p:nvSpPr>
        <p:spPr>
          <a:xfrm>
            <a:off x="10561320" y="3236976"/>
            <a:ext cx="329184" cy="329184"/>
          </a:xfrm>
          <a:prstGeom prst="ellipse">
            <a:avLst/>
          </a:prstGeom>
          <a:solidFill>
            <a:srgbClr val="D9F0EA"/>
          </a:solidFill>
          <a:ln/>
        </p:spPr>
      </p:sp>
      <p:sp>
        <p:nvSpPr>
          <p:cNvPr id="28" name="Text 24"/>
          <p:cNvSpPr/>
          <p:nvPr/>
        </p:nvSpPr>
        <p:spPr>
          <a:xfrm>
            <a:off x="10561320" y="3236976"/>
            <a:ext cx="329184" cy="329184"/>
          </a:xfrm>
          <a:prstGeom prst="rect">
            <a:avLst/>
          </a:prstGeom>
          <a:noFill/>
          <a:ln/>
        </p:spPr>
        <p:txBody>
          <a:bodyPr wrap="square" lIns="0" tIns="0" rIns="0" bIns="0" rtlCol="0" anchor="ctr"/>
          <a:lstStyle/>
          <a:p>
            <a:pPr marL="0" indent="0" algn="ctr">
              <a:buNone/>
            </a:pPr>
            <a:r>
              <a:rPr lang="en-US" sz="1300" b="1" dirty="0">
                <a:solidFill>
                  <a:srgbClr val="0B3D3A"/>
                </a:solidFill>
                <a:latin typeface="Cambria" pitchFamily="34" charset="0"/>
                <a:ea typeface="Cambria" pitchFamily="34" charset="-122"/>
                <a:cs typeface="Cambria" pitchFamily="34" charset="-120"/>
              </a:rPr>
              <a:t>3</a:t>
            </a:r>
            <a:endParaRPr lang="en-US" sz="1300" dirty="0"/>
          </a:p>
        </p:txBody>
      </p:sp>
      <p:sp>
        <p:nvSpPr>
          <p:cNvPr id="29" name="Text 25"/>
          <p:cNvSpPr/>
          <p:nvPr/>
        </p:nvSpPr>
        <p:spPr>
          <a:xfrm>
            <a:off x="6309360" y="3163824"/>
            <a:ext cx="4114800" cy="320040"/>
          </a:xfrm>
          <a:prstGeom prst="rect">
            <a:avLst/>
          </a:prstGeom>
          <a:noFill/>
          <a:ln/>
        </p:spPr>
        <p:txBody>
          <a:bodyPr wrap="square" lIns="0" tIns="0" rIns="0" bIns="0" rtlCol="0" anchor="ctr"/>
          <a:lstStyle/>
          <a:p>
            <a:pPr marL="0" indent="0" algn="r">
              <a:buNone/>
            </a:pPr>
            <a:r>
              <a:rPr lang="en-US" sz="1250" b="1" dirty="0">
                <a:solidFill>
                  <a:srgbClr val="1B2B28"/>
                </a:solidFill>
                <a:latin typeface="Calibri" pitchFamily="34" charset="0"/>
                <a:ea typeface="Calibri" pitchFamily="34" charset="-122"/>
                <a:cs typeface="Calibri" pitchFamily="34" charset="-120"/>
              </a:rPr>
              <a:t>عدم التخلف عن مواعيد التلقيح</a:t>
            </a:r>
            <a:endParaRPr lang="en-US" sz="1250" dirty="0"/>
          </a:p>
        </p:txBody>
      </p:sp>
      <p:sp>
        <p:nvSpPr>
          <p:cNvPr id="30" name="Text 26"/>
          <p:cNvSpPr/>
          <p:nvPr/>
        </p:nvSpPr>
        <p:spPr>
          <a:xfrm>
            <a:off x="6309360" y="3429000"/>
            <a:ext cx="4114800" cy="228600"/>
          </a:xfrm>
          <a:prstGeom prst="rect">
            <a:avLst/>
          </a:prstGeom>
          <a:noFill/>
          <a:ln/>
        </p:spPr>
        <p:txBody>
          <a:bodyPr wrap="square" lIns="0" tIns="0" rIns="0" bIns="0" rtlCol="0" anchor="ctr"/>
          <a:lstStyle/>
          <a:p>
            <a:pPr marL="0" indent="0" algn="r">
              <a:buNone/>
            </a:pPr>
            <a:r>
              <a:rPr lang="en-US" sz="1050" dirty="0">
                <a:solidFill>
                  <a:srgbClr val="117A65"/>
                </a:solidFill>
                <a:latin typeface="Calibri" pitchFamily="34" charset="0"/>
                <a:ea typeface="Calibri" pitchFamily="34" charset="-122"/>
                <a:cs typeface="Calibri" pitchFamily="34" charset="-120"/>
              </a:rPr>
              <a:t>10 دقائق</a:t>
            </a:r>
            <a:endParaRPr lang="en-US" sz="1050" dirty="0"/>
          </a:p>
        </p:txBody>
      </p:sp>
      <p:sp>
        <p:nvSpPr>
          <p:cNvPr id="31" name="Shape 27"/>
          <p:cNvSpPr/>
          <p:nvPr/>
        </p:nvSpPr>
        <p:spPr>
          <a:xfrm>
            <a:off x="6126480" y="3785616"/>
            <a:ext cx="5212080" cy="566928"/>
          </a:xfrm>
          <a:prstGeom prst="roundRect">
            <a:avLst>
              <a:gd name="adj" fmla="val 12903"/>
            </a:avLst>
          </a:prstGeom>
          <a:solidFill>
            <a:srgbClr val="FFFFFF"/>
          </a:solidFill>
          <a:ln/>
          <a:effectLst>
            <a:outerShdw blurRad="63500" dist="12700" dir="5400000" algn="bl" rotWithShape="0">
              <a:srgbClr val="0B3D3A">
                <a:alpha val="6000"/>
              </a:srgbClr>
            </a:outerShdw>
          </a:effectLst>
        </p:spPr>
      </p:sp>
      <p:sp>
        <p:nvSpPr>
          <p:cNvPr id="32" name="Shape 28"/>
          <p:cNvSpPr/>
          <p:nvPr/>
        </p:nvSpPr>
        <p:spPr>
          <a:xfrm>
            <a:off x="10561320" y="3904488"/>
            <a:ext cx="329184" cy="329184"/>
          </a:xfrm>
          <a:prstGeom prst="ellipse">
            <a:avLst/>
          </a:prstGeom>
          <a:solidFill>
            <a:srgbClr val="D9F0EA"/>
          </a:solidFill>
          <a:ln/>
        </p:spPr>
      </p:sp>
      <p:sp>
        <p:nvSpPr>
          <p:cNvPr id="33" name="Text 29"/>
          <p:cNvSpPr/>
          <p:nvPr/>
        </p:nvSpPr>
        <p:spPr>
          <a:xfrm>
            <a:off x="10561320" y="3904488"/>
            <a:ext cx="329184" cy="329184"/>
          </a:xfrm>
          <a:prstGeom prst="rect">
            <a:avLst/>
          </a:prstGeom>
          <a:noFill/>
          <a:ln/>
        </p:spPr>
        <p:txBody>
          <a:bodyPr wrap="square" lIns="0" tIns="0" rIns="0" bIns="0" rtlCol="0" anchor="ctr"/>
          <a:lstStyle/>
          <a:p>
            <a:pPr marL="0" indent="0" algn="ctr">
              <a:buNone/>
            </a:pPr>
            <a:r>
              <a:rPr lang="en-US" sz="1300" b="1" dirty="0">
                <a:solidFill>
                  <a:srgbClr val="0B3D3A"/>
                </a:solidFill>
                <a:latin typeface="Cambria" pitchFamily="34" charset="0"/>
                <a:ea typeface="Cambria" pitchFamily="34" charset="-122"/>
                <a:cs typeface="Cambria" pitchFamily="34" charset="-120"/>
              </a:rPr>
              <a:t>4</a:t>
            </a:r>
            <a:endParaRPr lang="en-US" sz="1300" dirty="0"/>
          </a:p>
        </p:txBody>
      </p:sp>
      <p:sp>
        <p:nvSpPr>
          <p:cNvPr id="34" name="Text 30"/>
          <p:cNvSpPr/>
          <p:nvPr/>
        </p:nvSpPr>
        <p:spPr>
          <a:xfrm>
            <a:off x="6309360" y="3831336"/>
            <a:ext cx="4114800" cy="320040"/>
          </a:xfrm>
          <a:prstGeom prst="rect">
            <a:avLst/>
          </a:prstGeom>
          <a:noFill/>
          <a:ln/>
        </p:spPr>
        <p:txBody>
          <a:bodyPr wrap="square" lIns="0" tIns="0" rIns="0" bIns="0" rtlCol="0" anchor="ctr"/>
          <a:lstStyle/>
          <a:p>
            <a:pPr marL="0" indent="0" algn="r">
              <a:buNone/>
            </a:pPr>
            <a:r>
              <a:rPr lang="en-US" sz="1250" b="1" dirty="0">
                <a:solidFill>
                  <a:srgbClr val="1B2B28"/>
                </a:solidFill>
                <a:latin typeface="Calibri" pitchFamily="34" charset="0"/>
                <a:ea typeface="Calibri" pitchFamily="34" charset="-122"/>
                <a:cs typeface="Calibri" pitchFamily="34" charset="-120"/>
              </a:rPr>
              <a:t>فقر الدم لدى الحوامل</a:t>
            </a:r>
            <a:endParaRPr lang="en-US" sz="1250" dirty="0"/>
          </a:p>
        </p:txBody>
      </p:sp>
      <p:sp>
        <p:nvSpPr>
          <p:cNvPr id="35" name="Text 31"/>
          <p:cNvSpPr/>
          <p:nvPr/>
        </p:nvSpPr>
        <p:spPr>
          <a:xfrm>
            <a:off x="6309360" y="4096512"/>
            <a:ext cx="4114800" cy="228600"/>
          </a:xfrm>
          <a:prstGeom prst="rect">
            <a:avLst/>
          </a:prstGeom>
          <a:noFill/>
          <a:ln/>
        </p:spPr>
        <p:txBody>
          <a:bodyPr wrap="square" lIns="0" tIns="0" rIns="0" bIns="0" rtlCol="0" anchor="ctr"/>
          <a:lstStyle/>
          <a:p>
            <a:pPr marL="0" indent="0" algn="r">
              <a:buNone/>
            </a:pPr>
            <a:r>
              <a:rPr lang="en-US" sz="1050" dirty="0">
                <a:solidFill>
                  <a:srgbClr val="117A65"/>
                </a:solidFill>
                <a:latin typeface="Calibri" pitchFamily="34" charset="0"/>
                <a:ea typeface="Calibri" pitchFamily="34" charset="-122"/>
                <a:cs typeface="Calibri" pitchFamily="34" charset="-120"/>
              </a:rPr>
              <a:t>10 دقائق</a:t>
            </a:r>
            <a:endParaRPr lang="en-US" sz="1050" dirty="0"/>
          </a:p>
        </p:txBody>
      </p:sp>
      <p:sp>
        <p:nvSpPr>
          <p:cNvPr id="36" name="Shape 32"/>
          <p:cNvSpPr/>
          <p:nvPr/>
        </p:nvSpPr>
        <p:spPr>
          <a:xfrm>
            <a:off x="6126480" y="4453128"/>
            <a:ext cx="5212080" cy="566928"/>
          </a:xfrm>
          <a:prstGeom prst="roundRect">
            <a:avLst>
              <a:gd name="adj" fmla="val 12903"/>
            </a:avLst>
          </a:prstGeom>
          <a:solidFill>
            <a:srgbClr val="FFFFFF"/>
          </a:solidFill>
          <a:ln/>
          <a:effectLst>
            <a:outerShdw blurRad="63500" dist="12700" dir="5400000" algn="bl" rotWithShape="0">
              <a:srgbClr val="0B3D3A">
                <a:alpha val="6000"/>
              </a:srgbClr>
            </a:outerShdw>
          </a:effectLst>
        </p:spPr>
      </p:sp>
      <p:sp>
        <p:nvSpPr>
          <p:cNvPr id="37" name="Shape 33"/>
          <p:cNvSpPr/>
          <p:nvPr/>
        </p:nvSpPr>
        <p:spPr>
          <a:xfrm>
            <a:off x="10561320" y="4572000"/>
            <a:ext cx="329184" cy="329184"/>
          </a:xfrm>
          <a:prstGeom prst="ellipse">
            <a:avLst/>
          </a:prstGeom>
          <a:solidFill>
            <a:srgbClr val="D9F0EA"/>
          </a:solidFill>
          <a:ln/>
        </p:spPr>
      </p:sp>
      <p:sp>
        <p:nvSpPr>
          <p:cNvPr id="38" name="Text 34"/>
          <p:cNvSpPr/>
          <p:nvPr/>
        </p:nvSpPr>
        <p:spPr>
          <a:xfrm>
            <a:off x="10561320" y="4572000"/>
            <a:ext cx="329184" cy="329184"/>
          </a:xfrm>
          <a:prstGeom prst="rect">
            <a:avLst/>
          </a:prstGeom>
          <a:noFill/>
          <a:ln/>
        </p:spPr>
        <p:txBody>
          <a:bodyPr wrap="square" lIns="0" tIns="0" rIns="0" bIns="0" rtlCol="0" anchor="ctr"/>
          <a:lstStyle/>
          <a:p>
            <a:pPr marL="0" indent="0" algn="ctr">
              <a:buNone/>
            </a:pPr>
            <a:r>
              <a:rPr lang="en-US" sz="1300" b="1" dirty="0">
                <a:solidFill>
                  <a:srgbClr val="0B3D3A"/>
                </a:solidFill>
                <a:latin typeface="Cambria" pitchFamily="34" charset="0"/>
                <a:ea typeface="Cambria" pitchFamily="34" charset="-122"/>
                <a:cs typeface="Cambria" pitchFamily="34" charset="-120"/>
              </a:rPr>
              <a:t>5</a:t>
            </a:r>
            <a:endParaRPr lang="en-US" sz="1300" dirty="0"/>
          </a:p>
        </p:txBody>
      </p:sp>
      <p:sp>
        <p:nvSpPr>
          <p:cNvPr id="39" name="Text 35"/>
          <p:cNvSpPr/>
          <p:nvPr/>
        </p:nvSpPr>
        <p:spPr>
          <a:xfrm>
            <a:off x="6309360" y="4498848"/>
            <a:ext cx="4114800" cy="320040"/>
          </a:xfrm>
          <a:prstGeom prst="rect">
            <a:avLst/>
          </a:prstGeom>
          <a:noFill/>
          <a:ln/>
        </p:spPr>
        <p:txBody>
          <a:bodyPr wrap="square" lIns="0" tIns="0" rIns="0" bIns="0" rtlCol="0" anchor="ctr"/>
          <a:lstStyle/>
          <a:p>
            <a:pPr marL="0" indent="0" algn="r">
              <a:buNone/>
            </a:pPr>
            <a:r>
              <a:rPr lang="en-US" sz="1250" b="1" dirty="0">
                <a:solidFill>
                  <a:srgbClr val="1B2B28"/>
                </a:solidFill>
                <a:latin typeface="Calibri" pitchFamily="34" charset="0"/>
                <a:ea typeface="Calibri" pitchFamily="34" charset="-122"/>
                <a:cs typeface="Calibri" pitchFamily="34" charset="-120"/>
              </a:rPr>
              <a:t>فوائد الحديد والغذاء الجيد</a:t>
            </a:r>
            <a:endParaRPr lang="en-US" sz="1250" dirty="0"/>
          </a:p>
        </p:txBody>
      </p:sp>
      <p:sp>
        <p:nvSpPr>
          <p:cNvPr id="40" name="Text 36"/>
          <p:cNvSpPr/>
          <p:nvPr/>
        </p:nvSpPr>
        <p:spPr>
          <a:xfrm>
            <a:off x="6309360" y="4764024"/>
            <a:ext cx="4114800" cy="228600"/>
          </a:xfrm>
          <a:prstGeom prst="rect">
            <a:avLst/>
          </a:prstGeom>
          <a:noFill/>
          <a:ln/>
        </p:spPr>
        <p:txBody>
          <a:bodyPr wrap="square" lIns="0" tIns="0" rIns="0" bIns="0" rtlCol="0" anchor="ctr"/>
          <a:lstStyle/>
          <a:p>
            <a:pPr marL="0" indent="0" algn="r">
              <a:buNone/>
            </a:pPr>
            <a:r>
              <a:rPr lang="en-US" sz="1050" dirty="0">
                <a:solidFill>
                  <a:srgbClr val="117A65"/>
                </a:solidFill>
                <a:latin typeface="Calibri" pitchFamily="34" charset="0"/>
                <a:ea typeface="Calibri" pitchFamily="34" charset="-122"/>
                <a:cs typeface="Calibri" pitchFamily="34" charset="-120"/>
              </a:rPr>
              <a:t>15 دقيقة</a:t>
            </a:r>
            <a:endParaRPr lang="en-US" sz="1050" dirty="0"/>
          </a:p>
        </p:txBody>
      </p:sp>
      <p:sp>
        <p:nvSpPr>
          <p:cNvPr id="41" name="Shape 37"/>
          <p:cNvSpPr/>
          <p:nvPr/>
        </p:nvSpPr>
        <p:spPr>
          <a:xfrm>
            <a:off x="6126480" y="5120640"/>
            <a:ext cx="5212080" cy="566928"/>
          </a:xfrm>
          <a:prstGeom prst="roundRect">
            <a:avLst>
              <a:gd name="adj" fmla="val 12903"/>
            </a:avLst>
          </a:prstGeom>
          <a:solidFill>
            <a:srgbClr val="FFFFFF"/>
          </a:solidFill>
          <a:ln/>
          <a:effectLst>
            <a:outerShdw blurRad="63500" dist="12700" dir="5400000" algn="bl" rotWithShape="0">
              <a:srgbClr val="0B3D3A">
                <a:alpha val="6000"/>
              </a:srgbClr>
            </a:outerShdw>
          </a:effectLst>
        </p:spPr>
      </p:sp>
      <p:sp>
        <p:nvSpPr>
          <p:cNvPr id="42" name="Shape 38"/>
          <p:cNvSpPr/>
          <p:nvPr/>
        </p:nvSpPr>
        <p:spPr>
          <a:xfrm>
            <a:off x="10561320" y="5239512"/>
            <a:ext cx="329184" cy="329184"/>
          </a:xfrm>
          <a:prstGeom prst="ellipse">
            <a:avLst/>
          </a:prstGeom>
          <a:solidFill>
            <a:srgbClr val="D9F0EA"/>
          </a:solidFill>
          <a:ln/>
        </p:spPr>
      </p:sp>
      <p:sp>
        <p:nvSpPr>
          <p:cNvPr id="43" name="Text 39"/>
          <p:cNvSpPr/>
          <p:nvPr/>
        </p:nvSpPr>
        <p:spPr>
          <a:xfrm>
            <a:off x="10561320" y="5239512"/>
            <a:ext cx="329184" cy="329184"/>
          </a:xfrm>
          <a:prstGeom prst="rect">
            <a:avLst/>
          </a:prstGeom>
          <a:noFill/>
          <a:ln/>
        </p:spPr>
        <p:txBody>
          <a:bodyPr wrap="square" lIns="0" tIns="0" rIns="0" bIns="0" rtlCol="0" anchor="ctr"/>
          <a:lstStyle/>
          <a:p>
            <a:pPr marL="0" indent="0" algn="ctr">
              <a:buNone/>
            </a:pPr>
            <a:r>
              <a:rPr lang="en-US" sz="1300" b="1" dirty="0">
                <a:solidFill>
                  <a:srgbClr val="0B3D3A"/>
                </a:solidFill>
                <a:latin typeface="Cambria" pitchFamily="34" charset="0"/>
                <a:ea typeface="Cambria" pitchFamily="34" charset="-122"/>
                <a:cs typeface="Cambria" pitchFamily="34" charset="-120"/>
              </a:rPr>
              <a:t>6</a:t>
            </a:r>
            <a:endParaRPr lang="en-US" sz="1300" dirty="0"/>
          </a:p>
        </p:txBody>
      </p:sp>
      <p:sp>
        <p:nvSpPr>
          <p:cNvPr id="44" name="Text 40"/>
          <p:cNvSpPr/>
          <p:nvPr/>
        </p:nvSpPr>
        <p:spPr>
          <a:xfrm>
            <a:off x="6309360" y="5166360"/>
            <a:ext cx="4114800" cy="320040"/>
          </a:xfrm>
          <a:prstGeom prst="rect">
            <a:avLst/>
          </a:prstGeom>
          <a:noFill/>
          <a:ln/>
        </p:spPr>
        <p:txBody>
          <a:bodyPr wrap="square" lIns="0" tIns="0" rIns="0" bIns="0" rtlCol="0" anchor="ctr"/>
          <a:lstStyle/>
          <a:p>
            <a:pPr marL="0" indent="0" algn="r">
              <a:buNone/>
            </a:pPr>
            <a:r>
              <a:rPr lang="en-US" sz="1250" b="1" dirty="0">
                <a:solidFill>
                  <a:srgbClr val="1B2B28"/>
                </a:solidFill>
                <a:latin typeface="Calibri" pitchFamily="34" charset="0"/>
                <a:ea typeface="Calibri" pitchFamily="34" charset="-122"/>
                <a:cs typeface="Calibri" pitchFamily="34" charset="-120"/>
              </a:rPr>
              <a:t>أهمية النظافة</a:t>
            </a:r>
            <a:endParaRPr lang="en-US" sz="1250" dirty="0"/>
          </a:p>
        </p:txBody>
      </p:sp>
      <p:sp>
        <p:nvSpPr>
          <p:cNvPr id="45" name="Text 41"/>
          <p:cNvSpPr/>
          <p:nvPr/>
        </p:nvSpPr>
        <p:spPr>
          <a:xfrm>
            <a:off x="6309360" y="5431536"/>
            <a:ext cx="4114800" cy="228600"/>
          </a:xfrm>
          <a:prstGeom prst="rect">
            <a:avLst/>
          </a:prstGeom>
          <a:noFill/>
          <a:ln/>
        </p:spPr>
        <p:txBody>
          <a:bodyPr wrap="square" lIns="0" tIns="0" rIns="0" bIns="0" rtlCol="0" anchor="ctr"/>
          <a:lstStyle/>
          <a:p>
            <a:pPr marL="0" indent="0" algn="r">
              <a:buNone/>
            </a:pPr>
            <a:r>
              <a:rPr lang="en-US" sz="1050" dirty="0">
                <a:solidFill>
                  <a:srgbClr val="117A65"/>
                </a:solidFill>
                <a:latin typeface="Calibri" pitchFamily="34" charset="0"/>
                <a:ea typeface="Calibri" pitchFamily="34" charset="-122"/>
                <a:cs typeface="Calibri" pitchFamily="34" charset="-120"/>
              </a:rPr>
              <a:t>10 دقائق</a:t>
            </a:r>
            <a:endParaRPr lang="en-US" sz="1050" dirty="0"/>
          </a:p>
        </p:txBody>
      </p:sp>
      <p:sp>
        <p:nvSpPr>
          <p:cNvPr id="46" name="Text 42"/>
          <p:cNvSpPr/>
          <p:nvPr/>
        </p:nvSpPr>
        <p:spPr>
          <a:xfrm>
            <a:off x="11338560" y="6355080"/>
            <a:ext cx="457200" cy="320040"/>
          </a:xfrm>
          <a:prstGeom prst="rect">
            <a:avLst/>
          </a:prstGeom>
          <a:noFill/>
          <a:ln/>
        </p:spPr>
        <p:txBody>
          <a:bodyPr wrap="square" rtlCol="0" anchor="ctr"/>
          <a:lstStyle/>
          <a:p>
            <a:pPr marL="0" indent="0" algn="ctr">
              <a:buNone/>
            </a:pPr>
            <a:r>
              <a:rPr lang="en-US" sz="1000" dirty="0">
                <a:solidFill>
                  <a:srgbClr val="5B6F6C"/>
                </a:solidFill>
                <a:latin typeface="Calibri" pitchFamily="34" charset="0"/>
                <a:ea typeface="Calibri" pitchFamily="34" charset="-122"/>
                <a:cs typeface="Calibri" pitchFamily="34" charset="-120"/>
              </a:rPr>
              <a:t>17</a:t>
            </a:r>
            <a:endParaRPr lang="en-US" sz="1000" dirty="0"/>
          </a:p>
        </p:txBody>
      </p:sp>
      <p:sp>
        <p:nvSpPr>
          <p:cNvPr id="47" name="Text 43"/>
          <p:cNvSpPr/>
          <p:nvPr/>
        </p:nvSpPr>
        <p:spPr>
          <a:xfrm>
            <a:off x="457200" y="6355080"/>
            <a:ext cx="3657600" cy="320040"/>
          </a:xfrm>
          <a:prstGeom prst="rect">
            <a:avLst/>
          </a:prstGeom>
          <a:noFill/>
          <a:ln/>
        </p:spPr>
        <p:txBody>
          <a:bodyPr wrap="square" rtlCol="0" anchor="ctr"/>
          <a:lstStyle/>
          <a:p>
            <a:pPr marL="0" indent="0" algn="l">
              <a:buNone/>
            </a:pPr>
            <a:r>
              <a:rPr lang="en-US" sz="900" dirty="0">
                <a:solidFill>
                  <a:srgbClr val="9AAFAC"/>
                </a:solidFill>
                <a:latin typeface="Calibri" pitchFamily="34" charset="0"/>
                <a:ea typeface="Calibri" pitchFamily="34" charset="-122"/>
                <a:cs typeface="Calibri" pitchFamily="34" charset="-120"/>
              </a:rPr>
              <a:t>مدرسة الصحة العمومية بسيليبابي</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3D3A"/>
        </a:solidFill>
        <a:effectLst/>
      </p:bgPr>
    </p:bg>
    <p:spTree>
      <p:nvGrpSpPr>
        <p:cNvPr id="1" name=""/>
        <p:cNvGrpSpPr/>
        <p:nvPr/>
      </p:nvGrpSpPr>
      <p:grpSpPr>
        <a:xfrm>
          <a:off x="0" y="0"/>
          <a:ext cx="0" cy="0"/>
          <a:chOff x="0" y="0"/>
          <a:chExt cx="0" cy="0"/>
        </a:xfrm>
      </p:grpSpPr>
      <p:sp>
        <p:nvSpPr>
          <p:cNvPr id="2" name="Shape 0"/>
          <p:cNvSpPr/>
          <p:nvPr/>
        </p:nvSpPr>
        <p:spPr>
          <a:xfrm>
            <a:off x="-1463040" y="4206240"/>
            <a:ext cx="3840480" cy="3840480"/>
          </a:xfrm>
          <a:prstGeom prst="ellipse">
            <a:avLst/>
          </a:prstGeom>
          <a:solidFill>
            <a:srgbClr val="117A65">
              <a:alpha val="28000"/>
            </a:srgbClr>
          </a:solidFill>
          <a:ln/>
        </p:spPr>
      </p:sp>
      <p:sp>
        <p:nvSpPr>
          <p:cNvPr id="3" name="Text 1"/>
          <p:cNvSpPr/>
          <p:nvPr/>
        </p:nvSpPr>
        <p:spPr>
          <a:xfrm>
            <a:off x="822960" y="457200"/>
            <a:ext cx="9692640" cy="594360"/>
          </a:xfrm>
          <a:prstGeom prst="rect">
            <a:avLst/>
          </a:prstGeom>
          <a:noFill/>
          <a:ln/>
        </p:spPr>
        <p:txBody>
          <a:bodyPr wrap="square" lIns="0" tIns="0" rIns="0" bIns="0" rtlCol="0" anchor="ctr"/>
          <a:lstStyle/>
          <a:p>
            <a:pPr marL="0" indent="0" algn="r">
              <a:buNone/>
            </a:pPr>
            <a:r>
              <a:rPr lang="en-US" sz="2300" b="1" dirty="0">
                <a:solidFill>
                  <a:srgbClr val="FFFFFF"/>
                </a:solidFill>
                <a:latin typeface="Cambria" pitchFamily="34" charset="0"/>
                <a:ea typeface="Cambria" pitchFamily="34" charset="-122"/>
                <a:cs typeface="Cambria" pitchFamily="34" charset="-120"/>
              </a:rPr>
              <a:t>أدوات جمع المعلومات وجدولة الإجازات</a:t>
            </a:r>
            <a:endParaRPr lang="en-US" sz="2300" dirty="0"/>
          </a:p>
        </p:txBody>
      </p:sp>
      <p:pic>
        <p:nvPicPr>
          <p:cNvPr id="4" name="Image 0" descr="icons/listAlt_white.png"/>
          <p:cNvPicPr>
            <a:picLocks noChangeAspect="1"/>
          </p:cNvPicPr>
          <p:nvPr/>
        </p:nvPicPr>
        <p:blipFill>
          <a:blip r:embed="rId3"/>
          <a:stretch>
            <a:fillRect/>
          </a:stretch>
        </p:blipFill>
        <p:spPr>
          <a:xfrm>
            <a:off x="10698480" y="457200"/>
            <a:ext cx="502920" cy="502920"/>
          </a:xfrm>
          <a:prstGeom prst="rect">
            <a:avLst/>
          </a:prstGeom>
        </p:spPr>
      </p:pic>
      <p:sp>
        <p:nvSpPr>
          <p:cNvPr id="5" name="Shape 2"/>
          <p:cNvSpPr/>
          <p:nvPr/>
        </p:nvSpPr>
        <p:spPr>
          <a:xfrm>
            <a:off x="822960" y="1417320"/>
            <a:ext cx="4937760" cy="4937760"/>
          </a:xfrm>
          <a:prstGeom prst="roundRect">
            <a:avLst>
              <a:gd name="adj" fmla="val 2222"/>
            </a:avLst>
          </a:prstGeom>
          <a:solidFill>
            <a:srgbClr val="FFFFFF">
              <a:alpha val="5000"/>
            </a:srgbClr>
          </a:solidFill>
          <a:ln w="12700">
            <a:solidFill>
              <a:srgbClr val="FFFFFF">
                <a:alpha val="25000"/>
              </a:srgbClr>
            </a:solidFill>
            <a:prstDash val="solid"/>
          </a:ln>
        </p:spPr>
      </p:sp>
      <p:sp>
        <p:nvSpPr>
          <p:cNvPr id="6" name="Text 3"/>
          <p:cNvSpPr/>
          <p:nvPr/>
        </p:nvSpPr>
        <p:spPr>
          <a:xfrm>
            <a:off x="1097280" y="1627632"/>
            <a:ext cx="4389120" cy="365760"/>
          </a:xfrm>
          <a:prstGeom prst="rect">
            <a:avLst/>
          </a:prstGeom>
          <a:noFill/>
          <a:ln/>
        </p:spPr>
        <p:txBody>
          <a:bodyPr wrap="square" lIns="0" tIns="0" rIns="0" bIns="0" rtlCol="0" anchor="ctr"/>
          <a:lstStyle/>
          <a:p>
            <a:pPr marL="0" indent="0" algn="r">
              <a:buNone/>
            </a:pPr>
            <a:r>
              <a:rPr lang="en-US" sz="1500" b="1" dirty="0">
                <a:solidFill>
                  <a:srgbClr val="FFFFFF"/>
                </a:solidFill>
                <a:latin typeface="Cambria" pitchFamily="34" charset="0"/>
                <a:ea typeface="Cambria" pitchFamily="34" charset="-122"/>
                <a:cs typeface="Cambria" pitchFamily="34" charset="-120"/>
              </a:rPr>
              <a:t>إتقان استخدام أدوات جمع البيانات</a:t>
            </a:r>
            <a:endParaRPr lang="en-US" sz="1500" dirty="0"/>
          </a:p>
        </p:txBody>
      </p:sp>
      <p:sp>
        <p:nvSpPr>
          <p:cNvPr id="7" name="Shape 4"/>
          <p:cNvSpPr/>
          <p:nvPr/>
        </p:nvSpPr>
        <p:spPr>
          <a:xfrm>
            <a:off x="5166360" y="2194560"/>
            <a:ext cx="457200" cy="457200"/>
          </a:xfrm>
          <a:prstGeom prst="ellipse">
            <a:avLst/>
          </a:prstGeom>
          <a:solidFill>
            <a:srgbClr val="C9A24B"/>
          </a:solidFill>
          <a:ln/>
        </p:spPr>
      </p:sp>
      <p:pic>
        <p:nvPicPr>
          <p:cNvPr id="8" name="Image 1" descr="icons/fileMedical_dark.png"/>
          <p:cNvPicPr>
            <a:picLocks noChangeAspect="1"/>
          </p:cNvPicPr>
          <p:nvPr/>
        </p:nvPicPr>
        <p:blipFill>
          <a:blip r:embed="rId4"/>
          <a:stretch>
            <a:fillRect/>
          </a:stretch>
        </p:blipFill>
        <p:spPr>
          <a:xfrm>
            <a:off x="5276088" y="2304288"/>
            <a:ext cx="237744" cy="237744"/>
          </a:xfrm>
          <a:prstGeom prst="rect">
            <a:avLst/>
          </a:prstGeom>
        </p:spPr>
      </p:pic>
      <p:sp>
        <p:nvSpPr>
          <p:cNvPr id="9" name="Text 5"/>
          <p:cNvSpPr/>
          <p:nvPr/>
        </p:nvSpPr>
        <p:spPr>
          <a:xfrm>
            <a:off x="1280160" y="2249424"/>
            <a:ext cx="3749040" cy="365760"/>
          </a:xfrm>
          <a:prstGeom prst="rect">
            <a:avLst/>
          </a:prstGeom>
          <a:noFill/>
          <a:ln/>
        </p:spPr>
        <p:txBody>
          <a:bodyPr wrap="square" lIns="0" tIns="0" rIns="0" bIns="0" rtlCol="0" anchor="ctr"/>
          <a:lstStyle/>
          <a:p>
            <a:pPr marL="0" indent="0" algn="r">
              <a:buNone/>
            </a:pPr>
            <a:r>
              <a:rPr lang="en-US" sz="1350" b="1" dirty="0">
                <a:solidFill>
                  <a:srgbClr val="FFFFFF"/>
                </a:solidFill>
                <a:latin typeface="Calibri" pitchFamily="34" charset="0"/>
                <a:ea typeface="Calibri" pitchFamily="34" charset="-122"/>
                <a:cs typeface="Calibri" pitchFamily="34" charset="-120"/>
              </a:rPr>
              <a:t>السجلات</a:t>
            </a:r>
            <a:endParaRPr lang="en-US" sz="1350" dirty="0"/>
          </a:p>
        </p:txBody>
      </p:sp>
      <p:sp>
        <p:nvSpPr>
          <p:cNvPr id="10" name="Shape 6"/>
          <p:cNvSpPr/>
          <p:nvPr/>
        </p:nvSpPr>
        <p:spPr>
          <a:xfrm>
            <a:off x="5166360" y="2880360"/>
            <a:ext cx="457200" cy="457200"/>
          </a:xfrm>
          <a:prstGeom prst="ellipse">
            <a:avLst/>
          </a:prstGeom>
          <a:solidFill>
            <a:srgbClr val="C9A24B"/>
          </a:solidFill>
          <a:ln/>
        </p:spPr>
      </p:sp>
      <p:pic>
        <p:nvPicPr>
          <p:cNvPr id="11" name="Image 2" descr="icons/clipboard_dark.png"/>
          <p:cNvPicPr>
            <a:picLocks noChangeAspect="1"/>
          </p:cNvPicPr>
          <p:nvPr/>
        </p:nvPicPr>
        <p:blipFill>
          <a:blip r:embed="rId5"/>
          <a:stretch>
            <a:fillRect/>
          </a:stretch>
        </p:blipFill>
        <p:spPr>
          <a:xfrm>
            <a:off x="5276088" y="2990088"/>
            <a:ext cx="237744" cy="237744"/>
          </a:xfrm>
          <a:prstGeom prst="rect">
            <a:avLst/>
          </a:prstGeom>
        </p:spPr>
      </p:pic>
      <p:sp>
        <p:nvSpPr>
          <p:cNvPr id="12" name="Text 7"/>
          <p:cNvSpPr/>
          <p:nvPr/>
        </p:nvSpPr>
        <p:spPr>
          <a:xfrm>
            <a:off x="1280160" y="2935224"/>
            <a:ext cx="3749040" cy="365760"/>
          </a:xfrm>
          <a:prstGeom prst="rect">
            <a:avLst/>
          </a:prstGeom>
          <a:noFill/>
          <a:ln/>
        </p:spPr>
        <p:txBody>
          <a:bodyPr wrap="square" lIns="0" tIns="0" rIns="0" bIns="0" rtlCol="0" anchor="ctr"/>
          <a:lstStyle/>
          <a:p>
            <a:pPr marL="0" indent="0" algn="r">
              <a:buNone/>
            </a:pPr>
            <a:r>
              <a:rPr lang="en-US" sz="1350" b="1" dirty="0">
                <a:solidFill>
                  <a:srgbClr val="FFFFFF"/>
                </a:solidFill>
                <a:latin typeface="Calibri" pitchFamily="34" charset="0"/>
                <a:ea typeface="Calibri" pitchFamily="34" charset="-122"/>
                <a:cs typeface="Calibri" pitchFamily="34" charset="-120"/>
              </a:rPr>
              <a:t>التقارير (الأسبوعية والشهرية)</a:t>
            </a:r>
            <a:endParaRPr lang="en-US" sz="1350" dirty="0"/>
          </a:p>
        </p:txBody>
      </p:sp>
      <p:sp>
        <p:nvSpPr>
          <p:cNvPr id="13" name="Shape 8"/>
          <p:cNvSpPr/>
          <p:nvPr/>
        </p:nvSpPr>
        <p:spPr>
          <a:xfrm>
            <a:off x="5166360" y="3566160"/>
            <a:ext cx="457200" cy="457200"/>
          </a:xfrm>
          <a:prstGeom prst="ellipse">
            <a:avLst/>
          </a:prstGeom>
          <a:solidFill>
            <a:srgbClr val="C9A24B"/>
          </a:solidFill>
          <a:ln/>
        </p:spPr>
      </p:sp>
      <p:pic>
        <p:nvPicPr>
          <p:cNvPr id="14" name="Image 3" descr="icons/listAlt_dark.png"/>
          <p:cNvPicPr>
            <a:picLocks noChangeAspect="1"/>
          </p:cNvPicPr>
          <p:nvPr/>
        </p:nvPicPr>
        <p:blipFill>
          <a:blip r:embed="rId6"/>
          <a:stretch>
            <a:fillRect/>
          </a:stretch>
        </p:blipFill>
        <p:spPr>
          <a:xfrm>
            <a:off x="5276088" y="3675888"/>
            <a:ext cx="237744" cy="237744"/>
          </a:xfrm>
          <a:prstGeom prst="rect">
            <a:avLst/>
          </a:prstGeom>
        </p:spPr>
      </p:pic>
      <p:sp>
        <p:nvSpPr>
          <p:cNvPr id="15" name="Text 9"/>
          <p:cNvSpPr/>
          <p:nvPr/>
        </p:nvSpPr>
        <p:spPr>
          <a:xfrm>
            <a:off x="1280160" y="3621024"/>
            <a:ext cx="3749040" cy="365760"/>
          </a:xfrm>
          <a:prstGeom prst="rect">
            <a:avLst/>
          </a:prstGeom>
          <a:noFill/>
          <a:ln/>
        </p:spPr>
        <p:txBody>
          <a:bodyPr wrap="square" lIns="0" tIns="0" rIns="0" bIns="0" rtlCol="0" anchor="ctr"/>
          <a:lstStyle/>
          <a:p>
            <a:pPr marL="0" indent="0" algn="r">
              <a:buNone/>
            </a:pPr>
            <a:r>
              <a:rPr lang="en-US" sz="1350" b="1" dirty="0">
                <a:solidFill>
                  <a:srgbClr val="FFFFFF"/>
                </a:solidFill>
                <a:latin typeface="Calibri" pitchFamily="34" charset="0"/>
                <a:ea typeface="Calibri" pitchFamily="34" charset="-122"/>
                <a:cs typeface="Calibri" pitchFamily="34" charset="-120"/>
              </a:rPr>
              <a:t>النماذج</a:t>
            </a:r>
            <a:endParaRPr lang="en-US" sz="1350" dirty="0"/>
          </a:p>
        </p:txBody>
      </p:sp>
      <p:sp>
        <p:nvSpPr>
          <p:cNvPr id="16" name="Shape 10"/>
          <p:cNvSpPr/>
          <p:nvPr/>
        </p:nvSpPr>
        <p:spPr>
          <a:xfrm>
            <a:off x="1097280" y="4343400"/>
            <a:ext cx="4389120" cy="10973"/>
          </a:xfrm>
          <a:prstGeom prst="rect">
            <a:avLst/>
          </a:prstGeom>
          <a:solidFill>
            <a:srgbClr val="2A5C57"/>
          </a:solidFill>
          <a:ln/>
        </p:spPr>
      </p:sp>
      <p:sp>
        <p:nvSpPr>
          <p:cNvPr id="17" name="Text 11"/>
          <p:cNvSpPr/>
          <p:nvPr/>
        </p:nvSpPr>
        <p:spPr>
          <a:xfrm>
            <a:off x="1097280" y="4572000"/>
            <a:ext cx="4389120" cy="1280160"/>
          </a:xfrm>
          <a:prstGeom prst="rect">
            <a:avLst/>
          </a:prstGeom>
          <a:noFill/>
          <a:ln/>
        </p:spPr>
        <p:txBody>
          <a:bodyPr wrap="square" lIns="0" tIns="0" rIns="0" bIns="0" rtlCol="0" anchor="t"/>
          <a:lstStyle/>
          <a:p>
            <a:pPr marL="0" indent="0" algn="r">
              <a:lnSpc>
                <a:spcPct val="140000"/>
              </a:lnSpc>
              <a:buNone/>
            </a:pPr>
            <a:r>
              <a:rPr lang="en-US" sz="1300" dirty="0">
                <a:solidFill>
                  <a:srgbClr val="CFE8E0"/>
                </a:solidFill>
                <a:latin typeface="Calibri" pitchFamily="34" charset="0"/>
                <a:ea typeface="Calibri" pitchFamily="34" charset="-122"/>
                <a:cs typeface="Calibri" pitchFamily="34" charset="-120"/>
              </a:rPr>
              <a:t>تمكنت المتدربة من إتقان استخدام أدوات جمع البيانات، وملء التقرير الشهري لأنشطة المركز الصحي (RAPPORT MENSUEL D'ACTIVITÉ) بدقة.</a:t>
            </a:r>
            <a:endParaRPr lang="en-US" sz="1300" dirty="0"/>
          </a:p>
        </p:txBody>
      </p:sp>
      <p:sp>
        <p:nvSpPr>
          <p:cNvPr id="18" name="Shape 12"/>
          <p:cNvSpPr/>
          <p:nvPr/>
        </p:nvSpPr>
        <p:spPr>
          <a:xfrm>
            <a:off x="5989320" y="1417320"/>
            <a:ext cx="5349240" cy="4937760"/>
          </a:xfrm>
          <a:prstGeom prst="roundRect">
            <a:avLst>
              <a:gd name="adj" fmla="val 2222"/>
            </a:avLst>
          </a:prstGeom>
          <a:solidFill>
            <a:srgbClr val="C9A24B"/>
          </a:solidFill>
          <a:ln/>
        </p:spPr>
      </p:sp>
      <p:sp>
        <p:nvSpPr>
          <p:cNvPr id="19" name="Text 13"/>
          <p:cNvSpPr/>
          <p:nvPr/>
        </p:nvSpPr>
        <p:spPr>
          <a:xfrm>
            <a:off x="6263640" y="1627632"/>
            <a:ext cx="4846320" cy="548640"/>
          </a:xfrm>
          <a:prstGeom prst="rect">
            <a:avLst/>
          </a:prstGeom>
          <a:noFill/>
          <a:ln/>
        </p:spPr>
        <p:txBody>
          <a:bodyPr wrap="square" lIns="0" tIns="0" rIns="0" bIns="0" rtlCol="0" anchor="t"/>
          <a:lstStyle/>
          <a:p>
            <a:pPr marL="0" indent="0" algn="r">
              <a:buNone/>
            </a:pPr>
            <a:r>
              <a:rPr lang="en-US" sz="1450" b="1" dirty="0">
                <a:solidFill>
                  <a:srgbClr val="0B3D3A"/>
                </a:solidFill>
                <a:latin typeface="Cambria" pitchFamily="34" charset="0"/>
                <a:ea typeface="Cambria" pitchFamily="34" charset="-122"/>
                <a:cs typeface="Cambria" pitchFamily="34" charset="-120"/>
              </a:rPr>
              <a:t>الإجراءات القانونية لجدولة الإجازات السنوية</a:t>
            </a:r>
            <a:endParaRPr lang="en-US" sz="1450" dirty="0"/>
          </a:p>
        </p:txBody>
      </p:sp>
      <p:sp>
        <p:nvSpPr>
          <p:cNvPr id="20" name="Shape 14"/>
          <p:cNvSpPr/>
          <p:nvPr/>
        </p:nvSpPr>
        <p:spPr>
          <a:xfrm>
            <a:off x="10561320" y="2331720"/>
            <a:ext cx="365760" cy="365760"/>
          </a:xfrm>
          <a:prstGeom prst="ellipse">
            <a:avLst/>
          </a:prstGeom>
          <a:solidFill>
            <a:srgbClr val="0B3D3A"/>
          </a:solidFill>
          <a:ln/>
        </p:spPr>
      </p:sp>
      <p:sp>
        <p:nvSpPr>
          <p:cNvPr id="21" name="Text 15"/>
          <p:cNvSpPr/>
          <p:nvPr/>
        </p:nvSpPr>
        <p:spPr>
          <a:xfrm>
            <a:off x="10561320" y="2331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2" name="Text 16"/>
          <p:cNvSpPr/>
          <p:nvPr/>
        </p:nvSpPr>
        <p:spPr>
          <a:xfrm>
            <a:off x="6263640" y="2350008"/>
            <a:ext cx="4160520" cy="502920"/>
          </a:xfrm>
          <a:prstGeom prst="rect">
            <a:avLst/>
          </a:prstGeom>
          <a:noFill/>
          <a:ln/>
        </p:spPr>
        <p:txBody>
          <a:bodyPr wrap="square" lIns="0" tIns="0" rIns="0" bIns="0" rtlCol="0" anchor="t"/>
          <a:lstStyle/>
          <a:p>
            <a:pPr marL="0" indent="0" algn="r">
              <a:buNone/>
            </a:pPr>
            <a:r>
              <a:rPr lang="en-US" sz="1250" b="1" dirty="0">
                <a:solidFill>
                  <a:srgbClr val="3A2E0E"/>
                </a:solidFill>
                <a:latin typeface="Calibri" pitchFamily="34" charset="0"/>
                <a:ea typeface="Calibri" pitchFamily="34" charset="-122"/>
                <a:cs typeface="Calibri" pitchFamily="34" charset="-120"/>
              </a:rPr>
              <a:t>جمع طلبات الإجازات قبل 10/01 من كل سنة</a:t>
            </a:r>
            <a:endParaRPr lang="en-US" sz="1250" dirty="0"/>
          </a:p>
        </p:txBody>
      </p:sp>
      <p:sp>
        <p:nvSpPr>
          <p:cNvPr id="23" name="Shape 17"/>
          <p:cNvSpPr/>
          <p:nvPr/>
        </p:nvSpPr>
        <p:spPr>
          <a:xfrm>
            <a:off x="10561320" y="2953512"/>
            <a:ext cx="365760" cy="365760"/>
          </a:xfrm>
          <a:prstGeom prst="ellipse">
            <a:avLst/>
          </a:prstGeom>
          <a:solidFill>
            <a:srgbClr val="0B3D3A"/>
          </a:solidFill>
          <a:ln/>
        </p:spPr>
      </p:sp>
      <p:sp>
        <p:nvSpPr>
          <p:cNvPr id="24" name="Text 18"/>
          <p:cNvSpPr/>
          <p:nvPr/>
        </p:nvSpPr>
        <p:spPr>
          <a:xfrm>
            <a:off x="10561320" y="295351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5" name="Text 19"/>
          <p:cNvSpPr/>
          <p:nvPr/>
        </p:nvSpPr>
        <p:spPr>
          <a:xfrm>
            <a:off x="6263640" y="2971800"/>
            <a:ext cx="4160520" cy="502920"/>
          </a:xfrm>
          <a:prstGeom prst="rect">
            <a:avLst/>
          </a:prstGeom>
          <a:noFill/>
          <a:ln/>
        </p:spPr>
        <p:txBody>
          <a:bodyPr wrap="square" lIns="0" tIns="0" rIns="0" bIns="0" rtlCol="0" anchor="t"/>
          <a:lstStyle/>
          <a:p>
            <a:pPr marL="0" indent="0" algn="r">
              <a:buNone/>
            </a:pPr>
            <a:r>
              <a:rPr lang="en-US" sz="1250" b="1" dirty="0">
                <a:solidFill>
                  <a:srgbClr val="3A2E0E"/>
                </a:solidFill>
                <a:latin typeface="Calibri" pitchFamily="34" charset="0"/>
                <a:ea typeface="Calibri" pitchFamily="34" charset="-122"/>
                <a:cs typeface="Calibri" pitchFamily="34" charset="-120"/>
              </a:rPr>
              <a:t>رفع الجدول إلى طبيب رئيس المقاطعة للمراجعة</a:t>
            </a:r>
            <a:endParaRPr lang="en-US" sz="1250" dirty="0"/>
          </a:p>
        </p:txBody>
      </p:sp>
      <p:sp>
        <p:nvSpPr>
          <p:cNvPr id="26" name="Shape 20"/>
          <p:cNvSpPr/>
          <p:nvPr/>
        </p:nvSpPr>
        <p:spPr>
          <a:xfrm>
            <a:off x="10561320" y="3575304"/>
            <a:ext cx="365760" cy="365760"/>
          </a:xfrm>
          <a:prstGeom prst="ellipse">
            <a:avLst/>
          </a:prstGeom>
          <a:solidFill>
            <a:srgbClr val="0B3D3A"/>
          </a:solidFill>
          <a:ln/>
        </p:spPr>
      </p:sp>
      <p:sp>
        <p:nvSpPr>
          <p:cNvPr id="27" name="Text 21"/>
          <p:cNvSpPr/>
          <p:nvPr/>
        </p:nvSpPr>
        <p:spPr>
          <a:xfrm>
            <a:off x="10561320" y="357530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8" name="Text 22"/>
          <p:cNvSpPr/>
          <p:nvPr/>
        </p:nvSpPr>
        <p:spPr>
          <a:xfrm>
            <a:off x="6263640" y="3593592"/>
            <a:ext cx="4160520" cy="502920"/>
          </a:xfrm>
          <a:prstGeom prst="rect">
            <a:avLst/>
          </a:prstGeom>
          <a:noFill/>
          <a:ln/>
        </p:spPr>
        <p:txBody>
          <a:bodyPr wrap="square" lIns="0" tIns="0" rIns="0" bIns="0" rtlCol="0" anchor="t"/>
          <a:lstStyle/>
          <a:p>
            <a:pPr marL="0" indent="0" algn="r">
              <a:buNone/>
            </a:pPr>
            <a:r>
              <a:rPr lang="en-US" sz="1250" b="1" dirty="0">
                <a:solidFill>
                  <a:srgbClr val="3A2E0E"/>
                </a:solidFill>
                <a:latin typeface="Calibri" pitchFamily="34" charset="0"/>
                <a:ea typeface="Calibri" pitchFamily="34" charset="-122"/>
                <a:cs typeface="Calibri" pitchFamily="34" charset="-120"/>
              </a:rPr>
              <a:t>إحالة الملف إلى الإدارة الجهوية للصحة للمصادقة</a:t>
            </a:r>
            <a:endParaRPr lang="en-US" sz="1250" dirty="0"/>
          </a:p>
        </p:txBody>
      </p:sp>
      <p:sp>
        <p:nvSpPr>
          <p:cNvPr id="29" name="Shape 23"/>
          <p:cNvSpPr/>
          <p:nvPr/>
        </p:nvSpPr>
        <p:spPr>
          <a:xfrm>
            <a:off x="10561320" y="4197096"/>
            <a:ext cx="365760" cy="365760"/>
          </a:xfrm>
          <a:prstGeom prst="ellipse">
            <a:avLst/>
          </a:prstGeom>
          <a:solidFill>
            <a:srgbClr val="0B3D3A"/>
          </a:solidFill>
          <a:ln/>
        </p:spPr>
      </p:sp>
      <p:sp>
        <p:nvSpPr>
          <p:cNvPr id="30" name="Text 24"/>
          <p:cNvSpPr/>
          <p:nvPr/>
        </p:nvSpPr>
        <p:spPr>
          <a:xfrm>
            <a:off x="10561320" y="419709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31" name="Text 25"/>
          <p:cNvSpPr/>
          <p:nvPr/>
        </p:nvSpPr>
        <p:spPr>
          <a:xfrm>
            <a:off x="6263640" y="4215384"/>
            <a:ext cx="4160520" cy="502920"/>
          </a:xfrm>
          <a:prstGeom prst="rect">
            <a:avLst/>
          </a:prstGeom>
          <a:noFill/>
          <a:ln/>
        </p:spPr>
        <p:txBody>
          <a:bodyPr wrap="square" lIns="0" tIns="0" rIns="0" bIns="0" rtlCol="0" anchor="t"/>
          <a:lstStyle/>
          <a:p>
            <a:pPr marL="0" indent="0" algn="r">
              <a:buNone/>
            </a:pPr>
            <a:r>
              <a:rPr lang="en-US" sz="1250" b="1" dirty="0">
                <a:solidFill>
                  <a:srgbClr val="3A2E0E"/>
                </a:solidFill>
                <a:latin typeface="Calibri" pitchFamily="34" charset="0"/>
                <a:ea typeface="Calibri" pitchFamily="34" charset="-122"/>
                <a:cs typeface="Calibri" pitchFamily="34" charset="-120"/>
              </a:rPr>
              <a:t>رفع الملف إلى الوالي للمصادقة النهائية</a:t>
            </a:r>
            <a:endParaRPr lang="en-US" sz="1250" dirty="0"/>
          </a:p>
        </p:txBody>
      </p:sp>
      <p:sp>
        <p:nvSpPr>
          <p:cNvPr id="32" name="Shape 26"/>
          <p:cNvSpPr/>
          <p:nvPr/>
        </p:nvSpPr>
        <p:spPr>
          <a:xfrm>
            <a:off x="6263640" y="4864608"/>
            <a:ext cx="4800600" cy="10973"/>
          </a:xfrm>
          <a:prstGeom prst="rect">
            <a:avLst/>
          </a:prstGeom>
          <a:solidFill>
            <a:srgbClr val="B6913C"/>
          </a:solidFill>
          <a:ln/>
        </p:spPr>
      </p:sp>
      <p:sp>
        <p:nvSpPr>
          <p:cNvPr id="33" name="Text 27"/>
          <p:cNvSpPr/>
          <p:nvPr/>
        </p:nvSpPr>
        <p:spPr>
          <a:xfrm>
            <a:off x="6263640" y="5047488"/>
            <a:ext cx="4800600" cy="1097280"/>
          </a:xfrm>
          <a:prstGeom prst="rect">
            <a:avLst/>
          </a:prstGeom>
          <a:noFill/>
          <a:ln/>
        </p:spPr>
        <p:txBody>
          <a:bodyPr wrap="square" lIns="0" tIns="0" rIns="0" bIns="0" rtlCol="0" anchor="t"/>
          <a:lstStyle/>
          <a:p>
            <a:pPr marL="0" indent="0" algn="r">
              <a:lnSpc>
                <a:spcPct val="135000"/>
              </a:lnSpc>
              <a:buNone/>
            </a:pPr>
            <a:r>
              <a:rPr lang="en-US" sz="1250" dirty="0">
                <a:solidFill>
                  <a:srgbClr val="3A2E0E"/>
                </a:solidFill>
                <a:latin typeface="Calibri" pitchFamily="34" charset="0"/>
                <a:ea typeface="Calibri" pitchFamily="34" charset="-122"/>
                <a:cs typeface="Calibri" pitchFamily="34" charset="-120"/>
              </a:rPr>
              <a:t>17 مهنيًا صحيًا (أطباء، ممرضون، قابلات، أعوان) مشمولون بجدولة الإجازات لعام 2026، موزّعة على مدار السنة لضمان استمرارية الخدمة.</a:t>
            </a:r>
            <a:endParaRPr lang="en-US" sz="1250" dirty="0"/>
          </a:p>
        </p:txBody>
      </p:sp>
      <p:sp>
        <p:nvSpPr>
          <p:cNvPr id="34" name="Text 28"/>
          <p:cNvSpPr/>
          <p:nvPr/>
        </p:nvSpPr>
        <p:spPr>
          <a:xfrm>
            <a:off x="11338560" y="6355080"/>
            <a:ext cx="457200" cy="320040"/>
          </a:xfrm>
          <a:prstGeom prst="rect">
            <a:avLst/>
          </a:prstGeom>
          <a:noFill/>
          <a:ln/>
        </p:spPr>
        <p:txBody>
          <a:bodyPr wrap="square" rtlCol="0" anchor="ctr"/>
          <a:lstStyle/>
          <a:p>
            <a:pPr marL="0" indent="0" algn="ctr">
              <a:buNone/>
            </a:pPr>
            <a:r>
              <a:rPr lang="en-US" sz="1000" dirty="0">
                <a:solidFill>
                  <a:srgbClr val="B9CFC9"/>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22960" y="457200"/>
            <a:ext cx="8686800" cy="594360"/>
          </a:xfrm>
          <a:prstGeom prst="rect">
            <a:avLst/>
          </a:prstGeom>
          <a:noFill/>
          <a:ln/>
        </p:spPr>
        <p:txBody>
          <a:bodyPr wrap="square" lIns="0" tIns="0" rIns="0" bIns="0" rtlCol="0" anchor="ctr"/>
          <a:lstStyle/>
          <a:p>
            <a:pPr marL="0" indent="0" algn="r">
              <a:buNone/>
            </a:pPr>
            <a:r>
              <a:rPr lang="en-US" sz="2600" b="1" dirty="0">
                <a:solidFill>
                  <a:srgbClr val="0B3D3A"/>
                </a:solidFill>
                <a:latin typeface="Cambria" pitchFamily="34" charset="0"/>
                <a:ea typeface="Cambria" pitchFamily="34" charset="-122"/>
                <a:cs typeface="Cambria" pitchFamily="34" charset="-120"/>
              </a:rPr>
              <a:t>إعداد تقرير النشاطات الأسبوعية</a:t>
            </a:r>
            <a:endParaRPr lang="en-US" sz="2600" dirty="0"/>
          </a:p>
        </p:txBody>
      </p:sp>
      <p:sp>
        <p:nvSpPr>
          <p:cNvPr id="3" name="Text 1"/>
          <p:cNvSpPr/>
          <p:nvPr/>
        </p:nvSpPr>
        <p:spPr>
          <a:xfrm>
            <a:off x="822960" y="987552"/>
            <a:ext cx="8686800" cy="365760"/>
          </a:xfrm>
          <a:prstGeom prst="rect">
            <a:avLst/>
          </a:prstGeom>
          <a:noFill/>
          <a:ln/>
        </p:spPr>
        <p:txBody>
          <a:bodyPr wrap="square" lIns="0" tIns="0" rIns="0" bIns="0" rtlCol="0" anchor="ctr"/>
          <a:lstStyle/>
          <a:p>
            <a:pPr marL="0" indent="0" algn="r">
              <a:buNone/>
            </a:pPr>
            <a:r>
              <a:rPr lang="en-US" sz="1300" dirty="0">
                <a:solidFill>
                  <a:srgbClr val="5B6F6C"/>
                </a:solidFill>
                <a:latin typeface="Calibri" pitchFamily="34" charset="0"/>
                <a:ea typeface="Calibri" pitchFamily="34" charset="-122"/>
                <a:cs typeface="Calibri" pitchFamily="34" charset="-120"/>
              </a:rPr>
              <a:t>أبرز الحالات الوبائية المسجّلة خلال 5 أسابيع من المداومة</a:t>
            </a:r>
            <a:endParaRPr lang="en-US" sz="1300" dirty="0"/>
          </a:p>
        </p:txBody>
      </p:sp>
      <p:pic>
        <p:nvPicPr>
          <p:cNvPr id="4" name="Image 0" descr="icons/chartBar_teal.png"/>
          <p:cNvPicPr>
            <a:picLocks noChangeAspect="1"/>
          </p:cNvPicPr>
          <p:nvPr/>
        </p:nvPicPr>
        <p:blipFill>
          <a:blip r:embed="rId3"/>
          <a:stretch>
            <a:fillRect/>
          </a:stretch>
        </p:blipFill>
        <p:spPr>
          <a:xfrm>
            <a:off x="10698480" y="457200"/>
            <a:ext cx="502920" cy="502920"/>
          </a:xfrm>
          <a:prstGeom prst="rect">
            <a:avLst/>
          </a:prstGeom>
        </p:spPr>
      </p:pic>
      <p:sp>
        <p:nvSpPr>
          <p:cNvPr id="5" name="Shape 2"/>
          <p:cNvSpPr/>
          <p:nvPr/>
        </p:nvSpPr>
        <p:spPr>
          <a:xfrm>
            <a:off x="1234440" y="2506762"/>
            <a:ext cx="594360" cy="1562318"/>
          </a:xfrm>
          <a:prstGeom prst="roundRect">
            <a:avLst>
              <a:gd name="adj" fmla="val 6154"/>
            </a:avLst>
          </a:prstGeom>
          <a:solidFill>
            <a:srgbClr val="117A65"/>
          </a:solidFill>
          <a:ln/>
        </p:spPr>
      </p:sp>
      <p:sp>
        <p:nvSpPr>
          <p:cNvPr id="6" name="Text 3"/>
          <p:cNvSpPr/>
          <p:nvPr/>
        </p:nvSpPr>
        <p:spPr>
          <a:xfrm>
            <a:off x="1234440" y="2214154"/>
            <a:ext cx="594360" cy="256032"/>
          </a:xfrm>
          <a:prstGeom prst="rect">
            <a:avLst/>
          </a:prstGeom>
          <a:noFill/>
          <a:ln/>
        </p:spPr>
        <p:txBody>
          <a:bodyPr wrap="square" lIns="0" tIns="0" rIns="0" bIns="0" rtlCol="0" anchor="ctr"/>
          <a:lstStyle/>
          <a:p>
            <a:pPr marL="0" indent="0" algn="ctr">
              <a:buNone/>
            </a:pPr>
            <a:r>
              <a:rPr lang="en-US" sz="1100" b="1" dirty="0">
                <a:solidFill>
                  <a:srgbClr val="0B3D3A"/>
                </a:solidFill>
                <a:latin typeface="Cambria" pitchFamily="34" charset="0"/>
                <a:ea typeface="Cambria" pitchFamily="34" charset="-122"/>
                <a:cs typeface="Cambria" pitchFamily="34" charset="-120"/>
              </a:rPr>
              <a:t>23</a:t>
            </a:r>
            <a:endParaRPr lang="en-US" sz="1100" dirty="0"/>
          </a:p>
        </p:txBody>
      </p:sp>
      <p:sp>
        <p:nvSpPr>
          <p:cNvPr id="7" name="Shape 4"/>
          <p:cNvSpPr/>
          <p:nvPr/>
        </p:nvSpPr>
        <p:spPr>
          <a:xfrm>
            <a:off x="1920240" y="2506762"/>
            <a:ext cx="594360" cy="1562318"/>
          </a:xfrm>
          <a:prstGeom prst="roundRect">
            <a:avLst>
              <a:gd name="adj" fmla="val 6154"/>
            </a:avLst>
          </a:prstGeom>
          <a:solidFill>
            <a:srgbClr val="C9A24B"/>
          </a:solidFill>
          <a:ln/>
        </p:spPr>
      </p:sp>
      <p:sp>
        <p:nvSpPr>
          <p:cNvPr id="8" name="Text 5"/>
          <p:cNvSpPr/>
          <p:nvPr/>
        </p:nvSpPr>
        <p:spPr>
          <a:xfrm>
            <a:off x="1920240" y="2214154"/>
            <a:ext cx="594360" cy="256032"/>
          </a:xfrm>
          <a:prstGeom prst="rect">
            <a:avLst/>
          </a:prstGeom>
          <a:noFill/>
          <a:ln/>
        </p:spPr>
        <p:txBody>
          <a:bodyPr wrap="square" lIns="0" tIns="0" rIns="0" bIns="0" rtlCol="0" anchor="ctr"/>
          <a:lstStyle/>
          <a:p>
            <a:pPr marL="0" indent="0" algn="ctr">
              <a:buNone/>
            </a:pPr>
            <a:r>
              <a:rPr lang="en-US" sz="1100" b="1" dirty="0">
                <a:solidFill>
                  <a:srgbClr val="0B3D3A"/>
                </a:solidFill>
                <a:latin typeface="Cambria" pitchFamily="34" charset="0"/>
                <a:ea typeface="Cambria" pitchFamily="34" charset="-122"/>
                <a:cs typeface="Cambria" pitchFamily="34" charset="-120"/>
              </a:rPr>
              <a:t>23</a:t>
            </a:r>
            <a:endParaRPr lang="en-US" sz="1100" dirty="0"/>
          </a:p>
        </p:txBody>
      </p:sp>
      <p:sp>
        <p:nvSpPr>
          <p:cNvPr id="9" name="Text 6"/>
          <p:cNvSpPr/>
          <p:nvPr/>
        </p:nvSpPr>
        <p:spPr>
          <a:xfrm>
            <a:off x="822960" y="4142232"/>
            <a:ext cx="2103120" cy="274320"/>
          </a:xfrm>
          <a:prstGeom prst="rect">
            <a:avLst/>
          </a:prstGeom>
          <a:noFill/>
          <a:ln/>
        </p:spPr>
        <p:txBody>
          <a:bodyPr wrap="square" lIns="0" tIns="0" rIns="0" bIns="0" rtlCol="0" anchor="ctr"/>
          <a:lstStyle/>
          <a:p>
            <a:pPr marL="0" indent="0" algn="ctr">
              <a:buNone/>
            </a:pPr>
            <a:r>
              <a:rPr lang="en-US" sz="1100" dirty="0">
                <a:solidFill>
                  <a:srgbClr val="5B6F6C"/>
                </a:solidFill>
                <a:latin typeface="Calibri" pitchFamily="34" charset="0"/>
                <a:ea typeface="Calibri" pitchFamily="34" charset="-122"/>
                <a:cs typeface="Calibri" pitchFamily="34" charset="-120"/>
              </a:rPr>
              <a:t>أسبوع 1</a:t>
            </a:r>
            <a:endParaRPr lang="en-US" sz="1100" dirty="0"/>
          </a:p>
        </p:txBody>
      </p:sp>
      <p:sp>
        <p:nvSpPr>
          <p:cNvPr id="10" name="Shape 7"/>
          <p:cNvSpPr/>
          <p:nvPr/>
        </p:nvSpPr>
        <p:spPr>
          <a:xfrm>
            <a:off x="3337560" y="2506762"/>
            <a:ext cx="594360" cy="1562318"/>
          </a:xfrm>
          <a:prstGeom prst="roundRect">
            <a:avLst>
              <a:gd name="adj" fmla="val 6154"/>
            </a:avLst>
          </a:prstGeom>
          <a:solidFill>
            <a:srgbClr val="117A65"/>
          </a:solidFill>
          <a:ln/>
        </p:spPr>
      </p:sp>
      <p:sp>
        <p:nvSpPr>
          <p:cNvPr id="11" name="Text 8"/>
          <p:cNvSpPr/>
          <p:nvPr/>
        </p:nvSpPr>
        <p:spPr>
          <a:xfrm>
            <a:off x="3337560" y="2214154"/>
            <a:ext cx="594360" cy="256032"/>
          </a:xfrm>
          <a:prstGeom prst="rect">
            <a:avLst/>
          </a:prstGeom>
          <a:noFill/>
          <a:ln/>
        </p:spPr>
        <p:txBody>
          <a:bodyPr wrap="square" lIns="0" tIns="0" rIns="0" bIns="0" rtlCol="0" anchor="ctr"/>
          <a:lstStyle/>
          <a:p>
            <a:pPr marL="0" indent="0" algn="ctr">
              <a:buNone/>
            </a:pPr>
            <a:r>
              <a:rPr lang="en-US" sz="1100" b="1" dirty="0">
                <a:solidFill>
                  <a:srgbClr val="0B3D3A"/>
                </a:solidFill>
                <a:latin typeface="Cambria" pitchFamily="34" charset="0"/>
                <a:ea typeface="Cambria" pitchFamily="34" charset="-122"/>
                <a:cs typeface="Cambria" pitchFamily="34" charset="-120"/>
              </a:rPr>
              <a:t>23</a:t>
            </a:r>
            <a:endParaRPr lang="en-US" sz="1100" dirty="0"/>
          </a:p>
        </p:txBody>
      </p:sp>
      <p:sp>
        <p:nvSpPr>
          <p:cNvPr id="12" name="Shape 9"/>
          <p:cNvSpPr/>
          <p:nvPr/>
        </p:nvSpPr>
        <p:spPr>
          <a:xfrm>
            <a:off x="4023360" y="2574689"/>
            <a:ext cx="594360" cy="1494391"/>
          </a:xfrm>
          <a:prstGeom prst="roundRect">
            <a:avLst>
              <a:gd name="adj" fmla="val 6154"/>
            </a:avLst>
          </a:prstGeom>
          <a:solidFill>
            <a:srgbClr val="C9A24B"/>
          </a:solidFill>
          <a:ln/>
        </p:spPr>
      </p:sp>
      <p:sp>
        <p:nvSpPr>
          <p:cNvPr id="13" name="Text 10"/>
          <p:cNvSpPr/>
          <p:nvPr/>
        </p:nvSpPr>
        <p:spPr>
          <a:xfrm>
            <a:off x="4023360" y="2282081"/>
            <a:ext cx="594360" cy="256032"/>
          </a:xfrm>
          <a:prstGeom prst="rect">
            <a:avLst/>
          </a:prstGeom>
          <a:noFill/>
          <a:ln/>
        </p:spPr>
        <p:txBody>
          <a:bodyPr wrap="square" lIns="0" tIns="0" rIns="0" bIns="0" rtlCol="0" anchor="ctr"/>
          <a:lstStyle/>
          <a:p>
            <a:pPr marL="0" indent="0" algn="ctr">
              <a:buNone/>
            </a:pPr>
            <a:r>
              <a:rPr lang="en-US" sz="1100" b="1" dirty="0">
                <a:solidFill>
                  <a:srgbClr val="0B3D3A"/>
                </a:solidFill>
                <a:latin typeface="Cambria" pitchFamily="34" charset="0"/>
                <a:ea typeface="Cambria" pitchFamily="34" charset="-122"/>
                <a:cs typeface="Cambria" pitchFamily="34" charset="-120"/>
              </a:rPr>
              <a:t>22</a:t>
            </a:r>
            <a:endParaRPr lang="en-US" sz="1100" dirty="0"/>
          </a:p>
        </p:txBody>
      </p:sp>
      <p:sp>
        <p:nvSpPr>
          <p:cNvPr id="14" name="Text 11"/>
          <p:cNvSpPr/>
          <p:nvPr/>
        </p:nvSpPr>
        <p:spPr>
          <a:xfrm>
            <a:off x="2926080" y="4142232"/>
            <a:ext cx="2103120" cy="274320"/>
          </a:xfrm>
          <a:prstGeom prst="rect">
            <a:avLst/>
          </a:prstGeom>
          <a:noFill/>
          <a:ln/>
        </p:spPr>
        <p:txBody>
          <a:bodyPr wrap="square" lIns="0" tIns="0" rIns="0" bIns="0" rtlCol="0" anchor="ctr"/>
          <a:lstStyle/>
          <a:p>
            <a:pPr marL="0" indent="0" algn="ctr">
              <a:buNone/>
            </a:pPr>
            <a:r>
              <a:rPr lang="en-US" sz="1100" dirty="0">
                <a:solidFill>
                  <a:srgbClr val="5B6F6C"/>
                </a:solidFill>
                <a:latin typeface="Calibri" pitchFamily="34" charset="0"/>
                <a:ea typeface="Calibri" pitchFamily="34" charset="-122"/>
                <a:cs typeface="Calibri" pitchFamily="34" charset="-120"/>
              </a:rPr>
              <a:t>أسبوع 2</a:t>
            </a:r>
            <a:endParaRPr lang="en-US" sz="1100" dirty="0"/>
          </a:p>
        </p:txBody>
      </p:sp>
      <p:sp>
        <p:nvSpPr>
          <p:cNvPr id="15" name="Shape 12"/>
          <p:cNvSpPr/>
          <p:nvPr/>
        </p:nvSpPr>
        <p:spPr>
          <a:xfrm>
            <a:off x="5440680" y="1963347"/>
            <a:ext cx="594360" cy="2105733"/>
          </a:xfrm>
          <a:prstGeom prst="roundRect">
            <a:avLst>
              <a:gd name="adj" fmla="val 6154"/>
            </a:avLst>
          </a:prstGeom>
          <a:solidFill>
            <a:srgbClr val="117A65"/>
          </a:solidFill>
          <a:ln/>
        </p:spPr>
      </p:sp>
      <p:sp>
        <p:nvSpPr>
          <p:cNvPr id="16" name="Text 13"/>
          <p:cNvSpPr/>
          <p:nvPr/>
        </p:nvSpPr>
        <p:spPr>
          <a:xfrm>
            <a:off x="5440680" y="1670739"/>
            <a:ext cx="594360" cy="256032"/>
          </a:xfrm>
          <a:prstGeom prst="rect">
            <a:avLst/>
          </a:prstGeom>
          <a:noFill/>
          <a:ln/>
        </p:spPr>
        <p:txBody>
          <a:bodyPr wrap="square" lIns="0" tIns="0" rIns="0" bIns="0" rtlCol="0" anchor="ctr"/>
          <a:lstStyle/>
          <a:p>
            <a:pPr marL="0" indent="0" algn="ctr">
              <a:buNone/>
            </a:pPr>
            <a:r>
              <a:rPr lang="en-US" sz="1100" b="1" dirty="0">
                <a:solidFill>
                  <a:srgbClr val="0B3D3A"/>
                </a:solidFill>
                <a:latin typeface="Cambria" pitchFamily="34" charset="0"/>
                <a:ea typeface="Cambria" pitchFamily="34" charset="-122"/>
                <a:cs typeface="Cambria" pitchFamily="34" charset="-120"/>
              </a:rPr>
              <a:t>31</a:t>
            </a:r>
            <a:endParaRPr lang="en-US" sz="1100" dirty="0"/>
          </a:p>
        </p:txBody>
      </p:sp>
      <p:sp>
        <p:nvSpPr>
          <p:cNvPr id="17" name="Shape 14"/>
          <p:cNvSpPr/>
          <p:nvPr/>
        </p:nvSpPr>
        <p:spPr>
          <a:xfrm>
            <a:off x="6126480" y="2506762"/>
            <a:ext cx="594360" cy="1562318"/>
          </a:xfrm>
          <a:prstGeom prst="roundRect">
            <a:avLst>
              <a:gd name="adj" fmla="val 6154"/>
            </a:avLst>
          </a:prstGeom>
          <a:solidFill>
            <a:srgbClr val="C9A24B"/>
          </a:solidFill>
          <a:ln/>
        </p:spPr>
      </p:sp>
      <p:sp>
        <p:nvSpPr>
          <p:cNvPr id="18" name="Text 15"/>
          <p:cNvSpPr/>
          <p:nvPr/>
        </p:nvSpPr>
        <p:spPr>
          <a:xfrm>
            <a:off x="6126480" y="2214154"/>
            <a:ext cx="594360" cy="256032"/>
          </a:xfrm>
          <a:prstGeom prst="rect">
            <a:avLst/>
          </a:prstGeom>
          <a:noFill/>
          <a:ln/>
        </p:spPr>
        <p:txBody>
          <a:bodyPr wrap="square" lIns="0" tIns="0" rIns="0" bIns="0" rtlCol="0" anchor="ctr"/>
          <a:lstStyle/>
          <a:p>
            <a:pPr marL="0" indent="0" algn="ctr">
              <a:buNone/>
            </a:pPr>
            <a:r>
              <a:rPr lang="en-US" sz="1100" b="1" dirty="0">
                <a:solidFill>
                  <a:srgbClr val="0B3D3A"/>
                </a:solidFill>
                <a:latin typeface="Cambria" pitchFamily="34" charset="0"/>
                <a:ea typeface="Cambria" pitchFamily="34" charset="-122"/>
                <a:cs typeface="Cambria" pitchFamily="34" charset="-120"/>
              </a:rPr>
              <a:t>23</a:t>
            </a:r>
            <a:endParaRPr lang="en-US" sz="1100" dirty="0"/>
          </a:p>
        </p:txBody>
      </p:sp>
      <p:sp>
        <p:nvSpPr>
          <p:cNvPr id="19" name="Text 16"/>
          <p:cNvSpPr/>
          <p:nvPr/>
        </p:nvSpPr>
        <p:spPr>
          <a:xfrm>
            <a:off x="5029200" y="4142232"/>
            <a:ext cx="2103120" cy="274320"/>
          </a:xfrm>
          <a:prstGeom prst="rect">
            <a:avLst/>
          </a:prstGeom>
          <a:noFill/>
          <a:ln/>
        </p:spPr>
        <p:txBody>
          <a:bodyPr wrap="square" lIns="0" tIns="0" rIns="0" bIns="0" rtlCol="0" anchor="ctr"/>
          <a:lstStyle/>
          <a:p>
            <a:pPr marL="0" indent="0" algn="ctr">
              <a:buNone/>
            </a:pPr>
            <a:r>
              <a:rPr lang="en-US" sz="1100" dirty="0">
                <a:solidFill>
                  <a:srgbClr val="5B6F6C"/>
                </a:solidFill>
                <a:latin typeface="Calibri" pitchFamily="34" charset="0"/>
                <a:ea typeface="Calibri" pitchFamily="34" charset="-122"/>
                <a:cs typeface="Calibri" pitchFamily="34" charset="-120"/>
              </a:rPr>
              <a:t>أسبوع 3</a:t>
            </a:r>
            <a:endParaRPr lang="en-US" sz="1100" dirty="0"/>
          </a:p>
        </p:txBody>
      </p:sp>
      <p:sp>
        <p:nvSpPr>
          <p:cNvPr id="20" name="Shape 17"/>
          <p:cNvSpPr/>
          <p:nvPr/>
        </p:nvSpPr>
        <p:spPr>
          <a:xfrm>
            <a:off x="7543800" y="2846397"/>
            <a:ext cx="594360" cy="1222683"/>
          </a:xfrm>
          <a:prstGeom prst="roundRect">
            <a:avLst>
              <a:gd name="adj" fmla="val 6154"/>
            </a:avLst>
          </a:prstGeom>
          <a:solidFill>
            <a:srgbClr val="117A65"/>
          </a:solidFill>
          <a:ln/>
        </p:spPr>
      </p:sp>
      <p:sp>
        <p:nvSpPr>
          <p:cNvPr id="21" name="Text 18"/>
          <p:cNvSpPr/>
          <p:nvPr/>
        </p:nvSpPr>
        <p:spPr>
          <a:xfrm>
            <a:off x="7543800" y="2553789"/>
            <a:ext cx="594360" cy="256032"/>
          </a:xfrm>
          <a:prstGeom prst="rect">
            <a:avLst/>
          </a:prstGeom>
          <a:noFill/>
          <a:ln/>
        </p:spPr>
        <p:txBody>
          <a:bodyPr wrap="square" lIns="0" tIns="0" rIns="0" bIns="0" rtlCol="0" anchor="ctr"/>
          <a:lstStyle/>
          <a:p>
            <a:pPr marL="0" indent="0" algn="ctr">
              <a:buNone/>
            </a:pPr>
            <a:r>
              <a:rPr lang="en-US" sz="1100" b="1" dirty="0">
                <a:solidFill>
                  <a:srgbClr val="0B3D3A"/>
                </a:solidFill>
                <a:latin typeface="Cambria" pitchFamily="34" charset="0"/>
                <a:ea typeface="Cambria" pitchFamily="34" charset="-122"/>
                <a:cs typeface="Cambria" pitchFamily="34" charset="-120"/>
              </a:rPr>
              <a:t>18</a:t>
            </a:r>
            <a:endParaRPr lang="en-US" sz="1100" dirty="0"/>
          </a:p>
        </p:txBody>
      </p:sp>
      <p:sp>
        <p:nvSpPr>
          <p:cNvPr id="22" name="Shape 19"/>
          <p:cNvSpPr/>
          <p:nvPr/>
        </p:nvSpPr>
        <p:spPr>
          <a:xfrm>
            <a:off x="8229600" y="2982250"/>
            <a:ext cx="594360" cy="1086830"/>
          </a:xfrm>
          <a:prstGeom prst="roundRect">
            <a:avLst>
              <a:gd name="adj" fmla="val 6154"/>
            </a:avLst>
          </a:prstGeom>
          <a:solidFill>
            <a:srgbClr val="C9A24B"/>
          </a:solidFill>
          <a:ln/>
        </p:spPr>
      </p:sp>
      <p:sp>
        <p:nvSpPr>
          <p:cNvPr id="23" name="Text 20"/>
          <p:cNvSpPr/>
          <p:nvPr/>
        </p:nvSpPr>
        <p:spPr>
          <a:xfrm>
            <a:off x="8229600" y="2689642"/>
            <a:ext cx="594360" cy="256032"/>
          </a:xfrm>
          <a:prstGeom prst="rect">
            <a:avLst/>
          </a:prstGeom>
          <a:noFill/>
          <a:ln/>
        </p:spPr>
        <p:txBody>
          <a:bodyPr wrap="square" lIns="0" tIns="0" rIns="0" bIns="0" rtlCol="0" anchor="ctr"/>
          <a:lstStyle/>
          <a:p>
            <a:pPr marL="0" indent="0" algn="ctr">
              <a:buNone/>
            </a:pPr>
            <a:r>
              <a:rPr lang="en-US" sz="1100" b="1" dirty="0">
                <a:solidFill>
                  <a:srgbClr val="0B3D3A"/>
                </a:solidFill>
                <a:latin typeface="Cambria" pitchFamily="34" charset="0"/>
                <a:ea typeface="Cambria" pitchFamily="34" charset="-122"/>
                <a:cs typeface="Cambria" pitchFamily="34" charset="-120"/>
              </a:rPr>
              <a:t>16</a:t>
            </a:r>
            <a:endParaRPr lang="en-US" sz="1100" dirty="0"/>
          </a:p>
        </p:txBody>
      </p:sp>
      <p:sp>
        <p:nvSpPr>
          <p:cNvPr id="24" name="Text 21"/>
          <p:cNvSpPr/>
          <p:nvPr/>
        </p:nvSpPr>
        <p:spPr>
          <a:xfrm>
            <a:off x="7132320" y="4142232"/>
            <a:ext cx="2103120" cy="274320"/>
          </a:xfrm>
          <a:prstGeom prst="rect">
            <a:avLst/>
          </a:prstGeom>
          <a:noFill/>
          <a:ln/>
        </p:spPr>
        <p:txBody>
          <a:bodyPr wrap="square" lIns="0" tIns="0" rIns="0" bIns="0" rtlCol="0" anchor="ctr"/>
          <a:lstStyle/>
          <a:p>
            <a:pPr marL="0" indent="0" algn="ctr">
              <a:buNone/>
            </a:pPr>
            <a:r>
              <a:rPr lang="en-US" sz="1100" dirty="0">
                <a:solidFill>
                  <a:srgbClr val="5B6F6C"/>
                </a:solidFill>
                <a:latin typeface="Calibri" pitchFamily="34" charset="0"/>
                <a:ea typeface="Calibri" pitchFamily="34" charset="-122"/>
                <a:cs typeface="Calibri" pitchFamily="34" charset="-120"/>
              </a:rPr>
              <a:t>أسبوع 4</a:t>
            </a:r>
            <a:endParaRPr lang="en-US" sz="1100" dirty="0"/>
          </a:p>
        </p:txBody>
      </p:sp>
      <p:sp>
        <p:nvSpPr>
          <p:cNvPr id="25" name="Shape 22"/>
          <p:cNvSpPr/>
          <p:nvPr/>
        </p:nvSpPr>
        <p:spPr>
          <a:xfrm>
            <a:off x="9646920" y="1827494"/>
            <a:ext cx="594360" cy="2241586"/>
          </a:xfrm>
          <a:prstGeom prst="roundRect">
            <a:avLst>
              <a:gd name="adj" fmla="val 6154"/>
            </a:avLst>
          </a:prstGeom>
          <a:solidFill>
            <a:srgbClr val="117A65"/>
          </a:solidFill>
          <a:ln/>
        </p:spPr>
      </p:sp>
      <p:sp>
        <p:nvSpPr>
          <p:cNvPr id="26" name="Text 23"/>
          <p:cNvSpPr/>
          <p:nvPr/>
        </p:nvSpPr>
        <p:spPr>
          <a:xfrm>
            <a:off x="9646920" y="1534886"/>
            <a:ext cx="594360" cy="256032"/>
          </a:xfrm>
          <a:prstGeom prst="rect">
            <a:avLst/>
          </a:prstGeom>
          <a:noFill/>
          <a:ln/>
        </p:spPr>
        <p:txBody>
          <a:bodyPr wrap="square" lIns="0" tIns="0" rIns="0" bIns="0" rtlCol="0" anchor="ctr"/>
          <a:lstStyle/>
          <a:p>
            <a:pPr marL="0" indent="0" algn="ctr">
              <a:buNone/>
            </a:pPr>
            <a:r>
              <a:rPr lang="en-US" sz="1100" b="1" dirty="0">
                <a:solidFill>
                  <a:srgbClr val="0B3D3A"/>
                </a:solidFill>
                <a:latin typeface="Cambria" pitchFamily="34" charset="0"/>
                <a:ea typeface="Cambria" pitchFamily="34" charset="-122"/>
                <a:cs typeface="Cambria" pitchFamily="34" charset="-120"/>
              </a:rPr>
              <a:t>33</a:t>
            </a:r>
            <a:endParaRPr lang="en-US" sz="1100" dirty="0"/>
          </a:p>
        </p:txBody>
      </p:sp>
      <p:sp>
        <p:nvSpPr>
          <p:cNvPr id="27" name="Shape 24"/>
          <p:cNvSpPr/>
          <p:nvPr/>
        </p:nvSpPr>
        <p:spPr>
          <a:xfrm>
            <a:off x="10332720" y="3321885"/>
            <a:ext cx="594360" cy="747195"/>
          </a:xfrm>
          <a:prstGeom prst="roundRect">
            <a:avLst>
              <a:gd name="adj" fmla="val 6154"/>
            </a:avLst>
          </a:prstGeom>
          <a:solidFill>
            <a:srgbClr val="C9A24B"/>
          </a:solidFill>
          <a:ln/>
        </p:spPr>
      </p:sp>
      <p:sp>
        <p:nvSpPr>
          <p:cNvPr id="28" name="Text 25"/>
          <p:cNvSpPr/>
          <p:nvPr/>
        </p:nvSpPr>
        <p:spPr>
          <a:xfrm>
            <a:off x="10332720" y="3029277"/>
            <a:ext cx="594360" cy="256032"/>
          </a:xfrm>
          <a:prstGeom prst="rect">
            <a:avLst/>
          </a:prstGeom>
          <a:noFill/>
          <a:ln/>
        </p:spPr>
        <p:txBody>
          <a:bodyPr wrap="square" lIns="0" tIns="0" rIns="0" bIns="0" rtlCol="0" anchor="ctr"/>
          <a:lstStyle/>
          <a:p>
            <a:pPr marL="0" indent="0" algn="ctr">
              <a:buNone/>
            </a:pPr>
            <a:r>
              <a:rPr lang="en-US" sz="1100" b="1" dirty="0">
                <a:solidFill>
                  <a:srgbClr val="0B3D3A"/>
                </a:solidFill>
                <a:latin typeface="Cambria" pitchFamily="34" charset="0"/>
                <a:ea typeface="Cambria" pitchFamily="34" charset="-122"/>
                <a:cs typeface="Cambria" pitchFamily="34" charset="-120"/>
              </a:rPr>
              <a:t>11</a:t>
            </a:r>
            <a:endParaRPr lang="en-US" sz="1100" dirty="0"/>
          </a:p>
        </p:txBody>
      </p:sp>
      <p:sp>
        <p:nvSpPr>
          <p:cNvPr id="29" name="Text 26"/>
          <p:cNvSpPr/>
          <p:nvPr/>
        </p:nvSpPr>
        <p:spPr>
          <a:xfrm>
            <a:off x="9235440" y="4142232"/>
            <a:ext cx="2103120" cy="274320"/>
          </a:xfrm>
          <a:prstGeom prst="rect">
            <a:avLst/>
          </a:prstGeom>
          <a:noFill/>
          <a:ln/>
        </p:spPr>
        <p:txBody>
          <a:bodyPr wrap="square" lIns="0" tIns="0" rIns="0" bIns="0" rtlCol="0" anchor="ctr"/>
          <a:lstStyle/>
          <a:p>
            <a:pPr marL="0" indent="0" algn="ctr">
              <a:buNone/>
            </a:pPr>
            <a:r>
              <a:rPr lang="en-US" sz="1100" dirty="0">
                <a:solidFill>
                  <a:srgbClr val="5B6F6C"/>
                </a:solidFill>
                <a:latin typeface="Calibri" pitchFamily="34" charset="0"/>
                <a:ea typeface="Calibri" pitchFamily="34" charset="-122"/>
                <a:cs typeface="Calibri" pitchFamily="34" charset="-120"/>
              </a:rPr>
              <a:t>أسبوع 5</a:t>
            </a:r>
            <a:endParaRPr lang="en-US" sz="1100" dirty="0"/>
          </a:p>
        </p:txBody>
      </p:sp>
      <p:sp>
        <p:nvSpPr>
          <p:cNvPr id="30" name="Shape 27"/>
          <p:cNvSpPr/>
          <p:nvPr/>
        </p:nvSpPr>
        <p:spPr>
          <a:xfrm>
            <a:off x="822960" y="4069080"/>
            <a:ext cx="10515600" cy="13716"/>
          </a:xfrm>
          <a:prstGeom prst="rect">
            <a:avLst/>
          </a:prstGeom>
          <a:solidFill>
            <a:srgbClr val="D8DED9"/>
          </a:solidFill>
          <a:ln/>
        </p:spPr>
      </p:sp>
      <p:sp>
        <p:nvSpPr>
          <p:cNvPr id="31" name="Shape 28"/>
          <p:cNvSpPr/>
          <p:nvPr/>
        </p:nvSpPr>
        <p:spPr>
          <a:xfrm>
            <a:off x="9692640" y="1463040"/>
            <a:ext cx="164592" cy="164592"/>
          </a:xfrm>
          <a:prstGeom prst="ellipse">
            <a:avLst/>
          </a:prstGeom>
          <a:solidFill>
            <a:srgbClr val="117A65"/>
          </a:solidFill>
          <a:ln/>
        </p:spPr>
      </p:sp>
      <p:sp>
        <p:nvSpPr>
          <p:cNvPr id="32" name="Text 29"/>
          <p:cNvSpPr/>
          <p:nvPr/>
        </p:nvSpPr>
        <p:spPr>
          <a:xfrm>
            <a:off x="7955280" y="1426464"/>
            <a:ext cx="1691640" cy="256032"/>
          </a:xfrm>
          <a:prstGeom prst="rect">
            <a:avLst/>
          </a:prstGeom>
          <a:noFill/>
          <a:ln/>
        </p:spPr>
        <p:txBody>
          <a:bodyPr wrap="square" lIns="0" tIns="0" rIns="0" bIns="0" rtlCol="0" anchor="ctr"/>
          <a:lstStyle/>
          <a:p>
            <a:pPr marL="0" indent="0" algn="r">
              <a:buNone/>
            </a:pPr>
            <a:r>
              <a:rPr lang="en-US" sz="950" dirty="0">
                <a:solidFill>
                  <a:srgbClr val="1B2B28"/>
                </a:solidFill>
                <a:latin typeface="Calibri" pitchFamily="34" charset="0"/>
                <a:ea typeface="Calibri" pitchFamily="34" charset="-122"/>
                <a:cs typeface="Calibri" pitchFamily="34" charset="-120"/>
              </a:rPr>
              <a:t>IRAS (التهابات تنفسية)</a:t>
            </a:r>
            <a:endParaRPr lang="en-US" sz="950" dirty="0"/>
          </a:p>
        </p:txBody>
      </p:sp>
      <p:sp>
        <p:nvSpPr>
          <p:cNvPr id="33" name="Shape 30"/>
          <p:cNvSpPr/>
          <p:nvPr/>
        </p:nvSpPr>
        <p:spPr>
          <a:xfrm>
            <a:off x="6949440" y="1463040"/>
            <a:ext cx="164592" cy="164592"/>
          </a:xfrm>
          <a:prstGeom prst="ellipse">
            <a:avLst/>
          </a:prstGeom>
          <a:solidFill>
            <a:srgbClr val="C9A24B"/>
          </a:solidFill>
          <a:ln/>
        </p:spPr>
      </p:sp>
      <p:sp>
        <p:nvSpPr>
          <p:cNvPr id="34" name="Text 31"/>
          <p:cNvSpPr/>
          <p:nvPr/>
        </p:nvSpPr>
        <p:spPr>
          <a:xfrm>
            <a:off x="5669280" y="1426464"/>
            <a:ext cx="1234440" cy="256032"/>
          </a:xfrm>
          <a:prstGeom prst="rect">
            <a:avLst/>
          </a:prstGeom>
          <a:noFill/>
          <a:ln/>
        </p:spPr>
        <p:txBody>
          <a:bodyPr wrap="square" lIns="0" tIns="0" rIns="0" bIns="0" rtlCol="0" anchor="ctr"/>
          <a:lstStyle/>
          <a:p>
            <a:pPr marL="0" indent="0" algn="r">
              <a:buNone/>
            </a:pPr>
            <a:r>
              <a:rPr lang="en-US" sz="950" dirty="0">
                <a:solidFill>
                  <a:srgbClr val="1B2B28"/>
                </a:solidFill>
                <a:latin typeface="Calibri" pitchFamily="34" charset="0"/>
                <a:ea typeface="Calibri" pitchFamily="34" charset="-122"/>
                <a:cs typeface="Calibri" pitchFamily="34" charset="-120"/>
              </a:rPr>
              <a:t>إسهال بسيط</a:t>
            </a:r>
            <a:endParaRPr lang="en-US" sz="950" dirty="0"/>
          </a:p>
        </p:txBody>
      </p:sp>
      <p:sp>
        <p:nvSpPr>
          <p:cNvPr id="35" name="Shape 32"/>
          <p:cNvSpPr/>
          <p:nvPr/>
        </p:nvSpPr>
        <p:spPr>
          <a:xfrm>
            <a:off x="822960" y="4526280"/>
            <a:ext cx="10515600" cy="1554480"/>
          </a:xfrm>
          <a:prstGeom prst="roundRect">
            <a:avLst>
              <a:gd name="adj" fmla="val 5882"/>
            </a:avLst>
          </a:prstGeom>
          <a:solidFill>
            <a:srgbClr val="0B3D3A"/>
          </a:solidFill>
          <a:ln/>
        </p:spPr>
      </p:sp>
      <p:sp>
        <p:nvSpPr>
          <p:cNvPr id="36" name="Text 33"/>
          <p:cNvSpPr/>
          <p:nvPr/>
        </p:nvSpPr>
        <p:spPr>
          <a:xfrm>
            <a:off x="822960" y="4754880"/>
            <a:ext cx="2628900" cy="502920"/>
          </a:xfrm>
          <a:prstGeom prst="rect">
            <a:avLst/>
          </a:prstGeom>
          <a:noFill/>
          <a:ln/>
        </p:spPr>
        <p:txBody>
          <a:bodyPr wrap="square" lIns="0" tIns="0" rIns="0" bIns="0" rtlCol="0" anchor="ctr"/>
          <a:lstStyle/>
          <a:p>
            <a:pPr marL="0" indent="0" algn="ctr">
              <a:buNone/>
            </a:pPr>
            <a:r>
              <a:rPr lang="en-US" sz="2600" b="1" dirty="0">
                <a:solidFill>
                  <a:srgbClr val="C9A24B"/>
                </a:solidFill>
                <a:latin typeface="Cambria" pitchFamily="34" charset="0"/>
                <a:ea typeface="Cambria" pitchFamily="34" charset="-122"/>
                <a:cs typeface="Cambria" pitchFamily="34" charset="-120"/>
              </a:rPr>
              <a:t>0</a:t>
            </a:r>
            <a:endParaRPr lang="en-US" sz="2600" dirty="0"/>
          </a:p>
        </p:txBody>
      </p:sp>
      <p:sp>
        <p:nvSpPr>
          <p:cNvPr id="37" name="Text 34"/>
          <p:cNvSpPr/>
          <p:nvPr/>
        </p:nvSpPr>
        <p:spPr>
          <a:xfrm>
            <a:off x="822960" y="5285232"/>
            <a:ext cx="2628900" cy="548640"/>
          </a:xfrm>
          <a:prstGeom prst="rect">
            <a:avLst/>
          </a:prstGeom>
          <a:noFill/>
          <a:ln/>
        </p:spPr>
        <p:txBody>
          <a:bodyPr wrap="square" lIns="0" tIns="0" rIns="0" bIns="0" rtlCol="0" anchor="t"/>
          <a:lstStyle/>
          <a:p>
            <a:pPr marL="0" indent="0" algn="ctr">
              <a:buNone/>
            </a:pPr>
            <a:r>
              <a:rPr lang="en-US" sz="1100" dirty="0">
                <a:solidFill>
                  <a:srgbClr val="CFE8E0"/>
                </a:solidFill>
                <a:latin typeface="Calibri" pitchFamily="34" charset="0"/>
                <a:ea typeface="Calibri" pitchFamily="34" charset="-122"/>
                <a:cs typeface="Calibri" pitchFamily="34" charset="-120"/>
              </a:rPr>
              <a:t>Malaria/Covid/حصبة</a:t>
            </a:r>
            <a:endParaRPr lang="en-US" sz="1100" dirty="0"/>
          </a:p>
        </p:txBody>
      </p:sp>
      <p:sp>
        <p:nvSpPr>
          <p:cNvPr id="38" name="Shape 35"/>
          <p:cNvSpPr/>
          <p:nvPr/>
        </p:nvSpPr>
        <p:spPr>
          <a:xfrm>
            <a:off x="3451860" y="4709160"/>
            <a:ext cx="10973" cy="1188720"/>
          </a:xfrm>
          <a:prstGeom prst="rect">
            <a:avLst/>
          </a:prstGeom>
          <a:solidFill>
            <a:srgbClr val="2A5C57"/>
          </a:solidFill>
          <a:ln/>
        </p:spPr>
      </p:sp>
      <p:sp>
        <p:nvSpPr>
          <p:cNvPr id="39" name="Text 36"/>
          <p:cNvSpPr/>
          <p:nvPr/>
        </p:nvSpPr>
        <p:spPr>
          <a:xfrm>
            <a:off x="3451860" y="4754880"/>
            <a:ext cx="2628900" cy="502920"/>
          </a:xfrm>
          <a:prstGeom prst="rect">
            <a:avLst/>
          </a:prstGeom>
          <a:noFill/>
          <a:ln/>
        </p:spPr>
        <p:txBody>
          <a:bodyPr wrap="square" lIns="0" tIns="0" rIns="0" bIns="0" rtlCol="0" anchor="ctr"/>
          <a:lstStyle/>
          <a:p>
            <a:pPr marL="0" indent="0" algn="ctr">
              <a:buNone/>
            </a:pPr>
            <a:r>
              <a:rPr lang="en-US" sz="2600" b="1" dirty="0">
                <a:solidFill>
                  <a:srgbClr val="C9A24B"/>
                </a:solidFill>
                <a:latin typeface="Cambria" pitchFamily="34" charset="0"/>
                <a:ea typeface="Cambria" pitchFamily="34" charset="-122"/>
                <a:cs typeface="Cambria" pitchFamily="34" charset="-120"/>
              </a:rPr>
              <a:t>1</a:t>
            </a:r>
            <a:endParaRPr lang="en-US" sz="2600" dirty="0"/>
          </a:p>
        </p:txBody>
      </p:sp>
      <p:sp>
        <p:nvSpPr>
          <p:cNvPr id="40" name="Text 37"/>
          <p:cNvSpPr/>
          <p:nvPr/>
        </p:nvSpPr>
        <p:spPr>
          <a:xfrm>
            <a:off x="3451860" y="5285232"/>
            <a:ext cx="2628900" cy="548640"/>
          </a:xfrm>
          <a:prstGeom prst="rect">
            <a:avLst/>
          </a:prstGeom>
          <a:noFill/>
          <a:ln/>
        </p:spPr>
        <p:txBody>
          <a:bodyPr wrap="square" lIns="0" tIns="0" rIns="0" bIns="0" rtlCol="0" anchor="t"/>
          <a:lstStyle/>
          <a:p>
            <a:pPr marL="0" indent="0" algn="ctr">
              <a:buNone/>
            </a:pPr>
            <a:r>
              <a:rPr lang="en-US" sz="1100" dirty="0">
                <a:solidFill>
                  <a:srgbClr val="CFE8E0"/>
                </a:solidFill>
                <a:latin typeface="Calibri" pitchFamily="34" charset="0"/>
                <a:ea typeface="Calibri" pitchFamily="34" charset="-122"/>
                <a:cs typeface="Calibri" pitchFamily="34" charset="-120"/>
              </a:rPr>
              <a:t>إسهال مدمى (مرّتان)</a:t>
            </a:r>
            <a:endParaRPr lang="en-US" sz="1100" dirty="0"/>
          </a:p>
        </p:txBody>
      </p:sp>
      <p:sp>
        <p:nvSpPr>
          <p:cNvPr id="41" name="Shape 38"/>
          <p:cNvSpPr/>
          <p:nvPr/>
        </p:nvSpPr>
        <p:spPr>
          <a:xfrm>
            <a:off x="6080760" y="4709160"/>
            <a:ext cx="10973" cy="1188720"/>
          </a:xfrm>
          <a:prstGeom prst="rect">
            <a:avLst/>
          </a:prstGeom>
          <a:solidFill>
            <a:srgbClr val="2A5C57"/>
          </a:solidFill>
          <a:ln/>
        </p:spPr>
      </p:sp>
      <p:sp>
        <p:nvSpPr>
          <p:cNvPr id="42" name="Text 39"/>
          <p:cNvSpPr/>
          <p:nvPr/>
        </p:nvSpPr>
        <p:spPr>
          <a:xfrm>
            <a:off x="6080760" y="4754880"/>
            <a:ext cx="2628900" cy="502920"/>
          </a:xfrm>
          <a:prstGeom prst="rect">
            <a:avLst/>
          </a:prstGeom>
          <a:noFill/>
          <a:ln/>
        </p:spPr>
        <p:txBody>
          <a:bodyPr wrap="square" lIns="0" tIns="0" rIns="0" bIns="0" rtlCol="0" anchor="ctr"/>
          <a:lstStyle/>
          <a:p>
            <a:pPr marL="0" indent="0" algn="ctr">
              <a:buNone/>
            </a:pPr>
            <a:r>
              <a:rPr lang="en-US" sz="2600" b="1" dirty="0">
                <a:solidFill>
                  <a:srgbClr val="C9A24B"/>
                </a:solidFill>
                <a:latin typeface="Cambria" pitchFamily="34" charset="0"/>
                <a:ea typeface="Cambria" pitchFamily="34" charset="-122"/>
                <a:cs typeface="Cambria" pitchFamily="34" charset="-120"/>
              </a:rPr>
              <a:t>7</a:t>
            </a:r>
            <a:endParaRPr lang="en-US" sz="2600" dirty="0"/>
          </a:p>
        </p:txBody>
      </p:sp>
      <p:sp>
        <p:nvSpPr>
          <p:cNvPr id="43" name="Text 40"/>
          <p:cNvSpPr/>
          <p:nvPr/>
        </p:nvSpPr>
        <p:spPr>
          <a:xfrm>
            <a:off x="6080760" y="5285232"/>
            <a:ext cx="2628900" cy="548640"/>
          </a:xfrm>
          <a:prstGeom prst="rect">
            <a:avLst/>
          </a:prstGeom>
          <a:noFill/>
          <a:ln/>
        </p:spPr>
        <p:txBody>
          <a:bodyPr wrap="square" lIns="0" tIns="0" rIns="0" bIns="0" rtlCol="0" anchor="t"/>
          <a:lstStyle/>
          <a:p>
            <a:pPr marL="0" indent="0" algn="ctr">
              <a:buNone/>
            </a:pPr>
            <a:r>
              <a:rPr lang="en-US" sz="1100" dirty="0">
                <a:solidFill>
                  <a:srgbClr val="CFE8E0"/>
                </a:solidFill>
                <a:latin typeface="Calibri" pitchFamily="34" charset="0"/>
                <a:ea typeface="Calibri" pitchFamily="34" charset="-122"/>
                <a:cs typeface="Calibri" pitchFamily="34" charset="-120"/>
              </a:rPr>
              <a:t>حالات Varicelle</a:t>
            </a:r>
            <a:endParaRPr lang="en-US" sz="1100" dirty="0"/>
          </a:p>
        </p:txBody>
      </p:sp>
      <p:sp>
        <p:nvSpPr>
          <p:cNvPr id="44" name="Shape 41"/>
          <p:cNvSpPr/>
          <p:nvPr/>
        </p:nvSpPr>
        <p:spPr>
          <a:xfrm>
            <a:off x="8709660" y="4709160"/>
            <a:ext cx="10973" cy="1188720"/>
          </a:xfrm>
          <a:prstGeom prst="rect">
            <a:avLst/>
          </a:prstGeom>
          <a:solidFill>
            <a:srgbClr val="2A5C57"/>
          </a:solidFill>
          <a:ln/>
        </p:spPr>
      </p:sp>
      <p:sp>
        <p:nvSpPr>
          <p:cNvPr id="45" name="Text 42"/>
          <p:cNvSpPr/>
          <p:nvPr/>
        </p:nvSpPr>
        <p:spPr>
          <a:xfrm>
            <a:off x="8709660" y="4754880"/>
            <a:ext cx="2628900" cy="502920"/>
          </a:xfrm>
          <a:prstGeom prst="rect">
            <a:avLst/>
          </a:prstGeom>
          <a:noFill/>
          <a:ln/>
        </p:spPr>
        <p:txBody>
          <a:bodyPr wrap="square" lIns="0" tIns="0" rIns="0" bIns="0" rtlCol="0" anchor="ctr"/>
          <a:lstStyle/>
          <a:p>
            <a:pPr marL="0" indent="0" algn="ctr">
              <a:buNone/>
            </a:pPr>
            <a:r>
              <a:rPr lang="en-US" sz="2600" b="1" dirty="0">
                <a:solidFill>
                  <a:srgbClr val="C9A24B"/>
                </a:solidFill>
                <a:latin typeface="Cambria" pitchFamily="34" charset="0"/>
                <a:ea typeface="Cambria" pitchFamily="34" charset="-122"/>
                <a:cs typeface="Cambria" pitchFamily="34" charset="-120"/>
              </a:rPr>
              <a:t>1</a:t>
            </a:r>
            <a:endParaRPr lang="en-US" sz="2600" dirty="0"/>
          </a:p>
        </p:txBody>
      </p:sp>
      <p:sp>
        <p:nvSpPr>
          <p:cNvPr id="46" name="Text 43"/>
          <p:cNvSpPr/>
          <p:nvPr/>
        </p:nvSpPr>
        <p:spPr>
          <a:xfrm>
            <a:off x="8709660" y="5285232"/>
            <a:ext cx="2628900" cy="548640"/>
          </a:xfrm>
          <a:prstGeom prst="rect">
            <a:avLst/>
          </a:prstGeom>
          <a:noFill/>
          <a:ln/>
        </p:spPr>
        <p:txBody>
          <a:bodyPr wrap="square" lIns="0" tIns="0" rIns="0" bIns="0" rtlCol="0" anchor="t"/>
          <a:lstStyle/>
          <a:p>
            <a:pPr marL="0" indent="0" algn="ctr">
              <a:buNone/>
            </a:pPr>
            <a:r>
              <a:rPr lang="en-US" sz="1100" dirty="0">
                <a:solidFill>
                  <a:srgbClr val="CFE8E0"/>
                </a:solidFill>
                <a:latin typeface="Calibri" pitchFamily="34" charset="0"/>
                <a:ea typeface="Calibri" pitchFamily="34" charset="-122"/>
                <a:cs typeface="Calibri" pitchFamily="34" charset="-120"/>
              </a:rPr>
              <a:t>متلازمة إنفلونزا</a:t>
            </a:r>
            <a:endParaRPr lang="en-US" sz="1100" dirty="0"/>
          </a:p>
        </p:txBody>
      </p:sp>
      <p:sp>
        <p:nvSpPr>
          <p:cNvPr id="47" name="Text 44"/>
          <p:cNvSpPr/>
          <p:nvPr/>
        </p:nvSpPr>
        <p:spPr>
          <a:xfrm>
            <a:off x="11338560" y="6355080"/>
            <a:ext cx="457200" cy="320040"/>
          </a:xfrm>
          <a:prstGeom prst="rect">
            <a:avLst/>
          </a:prstGeom>
          <a:noFill/>
          <a:ln/>
        </p:spPr>
        <p:txBody>
          <a:bodyPr wrap="square" rtlCol="0" anchor="ctr"/>
          <a:lstStyle/>
          <a:p>
            <a:pPr marL="0" indent="0" algn="ctr">
              <a:buNone/>
            </a:pPr>
            <a:r>
              <a:rPr lang="en-US" sz="1000" dirty="0">
                <a:solidFill>
                  <a:srgbClr val="5B6F6C"/>
                </a:solidFill>
                <a:latin typeface="Calibri" pitchFamily="34" charset="0"/>
                <a:ea typeface="Calibri" pitchFamily="34" charset="-122"/>
                <a:cs typeface="Calibri" pitchFamily="34" charset="-120"/>
              </a:rPr>
              <a:t>19</a:t>
            </a:r>
            <a:endParaRPr lang="en-US" sz="1000" dirty="0"/>
          </a:p>
        </p:txBody>
      </p:sp>
      <p:sp>
        <p:nvSpPr>
          <p:cNvPr id="48" name="Text 45"/>
          <p:cNvSpPr/>
          <p:nvPr/>
        </p:nvSpPr>
        <p:spPr>
          <a:xfrm>
            <a:off x="457200" y="6355080"/>
            <a:ext cx="3657600" cy="320040"/>
          </a:xfrm>
          <a:prstGeom prst="rect">
            <a:avLst/>
          </a:prstGeom>
          <a:noFill/>
          <a:ln/>
        </p:spPr>
        <p:txBody>
          <a:bodyPr wrap="square" rtlCol="0" anchor="ctr"/>
          <a:lstStyle/>
          <a:p>
            <a:pPr marL="0" indent="0" algn="l">
              <a:buNone/>
            </a:pPr>
            <a:r>
              <a:rPr lang="en-US" sz="900" dirty="0">
                <a:solidFill>
                  <a:srgbClr val="9AAFAC"/>
                </a:solidFill>
                <a:latin typeface="Calibri" pitchFamily="34" charset="0"/>
                <a:ea typeface="Calibri" pitchFamily="34" charset="-122"/>
                <a:cs typeface="Calibri" pitchFamily="34" charset="-120"/>
              </a:rPr>
              <a:t>مدرسة الصحة العمومية بسيليبابي</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9144000" cy="594360"/>
          </a:xfrm>
          <a:prstGeom prst="rect">
            <a:avLst/>
          </a:prstGeom>
          <a:noFill/>
          <a:ln/>
        </p:spPr>
        <p:txBody>
          <a:bodyPr wrap="square" lIns="0" tIns="0" rIns="0" bIns="0" rtlCol="0" anchor="ctr"/>
          <a:lstStyle/>
          <a:p>
            <a:pPr marL="0" indent="0" algn="r">
              <a:buNone/>
            </a:pPr>
            <a:r>
              <a:rPr lang="en-US" sz="2400" b="1" dirty="0">
                <a:solidFill>
                  <a:srgbClr val="0B3D3A"/>
                </a:solidFill>
                <a:latin typeface="Cambria" pitchFamily="34" charset="0"/>
                <a:ea typeface="Cambria" pitchFamily="34" charset="-122"/>
                <a:cs typeface="Cambria" pitchFamily="34" charset="-120"/>
              </a:rPr>
              <a:t>ضمان تسيير الأدوية ونظام تحصيل التكاليف</a:t>
            </a:r>
            <a:endParaRPr lang="en-US" sz="2400" dirty="0"/>
          </a:p>
        </p:txBody>
      </p:sp>
      <p:sp>
        <p:nvSpPr>
          <p:cNvPr id="3" name="Text 1"/>
          <p:cNvSpPr/>
          <p:nvPr/>
        </p:nvSpPr>
        <p:spPr>
          <a:xfrm>
            <a:off x="822960" y="987552"/>
            <a:ext cx="9144000" cy="365760"/>
          </a:xfrm>
          <a:prstGeom prst="rect">
            <a:avLst/>
          </a:prstGeom>
          <a:noFill/>
          <a:ln/>
        </p:spPr>
        <p:txBody>
          <a:bodyPr wrap="square" lIns="0" tIns="0" rIns="0" bIns="0" rtlCol="0" anchor="ctr"/>
          <a:lstStyle/>
          <a:p>
            <a:pPr marL="0" indent="0" algn="r">
              <a:buNone/>
            </a:pPr>
            <a:r>
              <a:rPr lang="en-US" sz="1300" dirty="0">
                <a:solidFill>
                  <a:srgbClr val="5B6F6C"/>
                </a:solidFill>
                <a:latin typeface="Calibri" pitchFamily="34" charset="0"/>
                <a:ea typeface="Calibri" pitchFamily="34" charset="-122"/>
                <a:cs typeface="Calibri" pitchFamily="34" charset="-120"/>
              </a:rPr>
              <a:t>عينة من نظام تسعير الأدوية في صيدلية المركز الصحي (بالأوقية الجديدة MRU)</a:t>
            </a:r>
            <a:endParaRPr lang="en-US" sz="1300" dirty="0"/>
          </a:p>
        </p:txBody>
      </p:sp>
      <p:pic>
        <p:nvPicPr>
          <p:cNvPr id="4" name="Image 0" descr="icons/flask_teal.png"/>
          <p:cNvPicPr>
            <a:picLocks noChangeAspect="1"/>
          </p:cNvPicPr>
          <p:nvPr/>
        </p:nvPicPr>
        <p:blipFill>
          <a:blip r:embed="rId3"/>
          <a:stretch>
            <a:fillRect/>
          </a:stretch>
        </p:blipFill>
        <p:spPr>
          <a:xfrm>
            <a:off x="10698480" y="457200"/>
            <a:ext cx="502920" cy="502920"/>
          </a:xfrm>
          <a:prstGeom prst="rect">
            <a:avLst/>
          </a:prstGeom>
        </p:spPr>
      </p:pic>
      <p:sp>
        <p:nvSpPr>
          <p:cNvPr id="5" name="Shape 2"/>
          <p:cNvSpPr/>
          <p:nvPr/>
        </p:nvSpPr>
        <p:spPr>
          <a:xfrm>
            <a:off x="818388" y="1691640"/>
            <a:ext cx="2542032" cy="1207008"/>
          </a:xfrm>
          <a:prstGeom prst="roundRect">
            <a:avLst>
              <a:gd name="adj" fmla="val 6061"/>
            </a:avLst>
          </a:prstGeom>
          <a:solidFill>
            <a:srgbClr val="D9F0EA"/>
          </a:solidFill>
          <a:ln/>
        </p:spPr>
      </p:sp>
      <p:sp>
        <p:nvSpPr>
          <p:cNvPr id="6" name="Text 3"/>
          <p:cNvSpPr/>
          <p:nvPr/>
        </p:nvSpPr>
        <p:spPr>
          <a:xfrm>
            <a:off x="955548" y="1801368"/>
            <a:ext cx="2267712" cy="457200"/>
          </a:xfrm>
          <a:prstGeom prst="rect">
            <a:avLst/>
          </a:prstGeom>
          <a:noFill/>
          <a:ln/>
        </p:spPr>
        <p:txBody>
          <a:bodyPr wrap="square" lIns="0" tIns="0" rIns="0" bIns="0" rtlCol="0" anchor="ctr"/>
          <a:lstStyle/>
          <a:p>
            <a:pPr marL="0" indent="0" algn="r">
              <a:buNone/>
            </a:pPr>
            <a:r>
              <a:rPr lang="en-US" sz="2200" b="1" dirty="0">
                <a:solidFill>
                  <a:srgbClr val="0B3D3A"/>
                </a:solidFill>
                <a:latin typeface="Cambria" pitchFamily="34" charset="0"/>
                <a:ea typeface="Cambria" pitchFamily="34" charset="-122"/>
                <a:cs typeface="Cambria" pitchFamily="34" charset="-120"/>
              </a:rPr>
              <a:t>80 MRU</a:t>
            </a:r>
            <a:endParaRPr lang="en-US" sz="2200" dirty="0"/>
          </a:p>
        </p:txBody>
      </p:sp>
      <p:sp>
        <p:nvSpPr>
          <p:cNvPr id="7" name="Text 4"/>
          <p:cNvSpPr/>
          <p:nvPr/>
        </p:nvSpPr>
        <p:spPr>
          <a:xfrm>
            <a:off x="955548" y="2331720"/>
            <a:ext cx="2267712" cy="457200"/>
          </a:xfrm>
          <a:prstGeom prst="rect">
            <a:avLst/>
          </a:prstGeom>
          <a:noFill/>
          <a:ln/>
        </p:spPr>
        <p:txBody>
          <a:bodyPr wrap="square" lIns="0" tIns="0" rIns="0" bIns="0" rtlCol="0" anchor="t"/>
          <a:lstStyle/>
          <a:p>
            <a:pPr marL="0" indent="0" algn="r">
              <a:buNone/>
            </a:pPr>
            <a:r>
              <a:rPr lang="en-US" sz="1200" dirty="0">
                <a:solidFill>
                  <a:srgbClr val="117A65"/>
                </a:solidFill>
                <a:latin typeface="Calibri" pitchFamily="34" charset="0"/>
                <a:ea typeface="Calibri" pitchFamily="34" charset="-122"/>
                <a:cs typeface="Calibri" pitchFamily="34" charset="-120"/>
              </a:rPr>
              <a:t>Doliprane 1000mg</a:t>
            </a:r>
            <a:endParaRPr lang="en-US" sz="1200" dirty="0"/>
          </a:p>
        </p:txBody>
      </p:sp>
      <p:sp>
        <p:nvSpPr>
          <p:cNvPr id="8" name="Shape 5"/>
          <p:cNvSpPr/>
          <p:nvPr/>
        </p:nvSpPr>
        <p:spPr>
          <a:xfrm>
            <a:off x="3479292" y="1691640"/>
            <a:ext cx="2542032" cy="1207008"/>
          </a:xfrm>
          <a:prstGeom prst="roundRect">
            <a:avLst>
              <a:gd name="adj" fmla="val 6061"/>
            </a:avLst>
          </a:prstGeom>
          <a:solidFill>
            <a:srgbClr val="D9F0EA"/>
          </a:solidFill>
          <a:ln/>
        </p:spPr>
      </p:sp>
      <p:sp>
        <p:nvSpPr>
          <p:cNvPr id="9" name="Text 6"/>
          <p:cNvSpPr/>
          <p:nvPr/>
        </p:nvSpPr>
        <p:spPr>
          <a:xfrm>
            <a:off x="3616452" y="1801368"/>
            <a:ext cx="2267712" cy="457200"/>
          </a:xfrm>
          <a:prstGeom prst="rect">
            <a:avLst/>
          </a:prstGeom>
          <a:noFill/>
          <a:ln/>
        </p:spPr>
        <p:txBody>
          <a:bodyPr wrap="square" lIns="0" tIns="0" rIns="0" bIns="0" rtlCol="0" anchor="ctr"/>
          <a:lstStyle/>
          <a:p>
            <a:pPr marL="0" indent="0" algn="r">
              <a:buNone/>
            </a:pPr>
            <a:r>
              <a:rPr lang="en-US" sz="2200" b="1" dirty="0">
                <a:solidFill>
                  <a:srgbClr val="0B3D3A"/>
                </a:solidFill>
                <a:latin typeface="Cambria" pitchFamily="34" charset="0"/>
                <a:ea typeface="Cambria" pitchFamily="34" charset="-122"/>
                <a:cs typeface="Cambria" pitchFamily="34" charset="-120"/>
              </a:rPr>
              <a:t>40 MRU</a:t>
            </a:r>
            <a:endParaRPr lang="en-US" sz="2200" dirty="0"/>
          </a:p>
        </p:txBody>
      </p:sp>
      <p:sp>
        <p:nvSpPr>
          <p:cNvPr id="10" name="Text 7"/>
          <p:cNvSpPr/>
          <p:nvPr/>
        </p:nvSpPr>
        <p:spPr>
          <a:xfrm>
            <a:off x="3616452" y="2331720"/>
            <a:ext cx="2267712" cy="457200"/>
          </a:xfrm>
          <a:prstGeom prst="rect">
            <a:avLst/>
          </a:prstGeom>
          <a:noFill/>
          <a:ln/>
        </p:spPr>
        <p:txBody>
          <a:bodyPr wrap="square" lIns="0" tIns="0" rIns="0" bIns="0" rtlCol="0" anchor="t"/>
          <a:lstStyle/>
          <a:p>
            <a:pPr marL="0" indent="0" algn="r">
              <a:buNone/>
            </a:pPr>
            <a:r>
              <a:rPr lang="en-US" sz="1200" dirty="0">
                <a:solidFill>
                  <a:srgbClr val="117A65"/>
                </a:solidFill>
                <a:latin typeface="Calibri" pitchFamily="34" charset="0"/>
                <a:ea typeface="Calibri" pitchFamily="34" charset="-122"/>
                <a:cs typeface="Calibri" pitchFamily="34" charset="-120"/>
              </a:rPr>
              <a:t>Glucose 10% 500ml</a:t>
            </a:r>
            <a:endParaRPr lang="en-US" sz="1200" dirty="0"/>
          </a:p>
        </p:txBody>
      </p:sp>
      <p:sp>
        <p:nvSpPr>
          <p:cNvPr id="11" name="Shape 8"/>
          <p:cNvSpPr/>
          <p:nvPr/>
        </p:nvSpPr>
        <p:spPr>
          <a:xfrm>
            <a:off x="6140196" y="1691640"/>
            <a:ext cx="2542032" cy="1207008"/>
          </a:xfrm>
          <a:prstGeom prst="roundRect">
            <a:avLst>
              <a:gd name="adj" fmla="val 6061"/>
            </a:avLst>
          </a:prstGeom>
          <a:solidFill>
            <a:srgbClr val="D9F0EA"/>
          </a:solidFill>
          <a:ln/>
        </p:spPr>
      </p:sp>
      <p:sp>
        <p:nvSpPr>
          <p:cNvPr id="12" name="Text 9"/>
          <p:cNvSpPr/>
          <p:nvPr/>
        </p:nvSpPr>
        <p:spPr>
          <a:xfrm>
            <a:off x="6277356" y="1801368"/>
            <a:ext cx="2267712" cy="457200"/>
          </a:xfrm>
          <a:prstGeom prst="rect">
            <a:avLst/>
          </a:prstGeom>
          <a:noFill/>
          <a:ln/>
        </p:spPr>
        <p:txBody>
          <a:bodyPr wrap="square" lIns="0" tIns="0" rIns="0" bIns="0" rtlCol="0" anchor="ctr"/>
          <a:lstStyle/>
          <a:p>
            <a:pPr marL="0" indent="0" algn="r">
              <a:buNone/>
            </a:pPr>
            <a:r>
              <a:rPr lang="en-US" sz="2200" b="1" dirty="0">
                <a:solidFill>
                  <a:srgbClr val="0B3D3A"/>
                </a:solidFill>
                <a:latin typeface="Cambria" pitchFamily="34" charset="0"/>
                <a:ea typeface="Cambria" pitchFamily="34" charset="-122"/>
                <a:cs typeface="Cambria" pitchFamily="34" charset="-120"/>
              </a:rPr>
              <a:t>250 MRU</a:t>
            </a:r>
            <a:endParaRPr lang="en-US" sz="2200" dirty="0"/>
          </a:p>
        </p:txBody>
      </p:sp>
      <p:sp>
        <p:nvSpPr>
          <p:cNvPr id="13" name="Text 10"/>
          <p:cNvSpPr/>
          <p:nvPr/>
        </p:nvSpPr>
        <p:spPr>
          <a:xfrm>
            <a:off x="6277356" y="2331720"/>
            <a:ext cx="2267712" cy="457200"/>
          </a:xfrm>
          <a:prstGeom prst="rect">
            <a:avLst/>
          </a:prstGeom>
          <a:noFill/>
          <a:ln/>
        </p:spPr>
        <p:txBody>
          <a:bodyPr wrap="square" lIns="0" tIns="0" rIns="0" bIns="0" rtlCol="0" anchor="t"/>
          <a:lstStyle/>
          <a:p>
            <a:pPr marL="0" indent="0" algn="r">
              <a:buNone/>
            </a:pPr>
            <a:r>
              <a:rPr lang="en-US" sz="1200" dirty="0">
                <a:solidFill>
                  <a:srgbClr val="117A65"/>
                </a:solidFill>
                <a:latin typeface="Calibri" pitchFamily="34" charset="0"/>
                <a:ea typeface="Calibri" pitchFamily="34" charset="-122"/>
                <a:cs typeface="Calibri" pitchFamily="34" charset="-120"/>
              </a:rPr>
              <a:t>Lefotaxine</a:t>
            </a:r>
            <a:endParaRPr lang="en-US" sz="1200" dirty="0"/>
          </a:p>
        </p:txBody>
      </p:sp>
      <p:sp>
        <p:nvSpPr>
          <p:cNvPr id="14" name="Shape 11"/>
          <p:cNvSpPr/>
          <p:nvPr/>
        </p:nvSpPr>
        <p:spPr>
          <a:xfrm>
            <a:off x="8801100" y="1691640"/>
            <a:ext cx="2542032" cy="1207008"/>
          </a:xfrm>
          <a:prstGeom prst="roundRect">
            <a:avLst>
              <a:gd name="adj" fmla="val 6061"/>
            </a:avLst>
          </a:prstGeom>
          <a:solidFill>
            <a:srgbClr val="D9F0EA"/>
          </a:solidFill>
          <a:ln/>
        </p:spPr>
      </p:sp>
      <p:sp>
        <p:nvSpPr>
          <p:cNvPr id="15" name="Text 12"/>
          <p:cNvSpPr/>
          <p:nvPr/>
        </p:nvSpPr>
        <p:spPr>
          <a:xfrm>
            <a:off x="8938260" y="1801368"/>
            <a:ext cx="2267712" cy="457200"/>
          </a:xfrm>
          <a:prstGeom prst="rect">
            <a:avLst/>
          </a:prstGeom>
          <a:noFill/>
          <a:ln/>
        </p:spPr>
        <p:txBody>
          <a:bodyPr wrap="square" lIns="0" tIns="0" rIns="0" bIns="0" rtlCol="0" anchor="ctr"/>
          <a:lstStyle/>
          <a:p>
            <a:pPr marL="0" indent="0" algn="r">
              <a:buNone/>
            </a:pPr>
            <a:r>
              <a:rPr lang="en-US" sz="2200" b="1" dirty="0">
                <a:solidFill>
                  <a:srgbClr val="0B3D3A"/>
                </a:solidFill>
                <a:latin typeface="Cambria" pitchFamily="34" charset="0"/>
                <a:ea typeface="Cambria" pitchFamily="34" charset="-122"/>
                <a:cs typeface="Cambria" pitchFamily="34" charset="-120"/>
              </a:rPr>
              <a:t>310 MRU</a:t>
            </a:r>
            <a:endParaRPr lang="en-US" sz="2200" dirty="0"/>
          </a:p>
        </p:txBody>
      </p:sp>
      <p:sp>
        <p:nvSpPr>
          <p:cNvPr id="16" name="Text 13"/>
          <p:cNvSpPr/>
          <p:nvPr/>
        </p:nvSpPr>
        <p:spPr>
          <a:xfrm>
            <a:off x="8938260" y="2331720"/>
            <a:ext cx="2267712" cy="457200"/>
          </a:xfrm>
          <a:prstGeom prst="rect">
            <a:avLst/>
          </a:prstGeom>
          <a:noFill/>
          <a:ln/>
        </p:spPr>
        <p:txBody>
          <a:bodyPr wrap="square" lIns="0" tIns="0" rIns="0" bIns="0" rtlCol="0" anchor="t"/>
          <a:lstStyle/>
          <a:p>
            <a:pPr marL="0" indent="0" algn="r">
              <a:buNone/>
            </a:pPr>
            <a:r>
              <a:rPr lang="en-US" sz="1200" dirty="0">
                <a:solidFill>
                  <a:srgbClr val="117A65"/>
                </a:solidFill>
                <a:latin typeface="Calibri" pitchFamily="34" charset="0"/>
                <a:ea typeface="Calibri" pitchFamily="34" charset="-122"/>
                <a:cs typeface="Calibri" pitchFamily="34" charset="-120"/>
              </a:rPr>
              <a:t>Aclav 125mg</a:t>
            </a:r>
            <a:endParaRPr lang="en-US" sz="1200" dirty="0"/>
          </a:p>
        </p:txBody>
      </p:sp>
      <p:sp>
        <p:nvSpPr>
          <p:cNvPr id="17" name="Shape 14"/>
          <p:cNvSpPr/>
          <p:nvPr/>
        </p:nvSpPr>
        <p:spPr>
          <a:xfrm>
            <a:off x="818388" y="3017520"/>
            <a:ext cx="2542032" cy="1207008"/>
          </a:xfrm>
          <a:prstGeom prst="roundRect">
            <a:avLst>
              <a:gd name="adj" fmla="val 6061"/>
            </a:avLst>
          </a:prstGeom>
          <a:solidFill>
            <a:srgbClr val="EFF6F3"/>
          </a:solidFill>
          <a:ln/>
        </p:spPr>
      </p:sp>
      <p:sp>
        <p:nvSpPr>
          <p:cNvPr id="18" name="Text 15"/>
          <p:cNvSpPr/>
          <p:nvPr/>
        </p:nvSpPr>
        <p:spPr>
          <a:xfrm>
            <a:off x="955548" y="3127248"/>
            <a:ext cx="2267712" cy="457200"/>
          </a:xfrm>
          <a:prstGeom prst="rect">
            <a:avLst/>
          </a:prstGeom>
          <a:noFill/>
          <a:ln/>
        </p:spPr>
        <p:txBody>
          <a:bodyPr wrap="square" lIns="0" tIns="0" rIns="0" bIns="0" rtlCol="0" anchor="ctr"/>
          <a:lstStyle/>
          <a:p>
            <a:pPr marL="0" indent="0" algn="r">
              <a:buNone/>
            </a:pPr>
            <a:r>
              <a:rPr lang="en-US" sz="2200" b="1" dirty="0">
                <a:solidFill>
                  <a:srgbClr val="0B3D3A"/>
                </a:solidFill>
                <a:latin typeface="Cambria" pitchFamily="34" charset="0"/>
                <a:ea typeface="Cambria" pitchFamily="34" charset="-122"/>
                <a:cs typeface="Cambria" pitchFamily="34" charset="-120"/>
              </a:rPr>
              <a:t>200 MRU</a:t>
            </a:r>
            <a:endParaRPr lang="en-US" sz="2200" dirty="0"/>
          </a:p>
        </p:txBody>
      </p:sp>
      <p:sp>
        <p:nvSpPr>
          <p:cNvPr id="19" name="Text 16"/>
          <p:cNvSpPr/>
          <p:nvPr/>
        </p:nvSpPr>
        <p:spPr>
          <a:xfrm>
            <a:off x="955548" y="3657600"/>
            <a:ext cx="2267712" cy="457200"/>
          </a:xfrm>
          <a:prstGeom prst="rect">
            <a:avLst/>
          </a:prstGeom>
          <a:noFill/>
          <a:ln/>
        </p:spPr>
        <p:txBody>
          <a:bodyPr wrap="square" lIns="0" tIns="0" rIns="0" bIns="0" rtlCol="0" anchor="t"/>
          <a:lstStyle/>
          <a:p>
            <a:pPr marL="0" indent="0" algn="r">
              <a:buNone/>
            </a:pPr>
            <a:r>
              <a:rPr lang="en-US" sz="1200" dirty="0">
                <a:solidFill>
                  <a:srgbClr val="117A65"/>
                </a:solidFill>
                <a:latin typeface="Calibri" pitchFamily="34" charset="0"/>
                <a:ea typeface="Calibri" pitchFamily="34" charset="-122"/>
                <a:cs typeface="Calibri" pitchFamily="34" charset="-120"/>
              </a:rPr>
              <a:t>Dexa</a:t>
            </a:r>
            <a:endParaRPr lang="en-US" sz="1200" dirty="0"/>
          </a:p>
        </p:txBody>
      </p:sp>
      <p:sp>
        <p:nvSpPr>
          <p:cNvPr id="20" name="Shape 17"/>
          <p:cNvSpPr/>
          <p:nvPr/>
        </p:nvSpPr>
        <p:spPr>
          <a:xfrm>
            <a:off x="3479292" y="3017520"/>
            <a:ext cx="2542032" cy="1207008"/>
          </a:xfrm>
          <a:prstGeom prst="roundRect">
            <a:avLst>
              <a:gd name="adj" fmla="val 6061"/>
            </a:avLst>
          </a:prstGeom>
          <a:solidFill>
            <a:srgbClr val="EFF6F3"/>
          </a:solidFill>
          <a:ln/>
        </p:spPr>
      </p:sp>
      <p:sp>
        <p:nvSpPr>
          <p:cNvPr id="21" name="Text 18"/>
          <p:cNvSpPr/>
          <p:nvPr/>
        </p:nvSpPr>
        <p:spPr>
          <a:xfrm>
            <a:off x="3616452" y="3127248"/>
            <a:ext cx="2267712" cy="457200"/>
          </a:xfrm>
          <a:prstGeom prst="rect">
            <a:avLst/>
          </a:prstGeom>
          <a:noFill/>
          <a:ln/>
        </p:spPr>
        <p:txBody>
          <a:bodyPr wrap="square" lIns="0" tIns="0" rIns="0" bIns="0" rtlCol="0" anchor="ctr"/>
          <a:lstStyle/>
          <a:p>
            <a:pPr marL="0" indent="0" algn="r">
              <a:buNone/>
            </a:pPr>
            <a:r>
              <a:rPr lang="en-US" sz="2200" b="1" dirty="0">
                <a:solidFill>
                  <a:srgbClr val="0B3D3A"/>
                </a:solidFill>
                <a:latin typeface="Cambria" pitchFamily="34" charset="0"/>
                <a:ea typeface="Cambria" pitchFamily="34" charset="-122"/>
                <a:cs typeface="Cambria" pitchFamily="34" charset="-120"/>
              </a:rPr>
              <a:t>120 MRU</a:t>
            </a:r>
            <a:endParaRPr lang="en-US" sz="2200" dirty="0"/>
          </a:p>
        </p:txBody>
      </p:sp>
      <p:sp>
        <p:nvSpPr>
          <p:cNvPr id="22" name="Text 19"/>
          <p:cNvSpPr/>
          <p:nvPr/>
        </p:nvSpPr>
        <p:spPr>
          <a:xfrm>
            <a:off x="3616452" y="3657600"/>
            <a:ext cx="2267712" cy="457200"/>
          </a:xfrm>
          <a:prstGeom prst="rect">
            <a:avLst/>
          </a:prstGeom>
          <a:noFill/>
          <a:ln/>
        </p:spPr>
        <p:txBody>
          <a:bodyPr wrap="square" lIns="0" tIns="0" rIns="0" bIns="0" rtlCol="0" anchor="t"/>
          <a:lstStyle/>
          <a:p>
            <a:pPr marL="0" indent="0" algn="r">
              <a:buNone/>
            </a:pPr>
            <a:r>
              <a:rPr lang="en-US" sz="1200" dirty="0">
                <a:solidFill>
                  <a:srgbClr val="117A65"/>
                </a:solidFill>
                <a:latin typeface="Calibri" pitchFamily="34" charset="0"/>
                <a:ea typeface="Calibri" pitchFamily="34" charset="-122"/>
                <a:cs typeface="Calibri" pitchFamily="34" charset="-120"/>
              </a:rPr>
              <a:t>Poliginax</a:t>
            </a:r>
            <a:endParaRPr lang="en-US" sz="1200" dirty="0"/>
          </a:p>
        </p:txBody>
      </p:sp>
      <p:sp>
        <p:nvSpPr>
          <p:cNvPr id="23" name="Shape 20"/>
          <p:cNvSpPr/>
          <p:nvPr/>
        </p:nvSpPr>
        <p:spPr>
          <a:xfrm>
            <a:off x="6140196" y="3017520"/>
            <a:ext cx="2542032" cy="1207008"/>
          </a:xfrm>
          <a:prstGeom prst="roundRect">
            <a:avLst>
              <a:gd name="adj" fmla="val 6061"/>
            </a:avLst>
          </a:prstGeom>
          <a:solidFill>
            <a:srgbClr val="EFF6F3"/>
          </a:solidFill>
          <a:ln/>
        </p:spPr>
      </p:sp>
      <p:sp>
        <p:nvSpPr>
          <p:cNvPr id="24" name="Text 21"/>
          <p:cNvSpPr/>
          <p:nvPr/>
        </p:nvSpPr>
        <p:spPr>
          <a:xfrm>
            <a:off x="6277356" y="3127248"/>
            <a:ext cx="2267712" cy="457200"/>
          </a:xfrm>
          <a:prstGeom prst="rect">
            <a:avLst/>
          </a:prstGeom>
          <a:noFill/>
          <a:ln/>
        </p:spPr>
        <p:txBody>
          <a:bodyPr wrap="square" lIns="0" tIns="0" rIns="0" bIns="0" rtlCol="0" anchor="ctr"/>
          <a:lstStyle/>
          <a:p>
            <a:pPr marL="0" indent="0" algn="r">
              <a:buNone/>
            </a:pPr>
            <a:r>
              <a:rPr lang="en-US" sz="2200" b="1" dirty="0">
                <a:solidFill>
                  <a:srgbClr val="0B3D3A"/>
                </a:solidFill>
                <a:latin typeface="Cambria" pitchFamily="34" charset="0"/>
                <a:ea typeface="Cambria" pitchFamily="34" charset="-122"/>
                <a:cs typeface="Cambria" pitchFamily="34" charset="-120"/>
              </a:rPr>
              <a:t>150 MRU</a:t>
            </a:r>
            <a:endParaRPr lang="en-US" sz="2200" dirty="0"/>
          </a:p>
        </p:txBody>
      </p:sp>
      <p:sp>
        <p:nvSpPr>
          <p:cNvPr id="25" name="Text 22"/>
          <p:cNvSpPr/>
          <p:nvPr/>
        </p:nvSpPr>
        <p:spPr>
          <a:xfrm>
            <a:off x="6277356" y="3657600"/>
            <a:ext cx="2267712" cy="457200"/>
          </a:xfrm>
          <a:prstGeom prst="rect">
            <a:avLst/>
          </a:prstGeom>
          <a:noFill/>
          <a:ln/>
        </p:spPr>
        <p:txBody>
          <a:bodyPr wrap="square" lIns="0" tIns="0" rIns="0" bIns="0" rtlCol="0" anchor="t"/>
          <a:lstStyle/>
          <a:p>
            <a:pPr marL="0" indent="0" algn="r">
              <a:buNone/>
            </a:pPr>
            <a:r>
              <a:rPr lang="en-US" sz="1200" dirty="0">
                <a:solidFill>
                  <a:srgbClr val="117A65"/>
                </a:solidFill>
                <a:latin typeface="Calibri" pitchFamily="34" charset="0"/>
                <a:ea typeface="Calibri" pitchFamily="34" charset="-122"/>
                <a:cs typeface="Calibri" pitchFamily="34" charset="-120"/>
              </a:rPr>
              <a:t>Band</a:t>
            </a:r>
            <a:endParaRPr lang="en-US" sz="1200" dirty="0"/>
          </a:p>
        </p:txBody>
      </p:sp>
      <p:sp>
        <p:nvSpPr>
          <p:cNvPr id="26" name="Shape 23"/>
          <p:cNvSpPr/>
          <p:nvPr/>
        </p:nvSpPr>
        <p:spPr>
          <a:xfrm>
            <a:off x="8801100" y="3017520"/>
            <a:ext cx="2542032" cy="1207008"/>
          </a:xfrm>
          <a:prstGeom prst="roundRect">
            <a:avLst>
              <a:gd name="adj" fmla="val 6061"/>
            </a:avLst>
          </a:prstGeom>
          <a:solidFill>
            <a:srgbClr val="EFF6F3"/>
          </a:solidFill>
          <a:ln/>
        </p:spPr>
      </p:sp>
      <p:sp>
        <p:nvSpPr>
          <p:cNvPr id="27" name="Text 24"/>
          <p:cNvSpPr/>
          <p:nvPr/>
        </p:nvSpPr>
        <p:spPr>
          <a:xfrm>
            <a:off x="8938260" y="3127248"/>
            <a:ext cx="2267712" cy="457200"/>
          </a:xfrm>
          <a:prstGeom prst="rect">
            <a:avLst/>
          </a:prstGeom>
          <a:noFill/>
          <a:ln/>
        </p:spPr>
        <p:txBody>
          <a:bodyPr wrap="square" lIns="0" tIns="0" rIns="0" bIns="0" rtlCol="0" anchor="ctr"/>
          <a:lstStyle/>
          <a:p>
            <a:pPr marL="0" indent="0" algn="r">
              <a:buNone/>
            </a:pPr>
            <a:r>
              <a:rPr lang="en-US" sz="2200" b="1" dirty="0">
                <a:solidFill>
                  <a:srgbClr val="0B3D3A"/>
                </a:solidFill>
                <a:latin typeface="Cambria" pitchFamily="34" charset="0"/>
                <a:ea typeface="Cambria" pitchFamily="34" charset="-122"/>
                <a:cs typeface="Cambria" pitchFamily="34" charset="-120"/>
              </a:rPr>
              <a:t>150 MRU</a:t>
            </a:r>
            <a:endParaRPr lang="en-US" sz="2200" dirty="0"/>
          </a:p>
        </p:txBody>
      </p:sp>
      <p:sp>
        <p:nvSpPr>
          <p:cNvPr id="28" name="Text 25"/>
          <p:cNvSpPr/>
          <p:nvPr/>
        </p:nvSpPr>
        <p:spPr>
          <a:xfrm>
            <a:off x="8938260" y="3657600"/>
            <a:ext cx="2267712" cy="457200"/>
          </a:xfrm>
          <a:prstGeom prst="rect">
            <a:avLst/>
          </a:prstGeom>
          <a:noFill/>
          <a:ln/>
        </p:spPr>
        <p:txBody>
          <a:bodyPr wrap="square" lIns="0" tIns="0" rIns="0" bIns="0" rtlCol="0" anchor="t"/>
          <a:lstStyle/>
          <a:p>
            <a:pPr marL="0" indent="0" algn="r">
              <a:buNone/>
            </a:pPr>
            <a:r>
              <a:rPr lang="en-US" sz="1200" dirty="0">
                <a:solidFill>
                  <a:srgbClr val="117A65"/>
                </a:solidFill>
                <a:latin typeface="Calibri" pitchFamily="34" charset="0"/>
                <a:ea typeface="Calibri" pitchFamily="34" charset="-122"/>
                <a:cs typeface="Calibri" pitchFamily="34" charset="-120"/>
              </a:rPr>
              <a:t>Dislep</a:t>
            </a:r>
            <a:endParaRPr lang="en-US" sz="1200" dirty="0"/>
          </a:p>
        </p:txBody>
      </p:sp>
      <p:sp>
        <p:nvSpPr>
          <p:cNvPr id="29" name="Shape 26"/>
          <p:cNvSpPr/>
          <p:nvPr/>
        </p:nvSpPr>
        <p:spPr>
          <a:xfrm>
            <a:off x="818388" y="4343400"/>
            <a:ext cx="2542032" cy="1207008"/>
          </a:xfrm>
          <a:prstGeom prst="roundRect">
            <a:avLst>
              <a:gd name="adj" fmla="val 6061"/>
            </a:avLst>
          </a:prstGeom>
          <a:solidFill>
            <a:srgbClr val="D9F0EA"/>
          </a:solidFill>
          <a:ln/>
        </p:spPr>
      </p:sp>
      <p:sp>
        <p:nvSpPr>
          <p:cNvPr id="30" name="Text 27"/>
          <p:cNvSpPr/>
          <p:nvPr/>
        </p:nvSpPr>
        <p:spPr>
          <a:xfrm>
            <a:off x="955548" y="4453128"/>
            <a:ext cx="2267712" cy="457200"/>
          </a:xfrm>
          <a:prstGeom prst="rect">
            <a:avLst/>
          </a:prstGeom>
          <a:noFill/>
          <a:ln/>
        </p:spPr>
        <p:txBody>
          <a:bodyPr wrap="square" lIns="0" tIns="0" rIns="0" bIns="0" rtlCol="0" anchor="ctr"/>
          <a:lstStyle/>
          <a:p>
            <a:pPr marL="0" indent="0" algn="r">
              <a:buNone/>
            </a:pPr>
            <a:r>
              <a:rPr lang="en-US" sz="2200" b="1" dirty="0">
                <a:solidFill>
                  <a:srgbClr val="0B3D3A"/>
                </a:solidFill>
                <a:latin typeface="Cambria" pitchFamily="34" charset="0"/>
                <a:ea typeface="Cambria" pitchFamily="34" charset="-122"/>
                <a:cs typeface="Cambria" pitchFamily="34" charset="-120"/>
              </a:rPr>
              <a:t>120 MRU</a:t>
            </a:r>
            <a:endParaRPr lang="en-US" sz="2200" dirty="0"/>
          </a:p>
        </p:txBody>
      </p:sp>
      <p:sp>
        <p:nvSpPr>
          <p:cNvPr id="31" name="Text 28"/>
          <p:cNvSpPr/>
          <p:nvPr/>
        </p:nvSpPr>
        <p:spPr>
          <a:xfrm>
            <a:off x="955548" y="4983480"/>
            <a:ext cx="2267712" cy="457200"/>
          </a:xfrm>
          <a:prstGeom prst="rect">
            <a:avLst/>
          </a:prstGeom>
          <a:noFill/>
          <a:ln/>
        </p:spPr>
        <p:txBody>
          <a:bodyPr wrap="square" lIns="0" tIns="0" rIns="0" bIns="0" rtlCol="0" anchor="t"/>
          <a:lstStyle/>
          <a:p>
            <a:pPr marL="0" indent="0" algn="r">
              <a:buNone/>
            </a:pPr>
            <a:r>
              <a:rPr lang="en-US" sz="1200" dirty="0">
                <a:solidFill>
                  <a:srgbClr val="117A65"/>
                </a:solidFill>
                <a:latin typeface="Calibri" pitchFamily="34" charset="0"/>
                <a:ea typeface="Calibri" pitchFamily="34" charset="-122"/>
                <a:cs typeface="Calibri" pitchFamily="34" charset="-120"/>
              </a:rPr>
              <a:t>Filsutur</a:t>
            </a:r>
            <a:endParaRPr lang="en-US" sz="1200" dirty="0"/>
          </a:p>
        </p:txBody>
      </p:sp>
      <p:sp>
        <p:nvSpPr>
          <p:cNvPr id="32" name="Shape 29"/>
          <p:cNvSpPr/>
          <p:nvPr/>
        </p:nvSpPr>
        <p:spPr>
          <a:xfrm>
            <a:off x="3479292" y="4343400"/>
            <a:ext cx="2542032" cy="1207008"/>
          </a:xfrm>
          <a:prstGeom prst="roundRect">
            <a:avLst>
              <a:gd name="adj" fmla="val 6061"/>
            </a:avLst>
          </a:prstGeom>
          <a:solidFill>
            <a:srgbClr val="D9F0EA"/>
          </a:solidFill>
          <a:ln/>
        </p:spPr>
      </p:sp>
      <p:sp>
        <p:nvSpPr>
          <p:cNvPr id="33" name="Text 30"/>
          <p:cNvSpPr/>
          <p:nvPr/>
        </p:nvSpPr>
        <p:spPr>
          <a:xfrm>
            <a:off x="3616452" y="4453128"/>
            <a:ext cx="2267712" cy="457200"/>
          </a:xfrm>
          <a:prstGeom prst="rect">
            <a:avLst/>
          </a:prstGeom>
          <a:noFill/>
          <a:ln/>
        </p:spPr>
        <p:txBody>
          <a:bodyPr wrap="square" lIns="0" tIns="0" rIns="0" bIns="0" rtlCol="0" anchor="ctr"/>
          <a:lstStyle/>
          <a:p>
            <a:pPr marL="0" indent="0" algn="r">
              <a:buNone/>
            </a:pPr>
            <a:r>
              <a:rPr lang="en-US" sz="2200" b="1" dirty="0">
                <a:solidFill>
                  <a:srgbClr val="0B3D3A"/>
                </a:solidFill>
                <a:latin typeface="Cambria" pitchFamily="34" charset="0"/>
                <a:ea typeface="Cambria" pitchFamily="34" charset="-122"/>
                <a:cs typeface="Cambria" pitchFamily="34" charset="-120"/>
              </a:rPr>
              <a:t>220 MRU</a:t>
            </a:r>
            <a:endParaRPr lang="en-US" sz="2200" dirty="0"/>
          </a:p>
        </p:txBody>
      </p:sp>
      <p:sp>
        <p:nvSpPr>
          <p:cNvPr id="34" name="Text 31"/>
          <p:cNvSpPr/>
          <p:nvPr/>
        </p:nvSpPr>
        <p:spPr>
          <a:xfrm>
            <a:off x="3616452" y="4983480"/>
            <a:ext cx="2267712" cy="457200"/>
          </a:xfrm>
          <a:prstGeom prst="rect">
            <a:avLst/>
          </a:prstGeom>
          <a:noFill/>
          <a:ln/>
        </p:spPr>
        <p:txBody>
          <a:bodyPr wrap="square" lIns="0" tIns="0" rIns="0" bIns="0" rtlCol="0" anchor="t"/>
          <a:lstStyle/>
          <a:p>
            <a:pPr marL="0" indent="0" algn="r">
              <a:buNone/>
            </a:pPr>
            <a:r>
              <a:rPr lang="en-US" sz="1200" dirty="0">
                <a:solidFill>
                  <a:srgbClr val="117A65"/>
                </a:solidFill>
                <a:latin typeface="Calibri" pitchFamily="34" charset="0"/>
                <a:ea typeface="Calibri" pitchFamily="34" charset="-122"/>
                <a:cs typeface="Calibri" pitchFamily="34" charset="-120"/>
              </a:rPr>
              <a:t>Amoxi+Ac 100mg sp</a:t>
            </a:r>
            <a:endParaRPr lang="en-US" sz="1200" dirty="0"/>
          </a:p>
        </p:txBody>
      </p:sp>
      <p:sp>
        <p:nvSpPr>
          <p:cNvPr id="35" name="Shape 32"/>
          <p:cNvSpPr/>
          <p:nvPr/>
        </p:nvSpPr>
        <p:spPr>
          <a:xfrm>
            <a:off x="6140196" y="4343400"/>
            <a:ext cx="2542032" cy="1207008"/>
          </a:xfrm>
          <a:prstGeom prst="roundRect">
            <a:avLst>
              <a:gd name="adj" fmla="val 6061"/>
            </a:avLst>
          </a:prstGeom>
          <a:solidFill>
            <a:srgbClr val="D9F0EA"/>
          </a:solidFill>
          <a:ln/>
        </p:spPr>
      </p:sp>
      <p:sp>
        <p:nvSpPr>
          <p:cNvPr id="36" name="Text 33"/>
          <p:cNvSpPr/>
          <p:nvPr/>
        </p:nvSpPr>
        <p:spPr>
          <a:xfrm>
            <a:off x="6277356" y="4453128"/>
            <a:ext cx="2267712" cy="457200"/>
          </a:xfrm>
          <a:prstGeom prst="rect">
            <a:avLst/>
          </a:prstGeom>
          <a:noFill/>
          <a:ln/>
        </p:spPr>
        <p:txBody>
          <a:bodyPr wrap="square" lIns="0" tIns="0" rIns="0" bIns="0" rtlCol="0" anchor="ctr"/>
          <a:lstStyle/>
          <a:p>
            <a:pPr marL="0" indent="0" algn="r">
              <a:buNone/>
            </a:pPr>
            <a:r>
              <a:rPr lang="en-US" sz="2200" b="1" dirty="0">
                <a:solidFill>
                  <a:srgbClr val="0B3D3A"/>
                </a:solidFill>
                <a:latin typeface="Cambria" pitchFamily="34" charset="0"/>
                <a:ea typeface="Cambria" pitchFamily="34" charset="-122"/>
                <a:cs typeface="Cambria" pitchFamily="34" charset="-120"/>
              </a:rPr>
              <a:t>120 MRU</a:t>
            </a:r>
            <a:endParaRPr lang="en-US" sz="2200" dirty="0"/>
          </a:p>
        </p:txBody>
      </p:sp>
      <p:sp>
        <p:nvSpPr>
          <p:cNvPr id="37" name="Text 34"/>
          <p:cNvSpPr/>
          <p:nvPr/>
        </p:nvSpPr>
        <p:spPr>
          <a:xfrm>
            <a:off x="6277356" y="4983480"/>
            <a:ext cx="2267712" cy="457200"/>
          </a:xfrm>
          <a:prstGeom prst="rect">
            <a:avLst/>
          </a:prstGeom>
          <a:noFill/>
          <a:ln/>
        </p:spPr>
        <p:txBody>
          <a:bodyPr wrap="square" lIns="0" tIns="0" rIns="0" bIns="0" rtlCol="0" anchor="t"/>
          <a:lstStyle/>
          <a:p>
            <a:pPr marL="0" indent="0" algn="r">
              <a:buNone/>
            </a:pPr>
            <a:r>
              <a:rPr lang="en-US" sz="1200" dirty="0">
                <a:solidFill>
                  <a:srgbClr val="117A65"/>
                </a:solidFill>
                <a:latin typeface="Calibri" pitchFamily="34" charset="0"/>
                <a:ea typeface="Calibri" pitchFamily="34" charset="-122"/>
                <a:cs typeface="Calibri" pitchFamily="34" charset="-120"/>
              </a:rPr>
              <a:t>Oflocit inj</a:t>
            </a:r>
            <a:endParaRPr lang="en-US" sz="1200" dirty="0"/>
          </a:p>
        </p:txBody>
      </p:sp>
      <p:sp>
        <p:nvSpPr>
          <p:cNvPr id="38" name="Shape 35"/>
          <p:cNvSpPr/>
          <p:nvPr/>
        </p:nvSpPr>
        <p:spPr>
          <a:xfrm>
            <a:off x="8801100" y="4343400"/>
            <a:ext cx="2542032" cy="1207008"/>
          </a:xfrm>
          <a:prstGeom prst="roundRect">
            <a:avLst>
              <a:gd name="adj" fmla="val 6061"/>
            </a:avLst>
          </a:prstGeom>
          <a:solidFill>
            <a:srgbClr val="D9F0EA"/>
          </a:solidFill>
          <a:ln/>
        </p:spPr>
      </p:sp>
      <p:sp>
        <p:nvSpPr>
          <p:cNvPr id="39" name="Text 36"/>
          <p:cNvSpPr/>
          <p:nvPr/>
        </p:nvSpPr>
        <p:spPr>
          <a:xfrm>
            <a:off x="8938260" y="4453128"/>
            <a:ext cx="2267712" cy="457200"/>
          </a:xfrm>
          <a:prstGeom prst="rect">
            <a:avLst/>
          </a:prstGeom>
          <a:noFill/>
          <a:ln/>
        </p:spPr>
        <p:txBody>
          <a:bodyPr wrap="square" lIns="0" tIns="0" rIns="0" bIns="0" rtlCol="0" anchor="ctr"/>
          <a:lstStyle/>
          <a:p>
            <a:pPr marL="0" indent="0" algn="r">
              <a:buNone/>
            </a:pPr>
            <a:r>
              <a:rPr lang="en-US" sz="2200" b="1" dirty="0">
                <a:solidFill>
                  <a:srgbClr val="0B3D3A"/>
                </a:solidFill>
                <a:latin typeface="Cambria" pitchFamily="34" charset="0"/>
                <a:ea typeface="Cambria" pitchFamily="34" charset="-122"/>
                <a:cs typeface="Cambria" pitchFamily="34" charset="-120"/>
              </a:rPr>
              <a:t>150 MRU</a:t>
            </a:r>
            <a:endParaRPr lang="en-US" sz="2200" dirty="0"/>
          </a:p>
        </p:txBody>
      </p:sp>
      <p:sp>
        <p:nvSpPr>
          <p:cNvPr id="40" name="Text 37"/>
          <p:cNvSpPr/>
          <p:nvPr/>
        </p:nvSpPr>
        <p:spPr>
          <a:xfrm>
            <a:off x="8938260" y="4983480"/>
            <a:ext cx="2267712" cy="457200"/>
          </a:xfrm>
          <a:prstGeom prst="rect">
            <a:avLst/>
          </a:prstGeom>
          <a:noFill/>
          <a:ln/>
        </p:spPr>
        <p:txBody>
          <a:bodyPr wrap="square" lIns="0" tIns="0" rIns="0" bIns="0" rtlCol="0" anchor="t"/>
          <a:lstStyle/>
          <a:p>
            <a:pPr marL="0" indent="0" algn="r">
              <a:buNone/>
            </a:pPr>
            <a:r>
              <a:rPr lang="en-US" sz="1200" dirty="0">
                <a:solidFill>
                  <a:srgbClr val="117A65"/>
                </a:solidFill>
                <a:latin typeface="Calibri" pitchFamily="34" charset="0"/>
                <a:ea typeface="Calibri" pitchFamily="34" charset="-122"/>
                <a:cs typeface="Calibri" pitchFamily="34" charset="-120"/>
              </a:rPr>
              <a:t>Tangahil</a:t>
            </a:r>
            <a:endParaRPr lang="en-US" sz="1200" dirty="0"/>
          </a:p>
        </p:txBody>
      </p:sp>
      <p:sp>
        <p:nvSpPr>
          <p:cNvPr id="41" name="Text 38"/>
          <p:cNvSpPr/>
          <p:nvPr/>
        </p:nvSpPr>
        <p:spPr>
          <a:xfrm>
            <a:off x="822960" y="5715000"/>
            <a:ext cx="10515600" cy="320040"/>
          </a:xfrm>
          <a:prstGeom prst="rect">
            <a:avLst/>
          </a:prstGeom>
          <a:noFill/>
          <a:ln/>
        </p:spPr>
        <p:txBody>
          <a:bodyPr wrap="square" lIns="0" tIns="0" rIns="0" bIns="0" rtlCol="0" anchor="ctr"/>
          <a:lstStyle/>
          <a:p>
            <a:pPr marL="0" indent="0" algn="ctr">
              <a:buNone/>
            </a:pPr>
            <a:r>
              <a:rPr lang="en-US" sz="1150" i="1" dirty="0">
                <a:solidFill>
                  <a:srgbClr val="5B6F6C"/>
                </a:solidFill>
                <a:latin typeface="Calibri" pitchFamily="34" charset="0"/>
                <a:ea typeface="Calibri" pitchFamily="34" charset="-122"/>
                <a:cs typeface="Calibri" pitchFamily="34" charset="-120"/>
              </a:rPr>
              <a:t>نموذج مصغّر من قائمة تضم أكثر من 70 صنفًا دوائيًا مسعّرًا ومُدارًا ضمن نظام تحصيل التكاليف بالمركز</a:t>
            </a:r>
            <a:endParaRPr lang="en-US" sz="1150" dirty="0"/>
          </a:p>
        </p:txBody>
      </p:sp>
      <p:sp>
        <p:nvSpPr>
          <p:cNvPr id="42" name="Text 39"/>
          <p:cNvSpPr/>
          <p:nvPr/>
        </p:nvSpPr>
        <p:spPr>
          <a:xfrm>
            <a:off x="11338560" y="6355080"/>
            <a:ext cx="457200" cy="320040"/>
          </a:xfrm>
          <a:prstGeom prst="rect">
            <a:avLst/>
          </a:prstGeom>
          <a:noFill/>
          <a:ln/>
        </p:spPr>
        <p:txBody>
          <a:bodyPr wrap="square" rtlCol="0" anchor="ctr"/>
          <a:lstStyle/>
          <a:p>
            <a:pPr marL="0" indent="0" algn="ctr">
              <a:buNone/>
            </a:pPr>
            <a:r>
              <a:rPr lang="en-US" sz="1000" dirty="0">
                <a:solidFill>
                  <a:srgbClr val="5B6F6C"/>
                </a:solidFill>
                <a:latin typeface="Calibri" pitchFamily="34" charset="0"/>
                <a:ea typeface="Calibri" pitchFamily="34" charset="-122"/>
                <a:cs typeface="Calibri" pitchFamily="34" charset="-120"/>
              </a:rPr>
              <a:t>20</a:t>
            </a:r>
            <a:endParaRPr lang="en-US" sz="1000" dirty="0"/>
          </a:p>
        </p:txBody>
      </p:sp>
      <p:sp>
        <p:nvSpPr>
          <p:cNvPr id="43" name="Text 40"/>
          <p:cNvSpPr/>
          <p:nvPr/>
        </p:nvSpPr>
        <p:spPr>
          <a:xfrm>
            <a:off x="457200" y="6355080"/>
            <a:ext cx="3657600" cy="320040"/>
          </a:xfrm>
          <a:prstGeom prst="rect">
            <a:avLst/>
          </a:prstGeom>
          <a:noFill/>
          <a:ln/>
        </p:spPr>
        <p:txBody>
          <a:bodyPr wrap="square" rtlCol="0" anchor="ctr"/>
          <a:lstStyle/>
          <a:p>
            <a:pPr marL="0" indent="0" algn="l">
              <a:buNone/>
            </a:pPr>
            <a:r>
              <a:rPr lang="en-US" sz="900" dirty="0">
                <a:solidFill>
                  <a:srgbClr val="9AAFAC"/>
                </a:solidFill>
                <a:latin typeface="Calibri" pitchFamily="34" charset="0"/>
                <a:ea typeface="Calibri" pitchFamily="34" charset="-122"/>
                <a:cs typeface="Calibri" pitchFamily="34" charset="-120"/>
              </a:rPr>
              <a:t>مدرسة الصحة العمومية بسيليبابي</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22960" y="457200"/>
            <a:ext cx="8686800" cy="594360"/>
          </a:xfrm>
          <a:prstGeom prst="rect">
            <a:avLst/>
          </a:prstGeom>
          <a:noFill/>
          <a:ln/>
        </p:spPr>
        <p:txBody>
          <a:bodyPr wrap="square" lIns="0" tIns="0" rIns="0" bIns="0" rtlCol="0" anchor="ctr"/>
          <a:lstStyle/>
          <a:p>
            <a:pPr marL="0" indent="0" algn="r">
              <a:buNone/>
            </a:pPr>
            <a:r>
              <a:rPr lang="en-US" sz="2500" b="1" dirty="0">
                <a:solidFill>
                  <a:srgbClr val="0B3D3A"/>
                </a:solidFill>
                <a:latin typeface="Cambria" pitchFamily="34" charset="0"/>
                <a:ea typeface="Cambria" pitchFamily="34" charset="-122"/>
                <a:cs typeface="Cambria" pitchFamily="34" charset="-120"/>
              </a:rPr>
              <a:t>تسيير النزاعات والتعاون مع السلطات</a:t>
            </a:r>
            <a:endParaRPr lang="en-US" sz="2500" dirty="0"/>
          </a:p>
        </p:txBody>
      </p:sp>
      <p:pic>
        <p:nvPicPr>
          <p:cNvPr id="3" name="Image 0" descr="icons/balance_teal.png"/>
          <p:cNvPicPr>
            <a:picLocks noChangeAspect="1"/>
          </p:cNvPicPr>
          <p:nvPr/>
        </p:nvPicPr>
        <p:blipFill>
          <a:blip r:embed="rId3"/>
          <a:stretch>
            <a:fillRect/>
          </a:stretch>
        </p:blipFill>
        <p:spPr>
          <a:xfrm>
            <a:off x="10698480" y="457200"/>
            <a:ext cx="502920" cy="502920"/>
          </a:xfrm>
          <a:prstGeom prst="rect">
            <a:avLst/>
          </a:prstGeom>
        </p:spPr>
      </p:pic>
      <p:sp>
        <p:nvSpPr>
          <p:cNvPr id="4" name="Shape 1"/>
          <p:cNvSpPr/>
          <p:nvPr/>
        </p:nvSpPr>
        <p:spPr>
          <a:xfrm>
            <a:off x="822960" y="1508760"/>
            <a:ext cx="5074920" cy="4526280"/>
          </a:xfrm>
          <a:prstGeom prst="roundRect">
            <a:avLst>
              <a:gd name="adj" fmla="val 2424"/>
            </a:avLst>
          </a:prstGeom>
          <a:solidFill>
            <a:srgbClr val="FFFFFF"/>
          </a:solidFill>
          <a:ln/>
          <a:effectLst>
            <a:outerShdw blurRad="101600" dist="25400" dir="5400000" algn="bl" rotWithShape="0">
              <a:srgbClr val="0B3D3A">
                <a:alpha val="8000"/>
              </a:srgbClr>
            </a:outerShdw>
          </a:effectLst>
        </p:spPr>
      </p:sp>
      <p:sp>
        <p:nvSpPr>
          <p:cNvPr id="5" name="Shape 2"/>
          <p:cNvSpPr/>
          <p:nvPr/>
        </p:nvSpPr>
        <p:spPr>
          <a:xfrm>
            <a:off x="5074920" y="1783080"/>
            <a:ext cx="502920" cy="502920"/>
          </a:xfrm>
          <a:prstGeom prst="ellipse">
            <a:avLst/>
          </a:prstGeom>
          <a:solidFill>
            <a:srgbClr val="D9F0EA"/>
          </a:solidFill>
          <a:ln/>
        </p:spPr>
      </p:sp>
      <p:pic>
        <p:nvPicPr>
          <p:cNvPr id="6" name="Image 1" descr="icons/users_teal.png"/>
          <p:cNvPicPr>
            <a:picLocks noChangeAspect="1"/>
          </p:cNvPicPr>
          <p:nvPr/>
        </p:nvPicPr>
        <p:blipFill>
          <a:blip r:embed="rId4"/>
          <a:stretch>
            <a:fillRect/>
          </a:stretch>
        </p:blipFill>
        <p:spPr>
          <a:xfrm>
            <a:off x="5193792" y="1901952"/>
            <a:ext cx="265176" cy="265176"/>
          </a:xfrm>
          <a:prstGeom prst="rect">
            <a:avLst/>
          </a:prstGeom>
        </p:spPr>
      </p:pic>
      <p:sp>
        <p:nvSpPr>
          <p:cNvPr id="7" name="Text 3"/>
          <p:cNvSpPr/>
          <p:nvPr/>
        </p:nvSpPr>
        <p:spPr>
          <a:xfrm>
            <a:off x="1097280" y="1828800"/>
            <a:ext cx="3840480" cy="411480"/>
          </a:xfrm>
          <a:prstGeom prst="rect">
            <a:avLst/>
          </a:prstGeom>
          <a:noFill/>
          <a:ln/>
        </p:spPr>
        <p:txBody>
          <a:bodyPr wrap="square" lIns="0" tIns="0" rIns="0" bIns="0" rtlCol="0" anchor="ctr"/>
          <a:lstStyle/>
          <a:p>
            <a:pPr marL="0" indent="0" algn="r">
              <a:buNone/>
            </a:pPr>
            <a:r>
              <a:rPr lang="en-US" sz="1700" b="1" dirty="0">
                <a:solidFill>
                  <a:srgbClr val="0B3D3A"/>
                </a:solidFill>
                <a:latin typeface="Cambria" pitchFamily="34" charset="0"/>
                <a:ea typeface="Cambria" pitchFamily="34" charset="-122"/>
                <a:cs typeface="Cambria" pitchFamily="34" charset="-120"/>
              </a:rPr>
              <a:t>تسيير النزاعات</a:t>
            </a:r>
            <a:endParaRPr lang="en-US" sz="1700" dirty="0"/>
          </a:p>
        </p:txBody>
      </p:sp>
      <p:sp>
        <p:nvSpPr>
          <p:cNvPr id="8" name="Text 4"/>
          <p:cNvSpPr/>
          <p:nvPr/>
        </p:nvSpPr>
        <p:spPr>
          <a:xfrm>
            <a:off x="1097280" y="2240280"/>
            <a:ext cx="3840480" cy="274320"/>
          </a:xfrm>
          <a:prstGeom prst="rect">
            <a:avLst/>
          </a:prstGeom>
          <a:noFill/>
          <a:ln/>
        </p:spPr>
        <p:txBody>
          <a:bodyPr wrap="square" lIns="0" tIns="0" rIns="0" bIns="0" rtlCol="0" anchor="ctr"/>
          <a:lstStyle/>
          <a:p>
            <a:pPr marL="0" indent="0" algn="r">
              <a:buNone/>
            </a:pPr>
            <a:r>
              <a:rPr lang="en-US" sz="1150" dirty="0">
                <a:solidFill>
                  <a:srgbClr val="117A65"/>
                </a:solidFill>
                <a:latin typeface="Calibri" pitchFamily="34" charset="0"/>
                <a:ea typeface="Calibri" pitchFamily="34" charset="-122"/>
                <a:cs typeface="Calibri" pitchFamily="34" charset="-120"/>
              </a:rPr>
              <a:t>13/04/2026</a:t>
            </a:r>
            <a:endParaRPr lang="en-US" sz="1150" dirty="0"/>
          </a:p>
        </p:txBody>
      </p:sp>
      <p:sp>
        <p:nvSpPr>
          <p:cNvPr id="9" name="Shape 5"/>
          <p:cNvSpPr/>
          <p:nvPr/>
        </p:nvSpPr>
        <p:spPr>
          <a:xfrm>
            <a:off x="1097280" y="2651760"/>
            <a:ext cx="4526280" cy="10973"/>
          </a:xfrm>
          <a:prstGeom prst="rect">
            <a:avLst/>
          </a:prstGeom>
          <a:solidFill>
            <a:srgbClr val="EEF0EC"/>
          </a:solidFill>
          <a:ln/>
        </p:spPr>
      </p:sp>
      <p:sp>
        <p:nvSpPr>
          <p:cNvPr id="10" name="Text 6"/>
          <p:cNvSpPr/>
          <p:nvPr/>
        </p:nvSpPr>
        <p:spPr>
          <a:xfrm>
            <a:off x="1097280" y="2834640"/>
            <a:ext cx="4526280" cy="274320"/>
          </a:xfrm>
          <a:prstGeom prst="rect">
            <a:avLst/>
          </a:prstGeom>
          <a:noFill/>
          <a:ln/>
        </p:spPr>
        <p:txBody>
          <a:bodyPr wrap="square" lIns="0" tIns="0" rIns="0" bIns="0" rtlCol="0" anchor="ctr"/>
          <a:lstStyle/>
          <a:p>
            <a:pPr marL="0" indent="0" algn="r">
              <a:buNone/>
            </a:pPr>
            <a:r>
              <a:rPr lang="en-US" sz="1200" b="1" dirty="0">
                <a:solidFill>
                  <a:srgbClr val="5B6F6C"/>
                </a:solidFill>
                <a:latin typeface="Calibri" pitchFamily="34" charset="0"/>
                <a:ea typeface="Calibri" pitchFamily="34" charset="-122"/>
                <a:cs typeface="Calibri" pitchFamily="34" charset="-120"/>
              </a:rPr>
              <a:t>وضعية النزاع</a:t>
            </a:r>
            <a:endParaRPr lang="en-US" sz="1200" dirty="0"/>
          </a:p>
        </p:txBody>
      </p:sp>
      <p:sp>
        <p:nvSpPr>
          <p:cNvPr id="11" name="Text 7"/>
          <p:cNvSpPr/>
          <p:nvPr/>
        </p:nvSpPr>
        <p:spPr>
          <a:xfrm>
            <a:off x="1097280" y="3127248"/>
            <a:ext cx="4526280" cy="731520"/>
          </a:xfrm>
          <a:prstGeom prst="rect">
            <a:avLst/>
          </a:prstGeom>
          <a:noFill/>
          <a:ln/>
        </p:spPr>
        <p:txBody>
          <a:bodyPr wrap="square" lIns="0" tIns="0" rIns="0" bIns="0" rtlCol="0" anchor="t"/>
          <a:lstStyle/>
          <a:p>
            <a:pPr marL="0" indent="0" algn="r">
              <a:lnSpc>
                <a:spcPct val="130000"/>
              </a:lnSpc>
              <a:buNone/>
            </a:pPr>
            <a:r>
              <a:rPr lang="en-US" sz="1300" dirty="0">
                <a:solidFill>
                  <a:srgbClr val="1B2B28"/>
                </a:solidFill>
                <a:latin typeface="Calibri" pitchFamily="34" charset="0"/>
                <a:ea typeface="Calibri" pitchFamily="34" charset="-122"/>
                <a:cs typeface="Calibri" pitchFamily="34" charset="-120"/>
              </a:rPr>
              <a:t>تنازع عدد من الحوامل على أولوية الدخول، حيث رغب الجميع في الدخول أولًا لتلقي الاستشارة.</a:t>
            </a:r>
            <a:endParaRPr lang="en-US" sz="1300" dirty="0"/>
          </a:p>
        </p:txBody>
      </p:sp>
      <p:sp>
        <p:nvSpPr>
          <p:cNvPr id="12" name="Text 8"/>
          <p:cNvSpPr/>
          <p:nvPr/>
        </p:nvSpPr>
        <p:spPr>
          <a:xfrm>
            <a:off x="1097280" y="3977640"/>
            <a:ext cx="4526280" cy="274320"/>
          </a:xfrm>
          <a:prstGeom prst="rect">
            <a:avLst/>
          </a:prstGeom>
          <a:noFill/>
          <a:ln/>
        </p:spPr>
        <p:txBody>
          <a:bodyPr wrap="square" lIns="0" tIns="0" rIns="0" bIns="0" rtlCol="0" anchor="ctr"/>
          <a:lstStyle/>
          <a:p>
            <a:pPr marL="0" indent="0" algn="r">
              <a:buNone/>
            </a:pPr>
            <a:r>
              <a:rPr lang="en-US" sz="1200" b="1" dirty="0">
                <a:solidFill>
                  <a:srgbClr val="5B6F6C"/>
                </a:solidFill>
                <a:latin typeface="Calibri" pitchFamily="34" charset="0"/>
                <a:ea typeface="Calibri" pitchFamily="34" charset="-122"/>
                <a:cs typeface="Calibri" pitchFamily="34" charset="-120"/>
              </a:rPr>
              <a:t>طريقة الحل</a:t>
            </a:r>
            <a:endParaRPr lang="en-US" sz="1200" dirty="0"/>
          </a:p>
        </p:txBody>
      </p:sp>
      <p:sp>
        <p:nvSpPr>
          <p:cNvPr id="13" name="Shape 9"/>
          <p:cNvSpPr/>
          <p:nvPr/>
        </p:nvSpPr>
        <p:spPr>
          <a:xfrm>
            <a:off x="1097280" y="4279392"/>
            <a:ext cx="4526280" cy="1417320"/>
          </a:xfrm>
          <a:prstGeom prst="roundRect">
            <a:avLst>
              <a:gd name="adj" fmla="val 5161"/>
            </a:avLst>
          </a:prstGeom>
          <a:solidFill>
            <a:srgbClr val="D9F0EA"/>
          </a:solidFill>
          <a:ln/>
        </p:spPr>
      </p:sp>
      <p:sp>
        <p:nvSpPr>
          <p:cNvPr id="14" name="Text 10"/>
          <p:cNvSpPr/>
          <p:nvPr/>
        </p:nvSpPr>
        <p:spPr>
          <a:xfrm>
            <a:off x="1325880" y="4416552"/>
            <a:ext cx="4069080" cy="1143000"/>
          </a:xfrm>
          <a:prstGeom prst="rect">
            <a:avLst/>
          </a:prstGeom>
          <a:noFill/>
          <a:ln/>
        </p:spPr>
        <p:txBody>
          <a:bodyPr wrap="square" lIns="0" tIns="0" rIns="0" bIns="0" rtlCol="0" anchor="t"/>
          <a:lstStyle/>
          <a:p>
            <a:pPr marL="0" indent="0" algn="r">
              <a:lnSpc>
                <a:spcPct val="135000"/>
              </a:lnSpc>
              <a:buNone/>
            </a:pPr>
            <a:r>
              <a:rPr lang="en-US" sz="1250" dirty="0">
                <a:solidFill>
                  <a:srgbClr val="0B3D3A"/>
                </a:solidFill>
                <a:latin typeface="Calibri" pitchFamily="34" charset="0"/>
                <a:ea typeface="Calibri" pitchFamily="34" charset="-122"/>
                <a:cs typeface="Calibri" pitchFamily="34" charset="-120"/>
              </a:rPr>
              <a:t>تم حل النزاع بشكل عادل ومنظم عن طريق اعتماد نظام الأرقام التسلسلية الموجودة لدى الحوامل، بحيث يُستدعى أول رقم مسجَّل أولًا، مما أنهى الخلاف بطريقة منهجية.</a:t>
            </a:r>
            <a:endParaRPr lang="en-US" sz="1250" dirty="0"/>
          </a:p>
        </p:txBody>
      </p:sp>
      <p:sp>
        <p:nvSpPr>
          <p:cNvPr id="15" name="Shape 11"/>
          <p:cNvSpPr/>
          <p:nvPr/>
        </p:nvSpPr>
        <p:spPr>
          <a:xfrm>
            <a:off x="6263640" y="1508760"/>
            <a:ext cx="5074920" cy="4526280"/>
          </a:xfrm>
          <a:prstGeom prst="roundRect">
            <a:avLst>
              <a:gd name="adj" fmla="val 2424"/>
            </a:avLst>
          </a:prstGeom>
          <a:solidFill>
            <a:srgbClr val="0B3D3A"/>
          </a:solidFill>
          <a:ln/>
        </p:spPr>
      </p:sp>
      <p:sp>
        <p:nvSpPr>
          <p:cNvPr id="16" name="Shape 12"/>
          <p:cNvSpPr/>
          <p:nvPr/>
        </p:nvSpPr>
        <p:spPr>
          <a:xfrm>
            <a:off x="10515600" y="1783080"/>
            <a:ext cx="502920" cy="502920"/>
          </a:xfrm>
          <a:prstGeom prst="ellipse">
            <a:avLst/>
          </a:prstGeom>
          <a:solidFill>
            <a:srgbClr val="1A5650"/>
          </a:solidFill>
          <a:ln/>
        </p:spPr>
      </p:sp>
      <p:pic>
        <p:nvPicPr>
          <p:cNvPr id="17" name="Image 2" descr="icons/handsHelping_white.png"/>
          <p:cNvPicPr>
            <a:picLocks noChangeAspect="1"/>
          </p:cNvPicPr>
          <p:nvPr/>
        </p:nvPicPr>
        <p:blipFill>
          <a:blip r:embed="rId5"/>
          <a:stretch>
            <a:fillRect/>
          </a:stretch>
        </p:blipFill>
        <p:spPr>
          <a:xfrm>
            <a:off x="10634472" y="1901952"/>
            <a:ext cx="265176" cy="265176"/>
          </a:xfrm>
          <a:prstGeom prst="rect">
            <a:avLst/>
          </a:prstGeom>
        </p:spPr>
      </p:pic>
      <p:sp>
        <p:nvSpPr>
          <p:cNvPr id="18" name="Text 13"/>
          <p:cNvSpPr/>
          <p:nvPr/>
        </p:nvSpPr>
        <p:spPr>
          <a:xfrm>
            <a:off x="6537960" y="1828800"/>
            <a:ext cx="3840480" cy="411480"/>
          </a:xfrm>
          <a:prstGeom prst="rect">
            <a:avLst/>
          </a:prstGeom>
          <a:noFill/>
          <a:ln/>
        </p:spPr>
        <p:txBody>
          <a:bodyPr wrap="square" lIns="0" tIns="0" rIns="0" bIns="0" rtlCol="0" anchor="ctr"/>
          <a:lstStyle/>
          <a:p>
            <a:pPr marL="0" indent="0" algn="r">
              <a:buNone/>
            </a:pPr>
            <a:r>
              <a:rPr lang="en-US" sz="1700" b="1" dirty="0">
                <a:solidFill>
                  <a:srgbClr val="FFFFFF"/>
                </a:solidFill>
                <a:latin typeface="Cambria" pitchFamily="34" charset="0"/>
                <a:ea typeface="Cambria" pitchFamily="34" charset="-122"/>
                <a:cs typeface="Cambria" pitchFamily="34" charset="-120"/>
              </a:rPr>
              <a:t>التعاون مع السلطات</a:t>
            </a:r>
            <a:endParaRPr lang="en-US" sz="1700" dirty="0"/>
          </a:p>
        </p:txBody>
      </p:sp>
      <p:sp>
        <p:nvSpPr>
          <p:cNvPr id="19" name="Text 14"/>
          <p:cNvSpPr/>
          <p:nvPr/>
        </p:nvSpPr>
        <p:spPr>
          <a:xfrm>
            <a:off x="6537960" y="2240280"/>
            <a:ext cx="3840480" cy="274320"/>
          </a:xfrm>
          <a:prstGeom prst="rect">
            <a:avLst/>
          </a:prstGeom>
          <a:noFill/>
          <a:ln/>
        </p:spPr>
        <p:txBody>
          <a:bodyPr wrap="square" lIns="0" tIns="0" rIns="0" bIns="0" rtlCol="0" anchor="ctr"/>
          <a:lstStyle/>
          <a:p>
            <a:pPr marL="0" indent="0" algn="r">
              <a:buNone/>
            </a:pPr>
            <a:r>
              <a:rPr lang="en-US" sz="1150" dirty="0">
                <a:solidFill>
                  <a:srgbClr val="9FC6BC"/>
                </a:solidFill>
                <a:latin typeface="Calibri" pitchFamily="34" charset="0"/>
                <a:ea typeface="Calibri" pitchFamily="34" charset="-122"/>
                <a:cs typeface="Calibri" pitchFamily="34" charset="-120"/>
              </a:rPr>
              <a:t>الإدارية والدينية والعرفية</a:t>
            </a:r>
            <a:endParaRPr lang="en-US" sz="1150" dirty="0"/>
          </a:p>
        </p:txBody>
      </p:sp>
      <p:sp>
        <p:nvSpPr>
          <p:cNvPr id="20" name="Shape 15"/>
          <p:cNvSpPr/>
          <p:nvPr/>
        </p:nvSpPr>
        <p:spPr>
          <a:xfrm>
            <a:off x="6537960" y="2651760"/>
            <a:ext cx="4526280" cy="10973"/>
          </a:xfrm>
          <a:prstGeom prst="rect">
            <a:avLst/>
          </a:prstGeom>
          <a:solidFill>
            <a:srgbClr val="2A5C57"/>
          </a:solidFill>
          <a:ln/>
        </p:spPr>
      </p:sp>
      <p:pic>
        <p:nvPicPr>
          <p:cNvPr id="21" name="Image 3" descr="icons/check_teal.png"/>
          <p:cNvPicPr>
            <a:picLocks noChangeAspect="1"/>
          </p:cNvPicPr>
          <p:nvPr/>
        </p:nvPicPr>
        <p:blipFill>
          <a:blip r:embed="rId6"/>
          <a:stretch>
            <a:fillRect/>
          </a:stretch>
        </p:blipFill>
        <p:spPr>
          <a:xfrm>
            <a:off x="10195560" y="3200400"/>
            <a:ext cx="502920" cy="502920"/>
          </a:xfrm>
          <a:prstGeom prst="rect">
            <a:avLst/>
          </a:prstGeom>
        </p:spPr>
      </p:pic>
      <p:sp>
        <p:nvSpPr>
          <p:cNvPr id="22" name="Text 16"/>
          <p:cNvSpPr/>
          <p:nvPr/>
        </p:nvSpPr>
        <p:spPr>
          <a:xfrm>
            <a:off x="6537960" y="3886200"/>
            <a:ext cx="4526280" cy="914400"/>
          </a:xfrm>
          <a:prstGeom prst="rect">
            <a:avLst/>
          </a:prstGeom>
          <a:noFill/>
          <a:ln/>
        </p:spPr>
        <p:txBody>
          <a:bodyPr wrap="square" lIns="0" tIns="0" rIns="0" bIns="0" rtlCol="0" anchor="t"/>
          <a:lstStyle/>
          <a:p>
            <a:pPr marL="0" indent="0" algn="r">
              <a:lnSpc>
                <a:spcPct val="135000"/>
              </a:lnSpc>
              <a:buNone/>
            </a:pPr>
            <a:r>
              <a:rPr lang="en-US" sz="1350" dirty="0">
                <a:solidFill>
                  <a:srgbClr val="DCEEE9"/>
                </a:solidFill>
                <a:latin typeface="Calibri" pitchFamily="34" charset="0"/>
                <a:ea typeface="Calibri" pitchFamily="34" charset="-122"/>
                <a:cs typeface="Calibri" pitchFamily="34" charset="-120"/>
              </a:rPr>
              <a:t>لم تصل إلى المركز خلال فترة التدريب أي حالة تطلبت التنسيق المباشر مع السلطات الإدارية أو الدينية أو العرفية.</a:t>
            </a:r>
            <a:endParaRPr lang="en-US" sz="1350" dirty="0"/>
          </a:p>
        </p:txBody>
      </p:sp>
      <p:sp>
        <p:nvSpPr>
          <p:cNvPr id="23" name="Shape 17"/>
          <p:cNvSpPr/>
          <p:nvPr/>
        </p:nvSpPr>
        <p:spPr>
          <a:xfrm>
            <a:off x="6537960" y="5029200"/>
            <a:ext cx="4526280" cy="777240"/>
          </a:xfrm>
          <a:prstGeom prst="roundRect">
            <a:avLst>
              <a:gd name="adj" fmla="val 9412"/>
            </a:avLst>
          </a:prstGeom>
          <a:solidFill>
            <a:srgbClr val="C9A24B"/>
          </a:solidFill>
          <a:ln/>
        </p:spPr>
      </p:sp>
      <p:sp>
        <p:nvSpPr>
          <p:cNvPr id="24" name="Text 18"/>
          <p:cNvSpPr/>
          <p:nvPr/>
        </p:nvSpPr>
        <p:spPr>
          <a:xfrm>
            <a:off x="6766560" y="5029200"/>
            <a:ext cx="4069080" cy="777240"/>
          </a:xfrm>
          <a:prstGeom prst="rect">
            <a:avLst/>
          </a:prstGeom>
          <a:noFill/>
          <a:ln/>
        </p:spPr>
        <p:txBody>
          <a:bodyPr wrap="square" lIns="0" tIns="0" rIns="0" bIns="0" rtlCol="0" anchor="ctr"/>
          <a:lstStyle/>
          <a:p>
            <a:pPr marL="0" indent="0" algn="r">
              <a:buNone/>
            </a:pPr>
            <a:r>
              <a:rPr lang="en-US" sz="1200" b="1" dirty="0">
                <a:solidFill>
                  <a:srgbClr val="3A2E0E"/>
                </a:solidFill>
                <a:latin typeface="Calibri" pitchFamily="34" charset="0"/>
                <a:ea typeface="Calibri" pitchFamily="34" charset="-122"/>
                <a:cs typeface="Calibri" pitchFamily="34" charset="-120"/>
              </a:rPr>
              <a:t>ما يعكس استقرار التواصل المجتمعي حول الخدمات الصحية المقدّمة بالمركز</a:t>
            </a:r>
            <a:endParaRPr lang="en-US" sz="1200" dirty="0"/>
          </a:p>
        </p:txBody>
      </p:sp>
      <p:sp>
        <p:nvSpPr>
          <p:cNvPr id="25" name="Text 19"/>
          <p:cNvSpPr/>
          <p:nvPr/>
        </p:nvSpPr>
        <p:spPr>
          <a:xfrm>
            <a:off x="11338560" y="6355080"/>
            <a:ext cx="457200" cy="320040"/>
          </a:xfrm>
          <a:prstGeom prst="rect">
            <a:avLst/>
          </a:prstGeom>
          <a:noFill/>
          <a:ln/>
        </p:spPr>
        <p:txBody>
          <a:bodyPr wrap="square" rtlCol="0" anchor="ctr"/>
          <a:lstStyle/>
          <a:p>
            <a:pPr marL="0" indent="0" algn="ctr">
              <a:buNone/>
            </a:pPr>
            <a:r>
              <a:rPr lang="en-US" sz="1000" dirty="0">
                <a:solidFill>
                  <a:srgbClr val="5B6F6C"/>
                </a:solidFill>
                <a:latin typeface="Calibri" pitchFamily="34" charset="0"/>
                <a:ea typeface="Calibri" pitchFamily="34" charset="-122"/>
                <a:cs typeface="Calibri" pitchFamily="34" charset="-120"/>
              </a:rPr>
              <a:t>21</a:t>
            </a:r>
            <a:endParaRPr lang="en-US" sz="1000" dirty="0"/>
          </a:p>
        </p:txBody>
      </p:sp>
      <p:sp>
        <p:nvSpPr>
          <p:cNvPr id="26" name="Text 20"/>
          <p:cNvSpPr/>
          <p:nvPr/>
        </p:nvSpPr>
        <p:spPr>
          <a:xfrm>
            <a:off x="457200" y="6355080"/>
            <a:ext cx="3657600" cy="320040"/>
          </a:xfrm>
          <a:prstGeom prst="rect">
            <a:avLst/>
          </a:prstGeom>
          <a:noFill/>
          <a:ln/>
        </p:spPr>
        <p:txBody>
          <a:bodyPr wrap="square" rtlCol="0" anchor="ctr"/>
          <a:lstStyle/>
          <a:p>
            <a:pPr marL="0" indent="0" algn="l">
              <a:buNone/>
            </a:pPr>
            <a:r>
              <a:rPr lang="en-US" sz="900" dirty="0">
                <a:solidFill>
                  <a:srgbClr val="9AAFAC"/>
                </a:solidFill>
                <a:latin typeface="Calibri" pitchFamily="34" charset="0"/>
                <a:ea typeface="Calibri" pitchFamily="34" charset="-122"/>
                <a:cs typeface="Calibri" pitchFamily="34" charset="-120"/>
              </a:rPr>
              <a:t>مدرسة الصحة العمومية بسيليبابي</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3D3A"/>
        </a:solidFill>
        <a:effectLst/>
      </p:bgPr>
    </p:bg>
    <p:spTree>
      <p:nvGrpSpPr>
        <p:cNvPr id="1" name=""/>
        <p:cNvGrpSpPr/>
        <p:nvPr/>
      </p:nvGrpSpPr>
      <p:grpSpPr>
        <a:xfrm>
          <a:off x="0" y="0"/>
          <a:ext cx="0" cy="0"/>
          <a:chOff x="0" y="0"/>
          <a:chExt cx="0" cy="0"/>
        </a:xfrm>
      </p:grpSpPr>
      <p:sp>
        <p:nvSpPr>
          <p:cNvPr id="2" name="Shape 0"/>
          <p:cNvSpPr/>
          <p:nvPr/>
        </p:nvSpPr>
        <p:spPr>
          <a:xfrm>
            <a:off x="9692640" y="-1828800"/>
            <a:ext cx="4572000" cy="4572000"/>
          </a:xfrm>
          <a:prstGeom prst="ellipse">
            <a:avLst/>
          </a:prstGeom>
          <a:solidFill>
            <a:srgbClr val="117A65">
              <a:alpha val="28000"/>
            </a:srgbClr>
          </a:solidFill>
          <a:ln/>
        </p:spPr>
      </p:sp>
      <p:sp>
        <p:nvSpPr>
          <p:cNvPr id="3" name="Shape 1"/>
          <p:cNvSpPr/>
          <p:nvPr/>
        </p:nvSpPr>
        <p:spPr>
          <a:xfrm>
            <a:off x="-1554480" y="4754880"/>
            <a:ext cx="3657600" cy="3657600"/>
          </a:xfrm>
          <a:prstGeom prst="ellipse">
            <a:avLst/>
          </a:prstGeom>
          <a:solidFill>
            <a:srgbClr val="C9A24B">
              <a:alpha val="20000"/>
            </a:srgbClr>
          </a:solidFill>
          <a:ln/>
        </p:spPr>
      </p:sp>
      <p:sp>
        <p:nvSpPr>
          <p:cNvPr id="4" name="Text 2"/>
          <p:cNvSpPr/>
          <p:nvPr/>
        </p:nvSpPr>
        <p:spPr>
          <a:xfrm>
            <a:off x="822960" y="502920"/>
            <a:ext cx="5486400" cy="640080"/>
          </a:xfrm>
          <a:prstGeom prst="rect">
            <a:avLst/>
          </a:prstGeom>
          <a:noFill/>
          <a:ln/>
        </p:spPr>
        <p:txBody>
          <a:bodyPr wrap="square" lIns="0" tIns="0" rIns="0" bIns="0" rtlCol="0" anchor="ctr"/>
          <a:lstStyle/>
          <a:p>
            <a:pPr marL="0" indent="0" algn="r">
              <a:buNone/>
            </a:pPr>
            <a:r>
              <a:rPr lang="en-US" sz="3200" b="1" dirty="0">
                <a:solidFill>
                  <a:srgbClr val="FFFFFF"/>
                </a:solidFill>
                <a:latin typeface="Cambria" pitchFamily="34" charset="0"/>
                <a:ea typeface="Cambria" pitchFamily="34" charset="-122"/>
                <a:cs typeface="Cambria" pitchFamily="34" charset="-120"/>
              </a:rPr>
              <a:t>التوصيات</a:t>
            </a:r>
            <a:endParaRPr lang="en-US" sz="3200" dirty="0"/>
          </a:p>
        </p:txBody>
      </p:sp>
      <p:sp>
        <p:nvSpPr>
          <p:cNvPr id="5" name="Text 3"/>
          <p:cNvSpPr/>
          <p:nvPr/>
        </p:nvSpPr>
        <p:spPr>
          <a:xfrm>
            <a:off x="822960" y="1051560"/>
            <a:ext cx="8229600" cy="365760"/>
          </a:xfrm>
          <a:prstGeom prst="rect">
            <a:avLst/>
          </a:prstGeom>
          <a:noFill/>
          <a:ln/>
        </p:spPr>
        <p:txBody>
          <a:bodyPr wrap="square" lIns="0" tIns="0" rIns="0" bIns="0" rtlCol="0" anchor="ctr"/>
          <a:lstStyle/>
          <a:p>
            <a:pPr marL="0" indent="0" algn="r">
              <a:buNone/>
            </a:pPr>
            <a:r>
              <a:rPr lang="en-US" sz="1350" dirty="0">
                <a:solidFill>
                  <a:srgbClr val="9FC6BC"/>
                </a:solidFill>
                <a:latin typeface="Calibri" pitchFamily="34" charset="0"/>
                <a:ea typeface="Calibri" pitchFamily="34" charset="-122"/>
                <a:cs typeface="Calibri" pitchFamily="34" charset="-120"/>
              </a:rPr>
              <a:t>مقترحات لتطوير التكوين داخل مدرسة الصحة العمومية بسيليبابي</a:t>
            </a:r>
            <a:endParaRPr lang="en-US" sz="1350" dirty="0"/>
          </a:p>
        </p:txBody>
      </p:sp>
      <p:pic>
        <p:nvPicPr>
          <p:cNvPr id="6" name="Image 0" descr="icons/graduation_white.png"/>
          <p:cNvPicPr>
            <a:picLocks noChangeAspect="1"/>
          </p:cNvPicPr>
          <p:nvPr/>
        </p:nvPicPr>
        <p:blipFill>
          <a:blip r:embed="rId3"/>
          <a:stretch>
            <a:fillRect/>
          </a:stretch>
        </p:blipFill>
        <p:spPr>
          <a:xfrm>
            <a:off x="10698480" y="502920"/>
            <a:ext cx="502920" cy="502920"/>
          </a:xfrm>
          <a:prstGeom prst="rect">
            <a:avLst/>
          </a:prstGeom>
        </p:spPr>
      </p:pic>
      <p:sp>
        <p:nvSpPr>
          <p:cNvPr id="7" name="Shape 4"/>
          <p:cNvSpPr/>
          <p:nvPr/>
        </p:nvSpPr>
        <p:spPr>
          <a:xfrm>
            <a:off x="822960" y="1691640"/>
            <a:ext cx="5166360" cy="1078992"/>
          </a:xfrm>
          <a:prstGeom prst="roundRect">
            <a:avLst>
              <a:gd name="adj" fmla="val 8475"/>
            </a:avLst>
          </a:prstGeom>
          <a:solidFill>
            <a:srgbClr val="FFFFFF">
              <a:alpha val="6000"/>
            </a:srgbClr>
          </a:solidFill>
          <a:ln w="12700">
            <a:solidFill>
              <a:srgbClr val="FFFFFF">
                <a:alpha val="22000"/>
              </a:srgbClr>
            </a:solidFill>
            <a:prstDash val="solid"/>
          </a:ln>
        </p:spPr>
      </p:sp>
      <p:sp>
        <p:nvSpPr>
          <p:cNvPr id="8" name="Shape 5"/>
          <p:cNvSpPr/>
          <p:nvPr/>
        </p:nvSpPr>
        <p:spPr>
          <a:xfrm>
            <a:off x="5422392" y="1892808"/>
            <a:ext cx="365760" cy="365760"/>
          </a:xfrm>
          <a:prstGeom prst="ellipse">
            <a:avLst/>
          </a:prstGeom>
          <a:solidFill>
            <a:srgbClr val="C9A24B"/>
          </a:solidFill>
          <a:ln/>
        </p:spPr>
      </p:sp>
      <p:sp>
        <p:nvSpPr>
          <p:cNvPr id="9" name="Text 6"/>
          <p:cNvSpPr/>
          <p:nvPr/>
        </p:nvSpPr>
        <p:spPr>
          <a:xfrm>
            <a:off x="5422392" y="1892808"/>
            <a:ext cx="365760" cy="365760"/>
          </a:xfrm>
          <a:prstGeom prst="rect">
            <a:avLst/>
          </a:prstGeom>
          <a:noFill/>
          <a:ln/>
        </p:spPr>
        <p:txBody>
          <a:bodyPr wrap="square" lIns="0" tIns="0" rIns="0" bIns="0" rtlCol="0" anchor="ctr"/>
          <a:lstStyle/>
          <a:p>
            <a:pPr marL="0" indent="0" algn="ctr">
              <a:buNone/>
            </a:pPr>
            <a:r>
              <a:rPr lang="en-US" sz="1400" b="1" dirty="0">
                <a:solidFill>
                  <a:srgbClr val="0B3D3A"/>
                </a:solidFill>
                <a:latin typeface="Cambria" pitchFamily="34" charset="0"/>
                <a:ea typeface="Cambria" pitchFamily="34" charset="-122"/>
                <a:cs typeface="Cambria" pitchFamily="34" charset="-120"/>
              </a:rPr>
              <a:t>1</a:t>
            </a:r>
            <a:endParaRPr lang="en-US" sz="1400" dirty="0"/>
          </a:p>
        </p:txBody>
      </p:sp>
      <p:sp>
        <p:nvSpPr>
          <p:cNvPr id="10" name="Text 7"/>
          <p:cNvSpPr/>
          <p:nvPr/>
        </p:nvSpPr>
        <p:spPr>
          <a:xfrm>
            <a:off x="1051560" y="1810512"/>
            <a:ext cx="4251960" cy="841248"/>
          </a:xfrm>
          <a:prstGeom prst="rect">
            <a:avLst/>
          </a:prstGeom>
          <a:noFill/>
          <a:ln/>
        </p:spPr>
        <p:txBody>
          <a:bodyPr wrap="square" lIns="0" tIns="0" rIns="0" bIns="0" rtlCol="0" anchor="ctr"/>
          <a:lstStyle/>
          <a:p>
            <a:pPr marL="0" indent="0" algn="r">
              <a:buNone/>
            </a:pPr>
            <a:r>
              <a:rPr lang="en-US" sz="1250" dirty="0">
                <a:solidFill>
                  <a:srgbClr val="FFFFFF"/>
                </a:solidFill>
                <a:latin typeface="Calibri" pitchFamily="34" charset="0"/>
                <a:ea typeface="Calibri" pitchFamily="34" charset="-122"/>
                <a:cs typeface="Calibri" pitchFamily="34" charset="-120"/>
              </a:rPr>
              <a:t>زيادة فترات التدريب الميداني وتوسيع مجالاته داخل المؤسسات الصحية</a:t>
            </a:r>
            <a:endParaRPr lang="en-US" sz="1250" dirty="0"/>
          </a:p>
        </p:txBody>
      </p:sp>
      <p:sp>
        <p:nvSpPr>
          <p:cNvPr id="11" name="Shape 8"/>
          <p:cNvSpPr/>
          <p:nvPr/>
        </p:nvSpPr>
        <p:spPr>
          <a:xfrm>
            <a:off x="6172200" y="1691640"/>
            <a:ext cx="5166360" cy="1078992"/>
          </a:xfrm>
          <a:prstGeom prst="roundRect">
            <a:avLst>
              <a:gd name="adj" fmla="val 8475"/>
            </a:avLst>
          </a:prstGeom>
          <a:solidFill>
            <a:srgbClr val="FFFFFF">
              <a:alpha val="6000"/>
            </a:srgbClr>
          </a:solidFill>
          <a:ln w="12700">
            <a:solidFill>
              <a:srgbClr val="FFFFFF">
                <a:alpha val="22000"/>
              </a:srgbClr>
            </a:solidFill>
            <a:prstDash val="solid"/>
          </a:ln>
        </p:spPr>
      </p:sp>
      <p:sp>
        <p:nvSpPr>
          <p:cNvPr id="12" name="Shape 9"/>
          <p:cNvSpPr/>
          <p:nvPr/>
        </p:nvSpPr>
        <p:spPr>
          <a:xfrm>
            <a:off x="10771632" y="1892808"/>
            <a:ext cx="365760" cy="365760"/>
          </a:xfrm>
          <a:prstGeom prst="ellipse">
            <a:avLst/>
          </a:prstGeom>
          <a:solidFill>
            <a:srgbClr val="C9A24B"/>
          </a:solidFill>
          <a:ln/>
        </p:spPr>
      </p:sp>
      <p:sp>
        <p:nvSpPr>
          <p:cNvPr id="13" name="Text 10"/>
          <p:cNvSpPr/>
          <p:nvPr/>
        </p:nvSpPr>
        <p:spPr>
          <a:xfrm>
            <a:off x="10771632" y="1892808"/>
            <a:ext cx="365760" cy="365760"/>
          </a:xfrm>
          <a:prstGeom prst="rect">
            <a:avLst/>
          </a:prstGeom>
          <a:noFill/>
          <a:ln/>
        </p:spPr>
        <p:txBody>
          <a:bodyPr wrap="square" lIns="0" tIns="0" rIns="0" bIns="0" rtlCol="0" anchor="ctr"/>
          <a:lstStyle/>
          <a:p>
            <a:pPr marL="0" indent="0" algn="ctr">
              <a:buNone/>
            </a:pPr>
            <a:r>
              <a:rPr lang="en-US" sz="1400" b="1" dirty="0">
                <a:solidFill>
                  <a:srgbClr val="0B3D3A"/>
                </a:solidFill>
                <a:latin typeface="Cambria" pitchFamily="34" charset="0"/>
                <a:ea typeface="Cambria" pitchFamily="34" charset="-122"/>
                <a:cs typeface="Cambria" pitchFamily="34" charset="-120"/>
              </a:rPr>
              <a:t>2</a:t>
            </a:r>
            <a:endParaRPr lang="en-US" sz="1400" dirty="0"/>
          </a:p>
        </p:txBody>
      </p:sp>
      <p:sp>
        <p:nvSpPr>
          <p:cNvPr id="14" name="Text 11"/>
          <p:cNvSpPr/>
          <p:nvPr/>
        </p:nvSpPr>
        <p:spPr>
          <a:xfrm>
            <a:off x="6400800" y="1810512"/>
            <a:ext cx="4251960" cy="841248"/>
          </a:xfrm>
          <a:prstGeom prst="rect">
            <a:avLst/>
          </a:prstGeom>
          <a:noFill/>
          <a:ln/>
        </p:spPr>
        <p:txBody>
          <a:bodyPr wrap="square" lIns="0" tIns="0" rIns="0" bIns="0" rtlCol="0" anchor="ctr"/>
          <a:lstStyle/>
          <a:p>
            <a:pPr marL="0" indent="0" algn="r">
              <a:buNone/>
            </a:pPr>
            <a:r>
              <a:rPr lang="en-US" sz="1250" dirty="0">
                <a:solidFill>
                  <a:srgbClr val="FFFFFF"/>
                </a:solidFill>
                <a:latin typeface="Calibri" pitchFamily="34" charset="0"/>
                <a:ea typeface="Calibri" pitchFamily="34" charset="-122"/>
                <a:cs typeface="Calibri" pitchFamily="34" charset="-120"/>
              </a:rPr>
              <a:t>توفير المزيد من الوسائل التعليمية والتجهيزات الحديثة</a:t>
            </a:r>
            <a:endParaRPr lang="en-US" sz="1250" dirty="0"/>
          </a:p>
        </p:txBody>
      </p:sp>
      <p:sp>
        <p:nvSpPr>
          <p:cNvPr id="15" name="Shape 12"/>
          <p:cNvSpPr/>
          <p:nvPr/>
        </p:nvSpPr>
        <p:spPr>
          <a:xfrm>
            <a:off x="822960" y="2935224"/>
            <a:ext cx="5166360" cy="1078992"/>
          </a:xfrm>
          <a:prstGeom prst="roundRect">
            <a:avLst>
              <a:gd name="adj" fmla="val 8475"/>
            </a:avLst>
          </a:prstGeom>
          <a:solidFill>
            <a:srgbClr val="FFFFFF">
              <a:alpha val="6000"/>
            </a:srgbClr>
          </a:solidFill>
          <a:ln w="12700">
            <a:solidFill>
              <a:srgbClr val="FFFFFF">
                <a:alpha val="22000"/>
              </a:srgbClr>
            </a:solidFill>
            <a:prstDash val="solid"/>
          </a:ln>
        </p:spPr>
      </p:sp>
      <p:sp>
        <p:nvSpPr>
          <p:cNvPr id="16" name="Shape 13"/>
          <p:cNvSpPr/>
          <p:nvPr/>
        </p:nvSpPr>
        <p:spPr>
          <a:xfrm>
            <a:off x="5422392" y="3136392"/>
            <a:ext cx="365760" cy="365760"/>
          </a:xfrm>
          <a:prstGeom prst="ellipse">
            <a:avLst/>
          </a:prstGeom>
          <a:solidFill>
            <a:srgbClr val="C9A24B"/>
          </a:solidFill>
          <a:ln/>
        </p:spPr>
      </p:sp>
      <p:sp>
        <p:nvSpPr>
          <p:cNvPr id="17" name="Text 14"/>
          <p:cNvSpPr/>
          <p:nvPr/>
        </p:nvSpPr>
        <p:spPr>
          <a:xfrm>
            <a:off x="5422392" y="3136392"/>
            <a:ext cx="365760" cy="365760"/>
          </a:xfrm>
          <a:prstGeom prst="rect">
            <a:avLst/>
          </a:prstGeom>
          <a:noFill/>
          <a:ln/>
        </p:spPr>
        <p:txBody>
          <a:bodyPr wrap="square" lIns="0" tIns="0" rIns="0" bIns="0" rtlCol="0" anchor="ctr"/>
          <a:lstStyle/>
          <a:p>
            <a:pPr marL="0" indent="0" algn="ctr">
              <a:buNone/>
            </a:pPr>
            <a:r>
              <a:rPr lang="en-US" sz="1400" b="1" dirty="0">
                <a:solidFill>
                  <a:srgbClr val="0B3D3A"/>
                </a:solidFill>
                <a:latin typeface="Cambria" pitchFamily="34" charset="0"/>
                <a:ea typeface="Cambria" pitchFamily="34" charset="-122"/>
                <a:cs typeface="Cambria" pitchFamily="34" charset="-120"/>
              </a:rPr>
              <a:t>3</a:t>
            </a:r>
            <a:endParaRPr lang="en-US" sz="1400" dirty="0"/>
          </a:p>
        </p:txBody>
      </p:sp>
      <p:sp>
        <p:nvSpPr>
          <p:cNvPr id="18" name="Text 15"/>
          <p:cNvSpPr/>
          <p:nvPr/>
        </p:nvSpPr>
        <p:spPr>
          <a:xfrm>
            <a:off x="1051560" y="3054096"/>
            <a:ext cx="4251960" cy="841248"/>
          </a:xfrm>
          <a:prstGeom prst="rect">
            <a:avLst/>
          </a:prstGeom>
          <a:noFill/>
          <a:ln/>
        </p:spPr>
        <p:txBody>
          <a:bodyPr wrap="square" lIns="0" tIns="0" rIns="0" bIns="0" rtlCol="0" anchor="ctr"/>
          <a:lstStyle/>
          <a:p>
            <a:pPr marL="0" indent="0" algn="r">
              <a:buNone/>
            </a:pPr>
            <a:r>
              <a:rPr lang="en-US" sz="1250" dirty="0">
                <a:solidFill>
                  <a:srgbClr val="FFFFFF"/>
                </a:solidFill>
                <a:latin typeface="Calibri" pitchFamily="34" charset="0"/>
                <a:ea typeface="Calibri" pitchFamily="34" charset="-122"/>
                <a:cs typeface="Calibri" pitchFamily="34" charset="-120"/>
              </a:rPr>
              <a:t>تنظيم دورات وورشات تكوينية دورية لمواكبة المستجدات العلمية</a:t>
            </a:r>
            <a:endParaRPr lang="en-US" sz="1250" dirty="0"/>
          </a:p>
        </p:txBody>
      </p:sp>
      <p:sp>
        <p:nvSpPr>
          <p:cNvPr id="19" name="Shape 16"/>
          <p:cNvSpPr/>
          <p:nvPr/>
        </p:nvSpPr>
        <p:spPr>
          <a:xfrm>
            <a:off x="6172200" y="2935224"/>
            <a:ext cx="5166360" cy="1078992"/>
          </a:xfrm>
          <a:prstGeom prst="roundRect">
            <a:avLst>
              <a:gd name="adj" fmla="val 8475"/>
            </a:avLst>
          </a:prstGeom>
          <a:solidFill>
            <a:srgbClr val="FFFFFF">
              <a:alpha val="6000"/>
            </a:srgbClr>
          </a:solidFill>
          <a:ln w="12700">
            <a:solidFill>
              <a:srgbClr val="FFFFFF">
                <a:alpha val="22000"/>
              </a:srgbClr>
            </a:solidFill>
            <a:prstDash val="solid"/>
          </a:ln>
        </p:spPr>
      </p:sp>
      <p:sp>
        <p:nvSpPr>
          <p:cNvPr id="20" name="Shape 17"/>
          <p:cNvSpPr/>
          <p:nvPr/>
        </p:nvSpPr>
        <p:spPr>
          <a:xfrm>
            <a:off x="10771632" y="3136392"/>
            <a:ext cx="365760" cy="365760"/>
          </a:xfrm>
          <a:prstGeom prst="ellipse">
            <a:avLst/>
          </a:prstGeom>
          <a:solidFill>
            <a:srgbClr val="C9A24B"/>
          </a:solidFill>
          <a:ln/>
        </p:spPr>
      </p:sp>
      <p:sp>
        <p:nvSpPr>
          <p:cNvPr id="21" name="Text 18"/>
          <p:cNvSpPr/>
          <p:nvPr/>
        </p:nvSpPr>
        <p:spPr>
          <a:xfrm>
            <a:off x="10771632" y="3136392"/>
            <a:ext cx="365760" cy="365760"/>
          </a:xfrm>
          <a:prstGeom prst="rect">
            <a:avLst/>
          </a:prstGeom>
          <a:noFill/>
          <a:ln/>
        </p:spPr>
        <p:txBody>
          <a:bodyPr wrap="square" lIns="0" tIns="0" rIns="0" bIns="0" rtlCol="0" anchor="ctr"/>
          <a:lstStyle/>
          <a:p>
            <a:pPr marL="0" indent="0" algn="ctr">
              <a:buNone/>
            </a:pPr>
            <a:r>
              <a:rPr lang="en-US" sz="1400" b="1" dirty="0">
                <a:solidFill>
                  <a:srgbClr val="0B3D3A"/>
                </a:solidFill>
                <a:latin typeface="Cambria" pitchFamily="34" charset="0"/>
                <a:ea typeface="Cambria" pitchFamily="34" charset="-122"/>
                <a:cs typeface="Cambria" pitchFamily="34" charset="-120"/>
              </a:rPr>
              <a:t>4</a:t>
            </a:r>
            <a:endParaRPr lang="en-US" sz="1400" dirty="0"/>
          </a:p>
        </p:txBody>
      </p:sp>
      <p:sp>
        <p:nvSpPr>
          <p:cNvPr id="22" name="Text 19"/>
          <p:cNvSpPr/>
          <p:nvPr/>
        </p:nvSpPr>
        <p:spPr>
          <a:xfrm>
            <a:off x="6400800" y="3054096"/>
            <a:ext cx="4251960" cy="841248"/>
          </a:xfrm>
          <a:prstGeom prst="rect">
            <a:avLst/>
          </a:prstGeom>
          <a:noFill/>
          <a:ln/>
        </p:spPr>
        <p:txBody>
          <a:bodyPr wrap="square" lIns="0" tIns="0" rIns="0" bIns="0" rtlCol="0" anchor="ctr"/>
          <a:lstStyle/>
          <a:p>
            <a:pPr marL="0" indent="0" algn="r">
              <a:buNone/>
            </a:pPr>
            <a:r>
              <a:rPr lang="en-US" sz="1250" dirty="0">
                <a:solidFill>
                  <a:srgbClr val="FFFFFF"/>
                </a:solidFill>
                <a:latin typeface="Calibri" pitchFamily="34" charset="0"/>
                <a:ea typeface="Calibri" pitchFamily="34" charset="-122"/>
                <a:cs typeface="Calibri" pitchFamily="34" charset="-120"/>
              </a:rPr>
              <a:t>تعزيز الشراكة بين المدرسة والمؤسسات الصحية لتكوين عملي أكثر فعالية</a:t>
            </a:r>
            <a:endParaRPr lang="en-US" sz="1250" dirty="0"/>
          </a:p>
        </p:txBody>
      </p:sp>
      <p:sp>
        <p:nvSpPr>
          <p:cNvPr id="23" name="Shape 20"/>
          <p:cNvSpPr/>
          <p:nvPr/>
        </p:nvSpPr>
        <p:spPr>
          <a:xfrm>
            <a:off x="822960" y="4178808"/>
            <a:ext cx="5166360" cy="1078992"/>
          </a:xfrm>
          <a:prstGeom prst="roundRect">
            <a:avLst>
              <a:gd name="adj" fmla="val 8475"/>
            </a:avLst>
          </a:prstGeom>
          <a:solidFill>
            <a:srgbClr val="FFFFFF">
              <a:alpha val="6000"/>
            </a:srgbClr>
          </a:solidFill>
          <a:ln w="12700">
            <a:solidFill>
              <a:srgbClr val="FFFFFF">
                <a:alpha val="22000"/>
              </a:srgbClr>
            </a:solidFill>
            <a:prstDash val="solid"/>
          </a:ln>
        </p:spPr>
      </p:sp>
      <p:sp>
        <p:nvSpPr>
          <p:cNvPr id="24" name="Shape 21"/>
          <p:cNvSpPr/>
          <p:nvPr/>
        </p:nvSpPr>
        <p:spPr>
          <a:xfrm>
            <a:off x="5422392" y="4379976"/>
            <a:ext cx="365760" cy="365760"/>
          </a:xfrm>
          <a:prstGeom prst="ellipse">
            <a:avLst/>
          </a:prstGeom>
          <a:solidFill>
            <a:srgbClr val="C9A24B"/>
          </a:solidFill>
          <a:ln/>
        </p:spPr>
      </p:sp>
      <p:sp>
        <p:nvSpPr>
          <p:cNvPr id="25" name="Text 22"/>
          <p:cNvSpPr/>
          <p:nvPr/>
        </p:nvSpPr>
        <p:spPr>
          <a:xfrm>
            <a:off x="5422392" y="4379976"/>
            <a:ext cx="365760" cy="365760"/>
          </a:xfrm>
          <a:prstGeom prst="rect">
            <a:avLst/>
          </a:prstGeom>
          <a:noFill/>
          <a:ln/>
        </p:spPr>
        <p:txBody>
          <a:bodyPr wrap="square" lIns="0" tIns="0" rIns="0" bIns="0" rtlCol="0" anchor="ctr"/>
          <a:lstStyle/>
          <a:p>
            <a:pPr marL="0" indent="0" algn="ctr">
              <a:buNone/>
            </a:pPr>
            <a:r>
              <a:rPr lang="en-US" sz="1400" b="1" dirty="0">
                <a:solidFill>
                  <a:srgbClr val="0B3D3A"/>
                </a:solidFill>
                <a:latin typeface="Cambria" pitchFamily="34" charset="0"/>
                <a:ea typeface="Cambria" pitchFamily="34" charset="-122"/>
                <a:cs typeface="Cambria" pitchFamily="34" charset="-120"/>
              </a:rPr>
              <a:t>5</a:t>
            </a:r>
            <a:endParaRPr lang="en-US" sz="1400" dirty="0"/>
          </a:p>
        </p:txBody>
      </p:sp>
      <p:sp>
        <p:nvSpPr>
          <p:cNvPr id="26" name="Text 23"/>
          <p:cNvSpPr/>
          <p:nvPr/>
        </p:nvSpPr>
        <p:spPr>
          <a:xfrm>
            <a:off x="1051560" y="4297680"/>
            <a:ext cx="4251960" cy="841248"/>
          </a:xfrm>
          <a:prstGeom prst="rect">
            <a:avLst/>
          </a:prstGeom>
          <a:noFill/>
          <a:ln/>
        </p:spPr>
        <p:txBody>
          <a:bodyPr wrap="square" lIns="0" tIns="0" rIns="0" bIns="0" rtlCol="0" anchor="ctr"/>
          <a:lstStyle/>
          <a:p>
            <a:pPr marL="0" indent="0" algn="r">
              <a:buNone/>
            </a:pPr>
            <a:r>
              <a:rPr lang="en-US" sz="1250" dirty="0">
                <a:solidFill>
                  <a:srgbClr val="FFFFFF"/>
                </a:solidFill>
                <a:latin typeface="Calibri" pitchFamily="34" charset="0"/>
                <a:ea typeface="Calibri" pitchFamily="34" charset="-122"/>
                <a:cs typeface="Calibri" pitchFamily="34" charset="-120"/>
              </a:rPr>
              <a:t>تشجيع الطلبة على البحث العلمي وإعداد الدراسات</a:t>
            </a:r>
            <a:endParaRPr lang="en-US" sz="1250" dirty="0"/>
          </a:p>
        </p:txBody>
      </p:sp>
      <p:sp>
        <p:nvSpPr>
          <p:cNvPr id="27" name="Shape 24"/>
          <p:cNvSpPr/>
          <p:nvPr/>
        </p:nvSpPr>
        <p:spPr>
          <a:xfrm>
            <a:off x="6172200" y="4178808"/>
            <a:ext cx="5166360" cy="1078992"/>
          </a:xfrm>
          <a:prstGeom prst="roundRect">
            <a:avLst>
              <a:gd name="adj" fmla="val 8475"/>
            </a:avLst>
          </a:prstGeom>
          <a:solidFill>
            <a:srgbClr val="FFFFFF">
              <a:alpha val="6000"/>
            </a:srgbClr>
          </a:solidFill>
          <a:ln w="12700">
            <a:solidFill>
              <a:srgbClr val="FFFFFF">
                <a:alpha val="22000"/>
              </a:srgbClr>
            </a:solidFill>
            <a:prstDash val="solid"/>
          </a:ln>
        </p:spPr>
      </p:sp>
      <p:sp>
        <p:nvSpPr>
          <p:cNvPr id="28" name="Shape 25"/>
          <p:cNvSpPr/>
          <p:nvPr/>
        </p:nvSpPr>
        <p:spPr>
          <a:xfrm>
            <a:off x="10771632" y="4379976"/>
            <a:ext cx="365760" cy="365760"/>
          </a:xfrm>
          <a:prstGeom prst="ellipse">
            <a:avLst/>
          </a:prstGeom>
          <a:solidFill>
            <a:srgbClr val="C9A24B"/>
          </a:solidFill>
          <a:ln/>
        </p:spPr>
      </p:sp>
      <p:sp>
        <p:nvSpPr>
          <p:cNvPr id="29" name="Text 26"/>
          <p:cNvSpPr/>
          <p:nvPr/>
        </p:nvSpPr>
        <p:spPr>
          <a:xfrm>
            <a:off x="10771632" y="4379976"/>
            <a:ext cx="365760" cy="365760"/>
          </a:xfrm>
          <a:prstGeom prst="rect">
            <a:avLst/>
          </a:prstGeom>
          <a:noFill/>
          <a:ln/>
        </p:spPr>
        <p:txBody>
          <a:bodyPr wrap="square" lIns="0" tIns="0" rIns="0" bIns="0" rtlCol="0" anchor="ctr"/>
          <a:lstStyle/>
          <a:p>
            <a:pPr marL="0" indent="0" algn="ctr">
              <a:buNone/>
            </a:pPr>
            <a:r>
              <a:rPr lang="en-US" sz="1400" b="1" dirty="0">
                <a:solidFill>
                  <a:srgbClr val="0B3D3A"/>
                </a:solidFill>
                <a:latin typeface="Cambria" pitchFamily="34" charset="0"/>
                <a:ea typeface="Cambria" pitchFamily="34" charset="-122"/>
                <a:cs typeface="Cambria" pitchFamily="34" charset="-120"/>
              </a:rPr>
              <a:t>6</a:t>
            </a:r>
            <a:endParaRPr lang="en-US" sz="1400" dirty="0"/>
          </a:p>
        </p:txBody>
      </p:sp>
      <p:sp>
        <p:nvSpPr>
          <p:cNvPr id="30" name="Text 27"/>
          <p:cNvSpPr/>
          <p:nvPr/>
        </p:nvSpPr>
        <p:spPr>
          <a:xfrm>
            <a:off x="6400800" y="4297680"/>
            <a:ext cx="4251960" cy="841248"/>
          </a:xfrm>
          <a:prstGeom prst="rect">
            <a:avLst/>
          </a:prstGeom>
          <a:noFill/>
          <a:ln/>
        </p:spPr>
        <p:txBody>
          <a:bodyPr wrap="square" lIns="0" tIns="0" rIns="0" bIns="0" rtlCol="0" anchor="ctr"/>
          <a:lstStyle/>
          <a:p>
            <a:pPr marL="0" indent="0" algn="r">
              <a:buNone/>
            </a:pPr>
            <a:r>
              <a:rPr lang="en-US" sz="1250" dirty="0">
                <a:solidFill>
                  <a:srgbClr val="FFFFFF"/>
                </a:solidFill>
                <a:latin typeface="Calibri" pitchFamily="34" charset="0"/>
                <a:ea typeface="Calibri" pitchFamily="34" charset="-122"/>
                <a:cs typeface="Calibri" pitchFamily="34" charset="-120"/>
              </a:rPr>
              <a:t>توفير بيئة تعليمية محفزة تساعد على التميز المهني</a:t>
            </a:r>
            <a:endParaRPr lang="en-US" sz="1250" dirty="0"/>
          </a:p>
        </p:txBody>
      </p:sp>
      <p:sp>
        <p:nvSpPr>
          <p:cNvPr id="31" name="Text 28"/>
          <p:cNvSpPr/>
          <p:nvPr/>
        </p:nvSpPr>
        <p:spPr>
          <a:xfrm>
            <a:off x="11338560" y="6355080"/>
            <a:ext cx="457200" cy="320040"/>
          </a:xfrm>
          <a:prstGeom prst="rect">
            <a:avLst/>
          </a:prstGeom>
          <a:noFill/>
          <a:ln/>
        </p:spPr>
        <p:txBody>
          <a:bodyPr wrap="square" rtlCol="0" anchor="ctr"/>
          <a:lstStyle/>
          <a:p>
            <a:pPr marL="0" indent="0" algn="ctr">
              <a:buNone/>
            </a:pPr>
            <a:r>
              <a:rPr lang="en-US" sz="1000" dirty="0">
                <a:solidFill>
                  <a:srgbClr val="B9CFC9"/>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AF6"/>
        </a:solidFill>
        <a:effectLst/>
      </p:bgPr>
    </p:bg>
    <p:spTree>
      <p:nvGrpSpPr>
        <p:cNvPr id="1" name=""/>
        <p:cNvGrpSpPr/>
        <p:nvPr/>
      </p:nvGrpSpPr>
      <p:grpSpPr>
        <a:xfrm>
          <a:off x="0" y="0"/>
          <a:ext cx="0" cy="0"/>
          <a:chOff x="0" y="0"/>
          <a:chExt cx="0" cy="0"/>
        </a:xfrm>
      </p:grpSpPr>
      <p:sp>
        <p:nvSpPr>
          <p:cNvPr id="2" name="Shape 0"/>
          <p:cNvSpPr/>
          <p:nvPr/>
        </p:nvSpPr>
        <p:spPr>
          <a:xfrm>
            <a:off x="-1371600" y="-1371600"/>
            <a:ext cx="3657600" cy="3657600"/>
          </a:xfrm>
          <a:prstGeom prst="ellipse">
            <a:avLst/>
          </a:prstGeom>
          <a:solidFill>
            <a:srgbClr val="D9F0EA"/>
          </a:solidFill>
          <a:ln/>
        </p:spPr>
      </p:sp>
      <p:pic>
        <p:nvPicPr>
          <p:cNvPr id="3" name="Image 0" descr="icons/quote_teal.png"/>
          <p:cNvPicPr>
            <a:picLocks noChangeAspect="1"/>
          </p:cNvPicPr>
          <p:nvPr/>
        </p:nvPicPr>
        <p:blipFill>
          <a:blip r:embed="rId3"/>
          <a:stretch>
            <a:fillRect/>
          </a:stretch>
        </p:blipFill>
        <p:spPr>
          <a:xfrm>
            <a:off x="10698480" y="548640"/>
            <a:ext cx="502920" cy="502920"/>
          </a:xfrm>
          <a:prstGeom prst="rect">
            <a:avLst/>
          </a:prstGeom>
        </p:spPr>
      </p:pic>
      <p:sp>
        <p:nvSpPr>
          <p:cNvPr id="4" name="Text 1"/>
          <p:cNvSpPr/>
          <p:nvPr/>
        </p:nvSpPr>
        <p:spPr>
          <a:xfrm>
            <a:off x="822960" y="594360"/>
            <a:ext cx="5486400" cy="640080"/>
          </a:xfrm>
          <a:prstGeom prst="rect">
            <a:avLst/>
          </a:prstGeom>
          <a:noFill/>
          <a:ln/>
        </p:spPr>
        <p:txBody>
          <a:bodyPr wrap="square" lIns="0" tIns="0" rIns="0" bIns="0" rtlCol="0" anchor="ctr"/>
          <a:lstStyle/>
          <a:p>
            <a:pPr marL="0" indent="0" algn="r">
              <a:buNone/>
            </a:pPr>
            <a:r>
              <a:rPr lang="en-US" sz="3200" b="1" dirty="0">
                <a:solidFill>
                  <a:srgbClr val="0B3D3A"/>
                </a:solidFill>
                <a:latin typeface="Cambria" pitchFamily="34" charset="0"/>
                <a:ea typeface="Cambria" pitchFamily="34" charset="-122"/>
                <a:cs typeface="Cambria" pitchFamily="34" charset="-120"/>
              </a:rPr>
              <a:t>الخاتمة</a:t>
            </a:r>
            <a:endParaRPr lang="en-US" sz="3200" dirty="0"/>
          </a:p>
        </p:txBody>
      </p:sp>
      <p:sp>
        <p:nvSpPr>
          <p:cNvPr id="5" name="Shape 2"/>
          <p:cNvSpPr/>
          <p:nvPr/>
        </p:nvSpPr>
        <p:spPr>
          <a:xfrm>
            <a:off x="4023360" y="886968"/>
            <a:ext cx="1828800" cy="36576"/>
          </a:xfrm>
          <a:prstGeom prst="rect">
            <a:avLst/>
          </a:prstGeom>
          <a:solidFill>
            <a:srgbClr val="C9A24B"/>
          </a:solidFill>
          <a:ln/>
        </p:spPr>
      </p:sp>
      <p:sp>
        <p:nvSpPr>
          <p:cNvPr id="6" name="Shape 3"/>
          <p:cNvSpPr/>
          <p:nvPr/>
        </p:nvSpPr>
        <p:spPr>
          <a:xfrm>
            <a:off x="1463040" y="1508760"/>
            <a:ext cx="9235440" cy="4023360"/>
          </a:xfrm>
          <a:prstGeom prst="roundRect">
            <a:avLst>
              <a:gd name="adj" fmla="val 2727"/>
            </a:avLst>
          </a:prstGeom>
          <a:solidFill>
            <a:srgbClr val="FFFFFF"/>
          </a:solidFill>
          <a:ln/>
          <a:effectLst>
            <a:outerShdw blurRad="177800" dist="38100" dir="5400000" algn="bl" rotWithShape="0">
              <a:srgbClr val="0B3D3A">
                <a:alpha val="10000"/>
              </a:srgbClr>
            </a:outerShdw>
          </a:effectLst>
        </p:spPr>
      </p:sp>
      <p:sp>
        <p:nvSpPr>
          <p:cNvPr id="7" name="Text 4"/>
          <p:cNvSpPr/>
          <p:nvPr/>
        </p:nvSpPr>
        <p:spPr>
          <a:xfrm>
            <a:off x="1874520" y="1828800"/>
            <a:ext cx="8595360" cy="2560320"/>
          </a:xfrm>
          <a:prstGeom prst="rect">
            <a:avLst/>
          </a:prstGeom>
          <a:noFill/>
          <a:ln/>
        </p:spPr>
        <p:txBody>
          <a:bodyPr wrap="square" lIns="0" tIns="0" rIns="0" bIns="0" rtlCol="0" anchor="t"/>
          <a:lstStyle/>
          <a:p>
            <a:pPr marL="0" indent="0" algn="r">
              <a:lnSpc>
                <a:spcPct val="135000"/>
              </a:lnSpc>
              <a:buNone/>
            </a:pPr>
            <a:r>
              <a:rPr lang="en-US" sz="1550" dirty="0">
                <a:solidFill>
                  <a:srgbClr val="1B2B28"/>
                </a:solidFill>
                <a:latin typeface="Calibri" pitchFamily="34" charset="0"/>
                <a:ea typeface="Calibri" pitchFamily="34" charset="-122"/>
                <a:cs typeface="Calibri" pitchFamily="34" charset="-120"/>
              </a:rPr>
              <a:t>وفي ختام هذا العمل، أحمد الله تعالى على توفيقه وإعانته لي حتى أتممت هذه المرحلة من مسيرتي العلمية. كما أتوجه بجزيل الشكر والامتنان إلى كل من ساهم في دعمي وتوجيهي، من أسرتي الكريمة وأساتذتي وزملائي.</a:t>
            </a:r>
            <a:endParaRPr lang="en-US" sz="1550" dirty="0"/>
          </a:p>
          <a:p>
            <a:pPr marL="0" indent="0" algn="r">
              <a:lnSpc>
                <a:spcPct val="135000"/>
              </a:lnSpc>
              <a:buNone/>
            </a:pPr>
            <a:r>
              <a:rPr lang="en-US" sz="800" dirty="0">
                <a:solidFill>
                  <a:srgbClr val="000000"/>
                </a:solidFill>
                <a:latin typeface="Calibri" pitchFamily="34" charset="0"/>
                <a:ea typeface="Calibri" pitchFamily="34" charset="-122"/>
                <a:cs typeface="Calibri" pitchFamily="34" charset="-120"/>
              </a:rPr>
              <a:t> </a:t>
            </a:r>
            <a:endParaRPr lang="en-US" sz="1550" dirty="0"/>
          </a:p>
          <a:p>
            <a:pPr marL="0" indent="0" algn="r">
              <a:lnSpc>
                <a:spcPct val="135000"/>
              </a:lnSpc>
              <a:buNone/>
            </a:pPr>
            <a:r>
              <a:rPr lang="en-US" sz="1550" dirty="0">
                <a:solidFill>
                  <a:srgbClr val="1B2B28"/>
                </a:solidFill>
                <a:latin typeface="Calibri" pitchFamily="34" charset="0"/>
                <a:ea typeface="Calibri" pitchFamily="34" charset="-122"/>
                <a:cs typeface="Calibri" pitchFamily="34" charset="-120"/>
              </a:rPr>
              <a:t>وأرجو أن أكون قد استفدت من هذا التكوين العلمي والعملي، وأن أوظف ما اكتسبته من معارف ومهارات في خدمة المرضى والمجتمع بكل إخلاص ومسؤولية، وفاءً للمهنة النبيلة التي اخترتها.</a:t>
            </a:r>
            <a:endParaRPr lang="en-US" sz="1550" dirty="0"/>
          </a:p>
        </p:txBody>
      </p:sp>
      <p:sp>
        <p:nvSpPr>
          <p:cNvPr id="8" name="Text 5"/>
          <p:cNvSpPr/>
          <p:nvPr/>
        </p:nvSpPr>
        <p:spPr>
          <a:xfrm>
            <a:off x="1874520" y="4526280"/>
            <a:ext cx="8595360" cy="411480"/>
          </a:xfrm>
          <a:prstGeom prst="rect">
            <a:avLst/>
          </a:prstGeom>
          <a:noFill/>
          <a:ln/>
        </p:spPr>
        <p:txBody>
          <a:bodyPr wrap="square" lIns="0" tIns="0" rIns="0" bIns="0" rtlCol="0" anchor="ctr"/>
          <a:lstStyle/>
          <a:p>
            <a:pPr marL="0" indent="0" algn="ctr">
              <a:buNone/>
            </a:pPr>
            <a:r>
              <a:rPr lang="en-US" sz="1700" b="1" i="1" dirty="0">
                <a:solidFill>
                  <a:srgbClr val="C9A24B"/>
                </a:solidFill>
                <a:latin typeface="Cambria" pitchFamily="34" charset="0"/>
                <a:ea typeface="Cambria" pitchFamily="34" charset="-122"/>
                <a:cs typeface="Cambria" pitchFamily="34" charset="-120"/>
              </a:rPr>
              <a:t>والله ولي التوفيق</a:t>
            </a:r>
            <a:endParaRPr lang="en-US" sz="1700" dirty="0"/>
          </a:p>
        </p:txBody>
      </p:sp>
      <p:sp>
        <p:nvSpPr>
          <p:cNvPr id="9" name="Text 6"/>
          <p:cNvSpPr/>
          <p:nvPr/>
        </p:nvSpPr>
        <p:spPr>
          <a:xfrm>
            <a:off x="11338560" y="6355080"/>
            <a:ext cx="457200" cy="320040"/>
          </a:xfrm>
          <a:prstGeom prst="rect">
            <a:avLst/>
          </a:prstGeom>
          <a:noFill/>
          <a:ln/>
        </p:spPr>
        <p:txBody>
          <a:bodyPr wrap="square" rtlCol="0" anchor="ctr"/>
          <a:lstStyle/>
          <a:p>
            <a:pPr marL="0" indent="0" algn="ctr">
              <a:buNone/>
            </a:pPr>
            <a:r>
              <a:rPr lang="en-US" sz="1000" dirty="0">
                <a:solidFill>
                  <a:srgbClr val="5B6F6C"/>
                </a:solidFill>
                <a:latin typeface="Calibri" pitchFamily="34" charset="0"/>
                <a:ea typeface="Calibri" pitchFamily="34" charset="-122"/>
                <a:cs typeface="Calibri" pitchFamily="34" charset="-120"/>
              </a:rPr>
              <a:t>23</a:t>
            </a:r>
            <a:endParaRPr lang="en-US" sz="1000" dirty="0"/>
          </a:p>
        </p:txBody>
      </p:sp>
      <p:sp>
        <p:nvSpPr>
          <p:cNvPr id="10" name="Text 7"/>
          <p:cNvSpPr/>
          <p:nvPr/>
        </p:nvSpPr>
        <p:spPr>
          <a:xfrm>
            <a:off x="457200" y="6355080"/>
            <a:ext cx="3657600" cy="320040"/>
          </a:xfrm>
          <a:prstGeom prst="rect">
            <a:avLst/>
          </a:prstGeom>
          <a:noFill/>
          <a:ln/>
        </p:spPr>
        <p:txBody>
          <a:bodyPr wrap="square" rtlCol="0" anchor="ctr"/>
          <a:lstStyle/>
          <a:p>
            <a:pPr marL="0" indent="0" algn="l">
              <a:buNone/>
            </a:pPr>
            <a:r>
              <a:rPr lang="en-US" sz="900" dirty="0">
                <a:solidFill>
                  <a:srgbClr val="9AAFAC"/>
                </a:solidFill>
                <a:latin typeface="Calibri" pitchFamily="34" charset="0"/>
                <a:ea typeface="Calibri" pitchFamily="34" charset="-122"/>
                <a:cs typeface="Calibri" pitchFamily="34" charset="-120"/>
              </a:rPr>
              <a:t>مدرسة الصحة العمومية بسيليبابي</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3D3A"/>
        </a:solidFill>
        <a:effectLst/>
      </p:bgPr>
    </p:bg>
    <p:spTree>
      <p:nvGrpSpPr>
        <p:cNvPr id="1" name=""/>
        <p:cNvGrpSpPr/>
        <p:nvPr/>
      </p:nvGrpSpPr>
      <p:grpSpPr>
        <a:xfrm>
          <a:off x="0" y="0"/>
          <a:ext cx="0" cy="0"/>
          <a:chOff x="0" y="0"/>
          <a:chExt cx="0" cy="0"/>
        </a:xfrm>
      </p:grpSpPr>
      <p:sp>
        <p:nvSpPr>
          <p:cNvPr id="2" name="Shape 0"/>
          <p:cNvSpPr/>
          <p:nvPr/>
        </p:nvSpPr>
        <p:spPr>
          <a:xfrm>
            <a:off x="8686800" y="-1645920"/>
            <a:ext cx="5029200" cy="5029200"/>
          </a:xfrm>
          <a:prstGeom prst="ellipse">
            <a:avLst/>
          </a:prstGeom>
          <a:solidFill>
            <a:srgbClr val="117A65">
              <a:alpha val="30000"/>
            </a:srgbClr>
          </a:solidFill>
          <a:ln/>
        </p:spPr>
      </p:sp>
      <p:sp>
        <p:nvSpPr>
          <p:cNvPr id="3" name="Shape 1"/>
          <p:cNvSpPr/>
          <p:nvPr/>
        </p:nvSpPr>
        <p:spPr>
          <a:xfrm>
            <a:off x="-1463040" y="4206240"/>
            <a:ext cx="4206240" cy="4206240"/>
          </a:xfrm>
          <a:prstGeom prst="ellipse">
            <a:avLst/>
          </a:prstGeom>
          <a:solidFill>
            <a:srgbClr val="C9A24B">
              <a:alpha val="22000"/>
            </a:srgbClr>
          </a:solidFill>
          <a:ln/>
        </p:spPr>
      </p:sp>
      <p:pic>
        <p:nvPicPr>
          <p:cNvPr id="4" name="Image 0" descr="icons/heartbeat_white.png"/>
          <p:cNvPicPr>
            <a:picLocks noChangeAspect="1"/>
          </p:cNvPicPr>
          <p:nvPr/>
        </p:nvPicPr>
        <p:blipFill>
          <a:blip r:embed="rId3"/>
          <a:stretch>
            <a:fillRect/>
          </a:stretch>
        </p:blipFill>
        <p:spPr>
          <a:xfrm>
            <a:off x="5486400" y="1828800"/>
            <a:ext cx="1188720" cy="1188720"/>
          </a:xfrm>
          <a:prstGeom prst="rect">
            <a:avLst/>
          </a:prstGeom>
        </p:spPr>
      </p:pic>
      <p:sp>
        <p:nvSpPr>
          <p:cNvPr id="5" name="Text 2"/>
          <p:cNvSpPr/>
          <p:nvPr/>
        </p:nvSpPr>
        <p:spPr>
          <a:xfrm>
            <a:off x="1508760" y="3246120"/>
            <a:ext cx="9144000"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شكرًا لكم</a:t>
            </a:r>
            <a:endParaRPr lang="en-US" sz="4400" dirty="0"/>
          </a:p>
        </p:txBody>
      </p:sp>
      <p:sp>
        <p:nvSpPr>
          <p:cNvPr id="6" name="Text 3"/>
          <p:cNvSpPr/>
          <p:nvPr/>
        </p:nvSpPr>
        <p:spPr>
          <a:xfrm>
            <a:off x="1508760" y="4160520"/>
            <a:ext cx="9144000" cy="411480"/>
          </a:xfrm>
          <a:prstGeom prst="rect">
            <a:avLst/>
          </a:prstGeom>
          <a:noFill/>
          <a:ln/>
        </p:spPr>
        <p:txBody>
          <a:bodyPr wrap="square" lIns="0" tIns="0" rIns="0" bIns="0" rtlCol="0" anchor="ctr"/>
          <a:lstStyle/>
          <a:p>
            <a:pPr marL="0" indent="0" algn="ctr">
              <a:buNone/>
            </a:pPr>
            <a:r>
              <a:rPr lang="en-US" sz="1400" dirty="0">
                <a:solidFill>
                  <a:srgbClr val="9FC6BC"/>
                </a:solidFill>
                <a:latin typeface="Calibri" pitchFamily="34" charset="0"/>
                <a:ea typeface="Calibri" pitchFamily="34" charset="-122"/>
                <a:cs typeface="Calibri" pitchFamily="34" charset="-120"/>
              </a:rPr>
              <a:t>مدرسة الصحة العمومية بسيليبابي  —  المركز الصحي بتگنت، الترارزة</a:t>
            </a:r>
            <a:endParaRPr lang="en-US" sz="1400" dirty="0"/>
          </a:p>
        </p:txBody>
      </p:sp>
      <p:sp>
        <p:nvSpPr>
          <p:cNvPr id="7" name="Text 4"/>
          <p:cNvSpPr/>
          <p:nvPr/>
        </p:nvSpPr>
        <p:spPr>
          <a:xfrm>
            <a:off x="1508760" y="4709160"/>
            <a:ext cx="9144000" cy="365760"/>
          </a:xfrm>
          <a:prstGeom prst="rect">
            <a:avLst/>
          </a:prstGeom>
          <a:noFill/>
          <a:ln/>
        </p:spPr>
        <p:txBody>
          <a:bodyPr wrap="square" lIns="0" tIns="0" rIns="0" bIns="0" rtlCol="0" anchor="ctr"/>
          <a:lstStyle/>
          <a:p>
            <a:pPr marL="0" indent="0" algn="ctr">
              <a:buNone/>
            </a:pPr>
            <a:r>
              <a:rPr lang="en-US" sz="1600" b="1" dirty="0">
                <a:solidFill>
                  <a:srgbClr val="C9A24B"/>
                </a:solidFill>
                <a:latin typeface="Cambria" pitchFamily="34" charset="0"/>
                <a:ea typeface="Cambria" pitchFamily="34" charset="-122"/>
                <a:cs typeface="Cambria" pitchFamily="34" charset="-120"/>
              </a:rPr>
              <a:t>MARIEM MOHAMDY</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1940</Words>
  <Application>Microsoft Office PowerPoint</Application>
  <PresentationFormat>Grand écran</PresentationFormat>
  <Paragraphs>493</Paragraphs>
  <Slides>25</Slides>
  <Notes>25</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25</vt:i4>
      </vt:variant>
    </vt:vector>
  </HeadingPairs>
  <TitlesOfParts>
    <vt:vector size="29"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تقرير التدريب الريفي - ممرضة دولة</dc:title>
  <dc:subject>PptxGenJS Presentation</dc:subject>
  <dc:creator>MARIEM MOHAMDY</dc:creator>
  <cp:lastModifiedBy>Office</cp:lastModifiedBy>
  <cp:revision>6</cp:revision>
  <dcterms:created xsi:type="dcterms:W3CDTF">2026-06-19T18:50:40Z</dcterms:created>
  <dcterms:modified xsi:type="dcterms:W3CDTF">2026-06-19T20:31:34Z</dcterms:modified>
</cp:coreProperties>
</file>